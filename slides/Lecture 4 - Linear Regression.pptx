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64" r:id="rId1"/>
  </p:sldMasterIdLst>
  <p:notesMasterIdLst>
    <p:notesMasterId r:id="rId51"/>
  </p:notesMasterIdLst>
  <p:sldIdLst>
    <p:sldId id="289" r:id="rId2"/>
    <p:sldId id="318" r:id="rId3"/>
    <p:sldId id="467" r:id="rId4"/>
    <p:sldId id="422" r:id="rId5"/>
    <p:sldId id="464" r:id="rId6"/>
    <p:sldId id="465" r:id="rId7"/>
    <p:sldId id="269" r:id="rId8"/>
    <p:sldId id="378" r:id="rId9"/>
    <p:sldId id="423" r:id="rId10"/>
    <p:sldId id="466" r:id="rId11"/>
    <p:sldId id="2221" r:id="rId12"/>
    <p:sldId id="1892" r:id="rId13"/>
    <p:sldId id="2215" r:id="rId14"/>
    <p:sldId id="2216" r:id="rId15"/>
    <p:sldId id="2220" r:id="rId16"/>
    <p:sldId id="2205" r:id="rId17"/>
    <p:sldId id="2206" r:id="rId18"/>
    <p:sldId id="2252" r:id="rId19"/>
    <p:sldId id="311" r:id="rId20"/>
    <p:sldId id="312" r:id="rId21"/>
    <p:sldId id="308" r:id="rId22"/>
    <p:sldId id="2222" r:id="rId23"/>
    <p:sldId id="315" r:id="rId24"/>
    <p:sldId id="319" r:id="rId25"/>
    <p:sldId id="320" r:id="rId26"/>
    <p:sldId id="321" r:id="rId27"/>
    <p:sldId id="322" r:id="rId28"/>
    <p:sldId id="329" r:id="rId29"/>
    <p:sldId id="324" r:id="rId30"/>
    <p:sldId id="384" r:id="rId31"/>
    <p:sldId id="385" r:id="rId32"/>
    <p:sldId id="2223" r:id="rId33"/>
    <p:sldId id="2180" r:id="rId34"/>
    <p:sldId id="2181" r:id="rId35"/>
    <p:sldId id="2182" r:id="rId36"/>
    <p:sldId id="2183" r:id="rId37"/>
    <p:sldId id="2186" r:id="rId38"/>
    <p:sldId id="2184" r:id="rId39"/>
    <p:sldId id="2185" r:id="rId40"/>
    <p:sldId id="2187" r:id="rId41"/>
    <p:sldId id="2189" r:id="rId42"/>
    <p:sldId id="2188" r:id="rId43"/>
    <p:sldId id="2190" r:id="rId44"/>
    <p:sldId id="2191" r:id="rId45"/>
    <p:sldId id="2192" r:id="rId46"/>
    <p:sldId id="2193" r:id="rId47"/>
    <p:sldId id="2194" r:id="rId48"/>
    <p:sldId id="2224" r:id="rId49"/>
    <p:sldId id="764" r:id="rId5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2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FC72E-7E86-8B45-A4FC-276FCB52817F}" v="28" dt="2024-01-29T16:54:29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5"/>
    <p:restoredTop sz="81265" autoAdjust="0"/>
  </p:normalViewPr>
  <p:slideViewPr>
    <p:cSldViewPr snapToGrid="0">
      <p:cViewPr varScale="1">
        <p:scale>
          <a:sx n="60" d="100"/>
          <a:sy n="60" d="100"/>
        </p:scale>
        <p:origin x="1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Chai" userId="1324968a148d377f" providerId="LiveId" clId="{E53FC72E-7E86-8B45-A4FC-276FCB52817F}"/>
    <pc:docChg chg="custSel modSld">
      <pc:chgData name="Henry Chai" userId="1324968a148d377f" providerId="LiveId" clId="{E53FC72E-7E86-8B45-A4FC-276FCB52817F}" dt="2024-01-29T16:54:50.688" v="155" actId="729"/>
      <pc:docMkLst>
        <pc:docMk/>
      </pc:docMkLst>
      <pc:sldChg chg="modSp mod">
        <pc:chgData name="Henry Chai" userId="1324968a148d377f" providerId="LiveId" clId="{E53FC72E-7E86-8B45-A4FC-276FCB52817F}" dt="2024-01-25T20:27:28.676" v="12" actId="255"/>
        <pc:sldMkLst>
          <pc:docMk/>
          <pc:sldMk cId="2143007048" sldId="291"/>
        </pc:sldMkLst>
        <pc:spChg chg="mod">
          <ac:chgData name="Henry Chai" userId="1324968a148d377f" providerId="LiveId" clId="{E53FC72E-7E86-8B45-A4FC-276FCB52817F}" dt="2024-01-25T20:27:28.676" v="12" actId="255"/>
          <ac:spMkLst>
            <pc:docMk/>
            <pc:sldMk cId="2143007048" sldId="291"/>
            <ac:spMk id="3" creationId="{E51171EE-1CAF-17D2-532F-B42018347704}"/>
          </ac:spMkLst>
        </pc:spChg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724728472" sldId="315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05024277" sldId="319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4102660813" sldId="320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744189931" sldId="321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353453961" sldId="322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513359643" sldId="324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063948006" sldId="329"/>
        </pc:sldMkLst>
      </pc:sldChg>
      <pc:sldChg chg="modSp mod">
        <pc:chgData name="Henry Chai" userId="1324968a148d377f" providerId="LiveId" clId="{E53FC72E-7E86-8B45-A4FC-276FCB52817F}" dt="2024-01-29T16:51:39.167" v="25" actId="20577"/>
        <pc:sldMkLst>
          <pc:docMk/>
          <pc:sldMk cId="1088705866" sldId="378"/>
        </pc:sldMkLst>
        <pc:spChg chg="mod">
          <ac:chgData name="Henry Chai" userId="1324968a148d377f" providerId="LiveId" clId="{E53FC72E-7E86-8B45-A4FC-276FCB52817F}" dt="2024-01-29T16:51:39.167" v="25" actId="20577"/>
          <ac:spMkLst>
            <pc:docMk/>
            <pc:sldMk cId="1088705866" sldId="378"/>
            <ac:spMk id="3" creationId="{EC7E5F59-C055-5C96-DB35-DCEBE2390BBB}"/>
          </ac:spMkLst>
        </pc:spChg>
        <pc:spChg chg="mod">
          <ac:chgData name="Henry Chai" userId="1324968a148d377f" providerId="LiveId" clId="{E53FC72E-7E86-8B45-A4FC-276FCB52817F}" dt="2024-01-29T16:51:34.225" v="17" actId="20577"/>
          <ac:spMkLst>
            <pc:docMk/>
            <pc:sldMk cId="1088705866" sldId="378"/>
            <ac:spMk id="20" creationId="{C6857724-9A66-D141-8300-3ED6E6ED21ED}"/>
          </ac:spMkLst>
        </pc:spChg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899674655" sldId="384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73485545" sldId="385"/>
        </pc:sldMkLst>
      </pc:sldChg>
      <pc:sldChg chg="addSp delSp modSp mod">
        <pc:chgData name="Henry Chai" userId="1324968a148d377f" providerId="LiveId" clId="{E53FC72E-7E86-8B45-A4FC-276FCB52817F}" dt="2024-01-29T16:53:21.230" v="138" actId="478"/>
        <pc:sldMkLst>
          <pc:docMk/>
          <pc:sldMk cId="1801951522" sldId="423"/>
        </pc:sldMkLst>
        <pc:spChg chg="mod">
          <ac:chgData name="Henry Chai" userId="1324968a148d377f" providerId="LiveId" clId="{E53FC72E-7E86-8B45-A4FC-276FCB52817F}" dt="2024-01-29T16:53:09.674" v="133" actId="1037"/>
          <ac:spMkLst>
            <pc:docMk/>
            <pc:sldMk cId="1801951522" sldId="423"/>
            <ac:spMk id="14" creationId="{E11E0756-C4C4-1C47-80BC-EEB0C2CAA22A}"/>
          </ac:spMkLst>
        </pc:spChg>
        <pc:spChg chg="mod">
          <ac:chgData name="Henry Chai" userId="1324968a148d377f" providerId="LiveId" clId="{E53FC72E-7E86-8B45-A4FC-276FCB52817F}" dt="2024-01-29T16:52:19.892" v="96" actId="1035"/>
          <ac:spMkLst>
            <pc:docMk/>
            <pc:sldMk cId="1801951522" sldId="423"/>
            <ac:spMk id="15" creationId="{1C5297BA-96DB-AC42-A92B-1C9943B8A5E9}"/>
          </ac:spMkLst>
        </pc:spChg>
        <pc:spChg chg="mod">
          <ac:chgData name="Henry Chai" userId="1324968a148d377f" providerId="LiveId" clId="{E53FC72E-7E86-8B45-A4FC-276FCB52817F}" dt="2024-01-29T16:52:23.967" v="97" actId="1076"/>
          <ac:spMkLst>
            <pc:docMk/>
            <pc:sldMk cId="1801951522" sldId="423"/>
            <ac:spMk id="16" creationId="{D202B387-47E5-C241-9D97-3FB29E9D878E}"/>
          </ac:spMkLst>
        </pc:spChg>
        <pc:spChg chg="mod">
          <ac:chgData name="Henry Chai" userId="1324968a148d377f" providerId="LiveId" clId="{E53FC72E-7E86-8B45-A4FC-276FCB52817F}" dt="2024-01-29T16:53:09.674" v="133" actId="1037"/>
          <ac:spMkLst>
            <pc:docMk/>
            <pc:sldMk cId="1801951522" sldId="423"/>
            <ac:spMk id="17" creationId="{E28AB1C5-0EBD-644E-BDF9-2AAF82F71A94}"/>
          </ac:spMkLst>
        </pc:spChg>
        <pc:spChg chg="mod">
          <ac:chgData name="Henry Chai" userId="1324968a148d377f" providerId="LiveId" clId="{E53FC72E-7E86-8B45-A4FC-276FCB52817F}" dt="2024-01-29T16:53:09.674" v="133" actId="1037"/>
          <ac:spMkLst>
            <pc:docMk/>
            <pc:sldMk cId="1801951522" sldId="423"/>
            <ac:spMk id="18" creationId="{69603027-8A99-2849-A971-70E64045CDF3}"/>
          </ac:spMkLst>
        </pc:spChg>
        <pc:spChg chg="mod">
          <ac:chgData name="Henry Chai" userId="1324968a148d377f" providerId="LiveId" clId="{E53FC72E-7E86-8B45-A4FC-276FCB52817F}" dt="2024-01-29T16:52:06.048" v="73" actId="1037"/>
          <ac:spMkLst>
            <pc:docMk/>
            <pc:sldMk cId="1801951522" sldId="423"/>
            <ac:spMk id="19" creationId="{4E1B2A7B-CC26-82EE-95C2-5A964868CCE9}"/>
          </ac:spMkLst>
        </pc:spChg>
        <pc:spChg chg="mod">
          <ac:chgData name="Henry Chai" userId="1324968a148d377f" providerId="LiveId" clId="{E53FC72E-7E86-8B45-A4FC-276FCB52817F}" dt="2024-01-29T16:53:16.549" v="137" actId="1037"/>
          <ac:spMkLst>
            <pc:docMk/>
            <pc:sldMk cId="1801951522" sldId="423"/>
            <ac:spMk id="21" creationId="{9EDED3BF-6661-B84B-8AE4-27E177785FE1}"/>
          </ac:spMkLst>
        </pc:spChg>
        <pc:spChg chg="mod">
          <ac:chgData name="Henry Chai" userId="1324968a148d377f" providerId="LiveId" clId="{E53FC72E-7E86-8B45-A4FC-276FCB52817F}" dt="2024-01-29T16:53:16.549" v="137" actId="1037"/>
          <ac:spMkLst>
            <pc:docMk/>
            <pc:sldMk cId="1801951522" sldId="423"/>
            <ac:spMk id="22" creationId="{7BB531B0-94F8-0041-BDAA-3A98E433E6BC}"/>
          </ac:spMkLst>
        </pc:spChg>
        <pc:cxnChg chg="add del">
          <ac:chgData name="Henry Chai" userId="1324968a148d377f" providerId="LiveId" clId="{E53FC72E-7E86-8B45-A4FC-276FCB52817F}" dt="2024-01-29T16:53:21.230" v="138" actId="478"/>
          <ac:cxnSpMkLst>
            <pc:docMk/>
            <pc:sldMk cId="1801951522" sldId="423"/>
            <ac:cxnSpMk id="6" creationId="{EAD53F88-63AB-8168-0FE1-246DF2B0D47C}"/>
          </ac:cxnSpMkLst>
        </pc:cxnChg>
      </pc:sldChg>
      <pc:sldChg chg="addSp delSp modSp mod delAnim">
        <pc:chgData name="Henry Chai" userId="1324968a148d377f" providerId="LiveId" clId="{E53FC72E-7E86-8B45-A4FC-276FCB52817F}" dt="2024-01-29T16:54:29.412" v="153" actId="20577"/>
        <pc:sldMkLst>
          <pc:docMk/>
          <pc:sldMk cId="409005516" sldId="466"/>
        </pc:sldMkLst>
        <pc:spChg chg="add mod">
          <ac:chgData name="Henry Chai" userId="1324968a148d377f" providerId="LiveId" clId="{E53FC72E-7E86-8B45-A4FC-276FCB52817F}" dt="2024-01-29T16:53:45.582" v="140"/>
          <ac:spMkLst>
            <pc:docMk/>
            <pc:sldMk cId="409005516" sldId="466"/>
            <ac:spMk id="5" creationId="{27B67556-AAF7-4239-BE89-2D5888E16E5D}"/>
          </ac:spMkLst>
        </pc:spChg>
        <pc:spChg chg="add mod">
          <ac:chgData name="Henry Chai" userId="1324968a148d377f" providerId="LiveId" clId="{E53FC72E-7E86-8B45-A4FC-276FCB52817F}" dt="2024-01-29T16:53:45.582" v="140"/>
          <ac:spMkLst>
            <pc:docMk/>
            <pc:sldMk cId="409005516" sldId="466"/>
            <ac:spMk id="6" creationId="{92E9F830-C049-E01F-B5A7-4A92CE0919E0}"/>
          </ac:spMkLst>
        </pc:spChg>
        <pc:spChg chg="add mod">
          <ac:chgData name="Henry Chai" userId="1324968a148d377f" providerId="LiveId" clId="{E53FC72E-7E86-8B45-A4FC-276FCB52817F}" dt="2024-01-29T16:53:45.582" v="140"/>
          <ac:spMkLst>
            <pc:docMk/>
            <pc:sldMk cId="409005516" sldId="466"/>
            <ac:spMk id="7" creationId="{41992AF6-3758-30B2-ED11-1D0EC0C0815B}"/>
          </ac:spMkLst>
        </pc:spChg>
        <pc:spChg chg="add mod">
          <ac:chgData name="Henry Chai" userId="1324968a148d377f" providerId="LiveId" clId="{E53FC72E-7E86-8B45-A4FC-276FCB52817F}" dt="2024-01-29T16:53:45.582" v="140"/>
          <ac:spMkLst>
            <pc:docMk/>
            <pc:sldMk cId="409005516" sldId="466"/>
            <ac:spMk id="8" creationId="{53A15784-A86E-FF04-DAFE-82DA03EADE7C}"/>
          </ac:spMkLst>
        </pc:spChg>
        <pc:spChg chg="add mod">
          <ac:chgData name="Henry Chai" userId="1324968a148d377f" providerId="LiveId" clId="{E53FC72E-7E86-8B45-A4FC-276FCB52817F}" dt="2024-01-29T16:53:45.582" v="140"/>
          <ac:spMkLst>
            <pc:docMk/>
            <pc:sldMk cId="409005516" sldId="466"/>
            <ac:spMk id="9" creationId="{8E98BFDB-D054-C5C1-70DE-2804BEF9C082}"/>
          </ac:spMkLst>
        </pc:spChg>
        <pc:spChg chg="add mod">
          <ac:chgData name="Henry Chai" userId="1324968a148d377f" providerId="LiveId" clId="{E53FC72E-7E86-8B45-A4FC-276FCB52817F}" dt="2024-01-29T16:53:59.018" v="143"/>
          <ac:spMkLst>
            <pc:docMk/>
            <pc:sldMk cId="409005516" sldId="466"/>
            <ac:spMk id="10" creationId="{09A872A4-D000-BAA0-9DDE-E6AEFB6BA0AD}"/>
          </ac:spMkLst>
        </pc:spChg>
        <pc:spChg chg="mod">
          <ac:chgData name="Henry Chai" userId="1324968a148d377f" providerId="LiveId" clId="{E53FC72E-7E86-8B45-A4FC-276FCB52817F}" dt="2024-01-29T16:54:29.412" v="153" actId="20577"/>
          <ac:spMkLst>
            <pc:docMk/>
            <pc:sldMk cId="409005516" sldId="466"/>
            <ac:spMk id="12" creationId="{95EE9FDC-91FE-9680-E229-1319C9E4BFA1}"/>
          </ac:spMkLst>
        </pc:spChg>
        <pc:spChg chg="del">
          <ac:chgData name="Henry Chai" userId="1324968a148d377f" providerId="LiveId" clId="{E53FC72E-7E86-8B45-A4FC-276FCB52817F}" dt="2024-01-29T16:53:50.294" v="141" actId="478"/>
          <ac:spMkLst>
            <pc:docMk/>
            <pc:sldMk cId="409005516" sldId="466"/>
            <ac:spMk id="13" creationId="{8C94FF7B-9746-A049-A15B-81E28D67634F}"/>
          </ac:spMkLst>
        </pc:spChg>
        <pc:spChg chg="mod">
          <ac:chgData name="Henry Chai" userId="1324968a148d377f" providerId="LiveId" clId="{E53FC72E-7E86-8B45-A4FC-276FCB52817F}" dt="2024-01-29T16:54:23.763" v="152" actId="1076"/>
          <ac:spMkLst>
            <pc:docMk/>
            <pc:sldMk cId="409005516" sldId="466"/>
            <ac:spMk id="14" creationId="{E501058A-E1A9-6B5F-7986-EE7E3A1D173E}"/>
          </ac:spMkLst>
        </pc:spChg>
        <pc:spChg chg="del">
          <ac:chgData name="Henry Chai" userId="1324968a148d377f" providerId="LiveId" clId="{E53FC72E-7E86-8B45-A4FC-276FCB52817F}" dt="2024-01-29T16:53:45.311" v="139" actId="478"/>
          <ac:spMkLst>
            <pc:docMk/>
            <pc:sldMk cId="409005516" sldId="466"/>
            <ac:spMk id="15" creationId="{1C5297BA-96DB-AC42-A92B-1C9943B8A5E9}"/>
          </ac:spMkLst>
        </pc:spChg>
        <pc:spChg chg="del">
          <ac:chgData name="Henry Chai" userId="1324968a148d377f" providerId="LiveId" clId="{E53FC72E-7E86-8B45-A4FC-276FCB52817F}" dt="2024-01-29T16:53:45.311" v="139" actId="478"/>
          <ac:spMkLst>
            <pc:docMk/>
            <pc:sldMk cId="409005516" sldId="466"/>
            <ac:spMk id="16" creationId="{D202B387-47E5-C241-9D97-3FB29E9D878E}"/>
          </ac:spMkLst>
        </pc:spChg>
        <pc:spChg chg="del">
          <ac:chgData name="Henry Chai" userId="1324968a148d377f" providerId="LiveId" clId="{E53FC72E-7E86-8B45-A4FC-276FCB52817F}" dt="2024-01-29T16:53:45.311" v="139" actId="478"/>
          <ac:spMkLst>
            <pc:docMk/>
            <pc:sldMk cId="409005516" sldId="466"/>
            <ac:spMk id="17" creationId="{E28AB1C5-0EBD-644E-BDF9-2AAF82F71A94}"/>
          </ac:spMkLst>
        </pc:spChg>
        <pc:spChg chg="del">
          <ac:chgData name="Henry Chai" userId="1324968a148d377f" providerId="LiveId" clId="{E53FC72E-7E86-8B45-A4FC-276FCB52817F}" dt="2024-01-29T16:53:45.311" v="139" actId="478"/>
          <ac:spMkLst>
            <pc:docMk/>
            <pc:sldMk cId="409005516" sldId="466"/>
            <ac:spMk id="18" creationId="{69603027-8A99-2849-A971-70E64045CDF3}"/>
          </ac:spMkLst>
        </pc:spChg>
        <pc:spChg chg="del">
          <ac:chgData name="Henry Chai" userId="1324968a148d377f" providerId="LiveId" clId="{E53FC72E-7E86-8B45-A4FC-276FCB52817F}" dt="2024-01-29T16:53:45.311" v="139" actId="478"/>
          <ac:spMkLst>
            <pc:docMk/>
            <pc:sldMk cId="409005516" sldId="466"/>
            <ac:spMk id="19" creationId="{F34B3CD7-6218-ADAC-E225-276F3F764960}"/>
          </ac:spMkLst>
        </pc:spChg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499594360" sldId="764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667517753" sldId="2180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596977317" sldId="2181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859023014" sldId="2182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066717842" sldId="2183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927938954" sldId="2184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2535286195" sldId="2185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541711000" sldId="2186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618425994" sldId="2187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54688238" sldId="2188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4182747663" sldId="2189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338398069" sldId="2190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2593470262" sldId="2191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3240988286" sldId="2192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189450187" sldId="2193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722358624" sldId="2194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4013305091" sldId="2222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549577531" sldId="2223"/>
        </pc:sldMkLst>
      </pc:sldChg>
      <pc:sldChg chg="mod modShow">
        <pc:chgData name="Henry Chai" userId="1324968a148d377f" providerId="LiveId" clId="{E53FC72E-7E86-8B45-A4FC-276FCB52817F}" dt="2024-01-29T16:54:50.688" v="155" actId="729"/>
        <pc:sldMkLst>
          <pc:docMk/>
          <pc:sldMk cId="1246135669" sldId="2224"/>
        </pc:sldMkLst>
      </pc:sldChg>
      <pc:sldChg chg="delSp mod">
        <pc:chgData name="Henry Chai" userId="1324968a148d377f" providerId="LiveId" clId="{E53FC72E-7E86-8B45-A4FC-276FCB52817F}" dt="2024-01-29T16:54:41.057" v="154" actId="478"/>
        <pc:sldMkLst>
          <pc:docMk/>
          <pc:sldMk cId="3229118594" sldId="2252"/>
        </pc:sldMkLst>
        <pc:spChg chg="del">
          <ac:chgData name="Henry Chai" userId="1324968a148d377f" providerId="LiveId" clId="{E53FC72E-7E86-8B45-A4FC-276FCB52817F}" dt="2024-01-29T16:54:41.057" v="154" actId="478"/>
          <ac:spMkLst>
            <pc:docMk/>
            <pc:sldMk cId="3229118594" sldId="2252"/>
            <ac:spMk id="7" creationId="{492034BF-83A9-0823-28C4-DD0F5A02449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1T19:32:10.8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22645 14331 8472,'0'-15'393,"-2"6"1,-1-1 0,-2-1 0,2-2 0,1-1 0,2-1 0,2 3 589,3 2 0,-4 5 0,4 10 0,-3 5 0,-2 2 0,0 3 0,0-1 0,0 0 0,0 2 0,0 2-3441,0 1 0,0 5 1,1-3-1,2 0 2324,2 0 1,6 4-1,-3-2 1</inkml:trace>
  <inkml:trace contextRef="#ctx0" brushRef="#br0" timeOffset="1">22659 14777 10042,'-8'1'1640,"3"4"0,4 5 0,1 2 0,0 3-3527,0-1 0,0 1 1887,0-1 0,0 7 0,0 1 0</inkml:trace>
  <inkml:trace contextRef="#ctx0" brushRef="#br0" timeOffset="2">22745 15079 8472,'-22'0'256,"1"0"0,7 1 1,1 4-1,3 5 0,6 3 1,2 1-1,2 0 1,2 1-1,1-1 0,3-1 1,1-2-257,-1-1 0,5-1 0,-3 6 0</inkml:trace>
  <inkml:trace contextRef="#ctx0" brushRef="#br0" timeOffset="3">22745 15381 8472,'-14'10'983,"0"-2"0,1 0 0,3 0 0,5 3 0,4 2 0,1 1 0,0 0 0,0 1 0,0-1 0,0 0-952,0 1 0,0-1 0,0 1 0</inkml:trace>
  <inkml:trace contextRef="#ctx0" brushRef="#br0" timeOffset="4">25364 14086 9992,'-10'-13'3313,"2"5"1,2 8-3329,3 8 0,1 0 1,2 2-1,0 1 0,0 2 1,0 1-1,0 1 0,0 1 1,0 1-1,0 2 1,0-1-1,0 0 0,0-1 1,0 4 14,0 1 0,-6 2 0,-2 5 0</inkml:trace>
  <inkml:trace contextRef="#ctx0" brushRef="#br0" timeOffset="5">25421 14590 8472,'-8'-7'2274,"-4"6"1,4-6 0,1 4-3470,7 3 1,2 2 0,6 9 0,0-3 1194,0-2 0,1 5 0,6-3 0</inkml:trace>
  <inkml:trace contextRef="#ctx0" brushRef="#br0" timeOffset="6">25522 14705 10903,'-14'1'0,"-1"3"0,3 2 0,0 0 0,4 2 0,2 0 0,3 4 0,1 0 0,2 3 0,0-1-62,0 0 1,0-4 0,0 0 0,0 1 0,0 2 0,0 1 61,0 0 0,0 1 0,0-1 0</inkml:trace>
  <inkml:trace contextRef="#ctx0" brushRef="#br0" timeOffset="7">25536 15050 8472,'-12'-2'373,"0"-1"1,3-2 0,-1 4-1,2 4 1,5 7 0,5 2-1605,2 3 1,6-1-1,-4-1 1231,2-3 0,-4 2 0,2-4 0</inkml:trace>
  <inkml:trace contextRef="#ctx0" brushRef="#br0" timeOffset="8">25536 15280 8472,'-14'0'557,"0"0"1,-1 0-1,1 2 1,1 3-1,4 4 1,5 2-1540,8-1 0,-3 3 1,4-4-1,-3 4-843,-2 2 1825,0-7 0,6 4 0,2-4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D55A9-3A7F-D74E-916F-4D86EE728B7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1DDA5-E8A4-664E-9D2F-20BB38FCF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6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6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5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17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5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infinitely many points passing trough the point.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26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infinitely many lines that pass through the mid-point of two points on the y-axis.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63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59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D1EB-CB05-2E56-B380-A73760B8B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A8061-6118-B941-2140-3823910B0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CF554-11AF-664F-4D57-28F76D65D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0D89B-0797-74A2-1DDD-C45F077D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20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93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76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27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Can also show this using a Taylor series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66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Can also show this using a Taylor series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6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53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92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69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73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54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075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081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01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53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72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246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299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05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380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95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989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637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21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76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214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446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711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64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291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2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0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0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5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4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5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4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6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5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customXml" Target="../ink/ink1.xml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69D1-06B2-8340-A68B-FCD71E81E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769352" cy="3255264"/>
          </a:xfrm>
        </p:spPr>
        <p:txBody>
          <a:bodyPr>
            <a:noAutofit/>
          </a:bodyPr>
          <a:lstStyle/>
          <a:p>
            <a:br>
              <a:rPr lang="en-US" sz="6000" dirty="0"/>
            </a:br>
            <a:r>
              <a:rPr lang="en-US" sz="6000" dirty="0"/>
              <a:t>CS 522: Machine Learning</a:t>
            </a:r>
            <a:br>
              <a:rPr lang="en-US" sz="6000" dirty="0"/>
            </a:br>
            <a:r>
              <a:rPr lang="en-US" sz="6000" dirty="0"/>
              <a:t>Lecture 4 –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453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</a:t>
            </a:r>
            <a:r>
              <a:rPr lang="en-US" b="1" u="sng">
                <a:solidFill>
                  <a:schemeClr val="bg1"/>
                </a:solidFill>
              </a:rPr>
              <a:t>binary </a:t>
            </a:r>
            <a:r>
              <a:rPr lang="en-US" b="1" u="sng"/>
              <a:t>regression</a:t>
            </a:r>
            <a:r>
              <a:rPr lang="en-US" b="1"/>
              <a:t>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</a:t>
            </a:r>
            <a:br>
              <a:rPr lang="en-US"/>
            </a:br>
            <a:r>
              <a:rPr lang="en-US"/>
              <a:t>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BC575-66E0-45A5-4162-1D1B22B6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63398"/>
                  </p:ext>
                </p:extLst>
              </p:nvPr>
            </p:nvGraphicFramePr>
            <p:xfrm>
              <a:off x="4471843" y="2923451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$20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$30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$100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$5000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63398"/>
                  </p:ext>
                </p:extLst>
              </p:nvPr>
            </p:nvGraphicFramePr>
            <p:xfrm>
              <a:off x="4471843" y="2923451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247541" r="-22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347541" r="-22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447541" r="-22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547541" r="-22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647541" r="-22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7C13073D-DFD4-E9E3-3FD5-55D16F9C8250}"/>
              </a:ext>
            </a:extLst>
          </p:cNvPr>
          <p:cNvSpPr/>
          <p:nvPr/>
        </p:nvSpPr>
        <p:spPr>
          <a:xfrm rot="5400000">
            <a:off x="6168055" y="755213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E5F57570-BCDD-599A-D7FF-7288F75B8DB5}"/>
              </a:ext>
            </a:extLst>
          </p:cNvPr>
          <p:cNvSpPr/>
          <p:nvPr/>
        </p:nvSpPr>
        <p:spPr>
          <a:xfrm rot="5400000">
            <a:off x="8633674" y="2148000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6837E-2BFA-B94C-AF1F-A8B08DFE6FDF}"/>
              </a:ext>
            </a:extLst>
          </p:cNvPr>
          <p:cNvSpPr txBox="1"/>
          <p:nvPr/>
        </p:nvSpPr>
        <p:spPr>
          <a:xfrm>
            <a:off x="5299883" y="1989760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8DCF1A-1E1B-871B-AF83-FC45F14BF448}"/>
              </a:ext>
            </a:extLst>
          </p:cNvPr>
          <p:cNvSpPr txBox="1"/>
          <p:nvPr/>
        </p:nvSpPr>
        <p:spPr>
          <a:xfrm>
            <a:off x="8252316" y="1986482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D4FF3C41-07E3-CE87-D6CE-8EAB66FDB5DA}"/>
              </a:ext>
            </a:extLst>
          </p:cNvPr>
          <p:cNvSpPr/>
          <p:nvPr/>
        </p:nvSpPr>
        <p:spPr>
          <a:xfrm>
            <a:off x="3989288" y="3835632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65DAD-A232-CDAA-2CD7-A39474278E71}"/>
              </a:ext>
            </a:extLst>
          </p:cNvPr>
          <p:cNvSpPr txBox="1"/>
          <p:nvPr/>
        </p:nvSpPr>
        <p:spPr>
          <a:xfrm rot="16200000">
            <a:off x="2608494" y="4505156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5C542-8F45-D240-4D8B-6B88D4B55324}"/>
              </a:ext>
            </a:extLst>
          </p:cNvPr>
          <p:cNvSpPr/>
          <p:nvPr/>
        </p:nvSpPr>
        <p:spPr>
          <a:xfrm>
            <a:off x="8333527" y="3835631"/>
            <a:ext cx="1051629" cy="18451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6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</a:t>
            </a:r>
            <a:r>
              <a:rPr lang="en-US" b="1" u="sng">
                <a:solidFill>
                  <a:schemeClr val="bg1"/>
                </a:solidFill>
              </a:rPr>
              <a:t>binary </a:t>
            </a:r>
            <a:r>
              <a:rPr lang="en-US" b="1" u="sng"/>
              <a:t>regression</a:t>
            </a:r>
            <a:r>
              <a:rPr lang="en-US" b="1"/>
              <a:t>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</a:t>
            </a:r>
            <a:br>
              <a:rPr lang="en-US"/>
            </a:br>
            <a:r>
              <a:rPr lang="en-US"/>
              <a:t>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BC575-66E0-45A5-4162-1D1B22B6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71843" y="2923451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$20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$30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$100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$5000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71843" y="2923451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247541" r="-22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347541" r="-22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447541" r="-22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547541" r="-22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647541" r="-22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7C13073D-DFD4-E9E3-3FD5-55D16F9C8250}"/>
              </a:ext>
            </a:extLst>
          </p:cNvPr>
          <p:cNvSpPr/>
          <p:nvPr/>
        </p:nvSpPr>
        <p:spPr>
          <a:xfrm rot="5400000">
            <a:off x="6168055" y="755213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E5F57570-BCDD-599A-D7FF-7288F75B8DB5}"/>
              </a:ext>
            </a:extLst>
          </p:cNvPr>
          <p:cNvSpPr/>
          <p:nvPr/>
        </p:nvSpPr>
        <p:spPr>
          <a:xfrm rot="5400000">
            <a:off x="8633674" y="2148000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6837E-2BFA-B94C-AF1F-A8B08DFE6FDF}"/>
              </a:ext>
            </a:extLst>
          </p:cNvPr>
          <p:cNvSpPr txBox="1"/>
          <p:nvPr/>
        </p:nvSpPr>
        <p:spPr>
          <a:xfrm>
            <a:off x="5299883" y="1989760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8DCF1A-1E1B-871B-AF83-FC45F14BF448}"/>
              </a:ext>
            </a:extLst>
          </p:cNvPr>
          <p:cNvSpPr txBox="1"/>
          <p:nvPr/>
        </p:nvSpPr>
        <p:spPr>
          <a:xfrm>
            <a:off x="8252316" y="1986482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D4FF3C41-07E3-CE87-D6CE-8EAB66FDB5DA}"/>
              </a:ext>
            </a:extLst>
          </p:cNvPr>
          <p:cNvSpPr/>
          <p:nvPr/>
        </p:nvSpPr>
        <p:spPr>
          <a:xfrm>
            <a:off x="3989288" y="3835632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65DAD-A232-CDAA-2CD7-A39474278E71}"/>
              </a:ext>
            </a:extLst>
          </p:cNvPr>
          <p:cNvSpPr txBox="1"/>
          <p:nvPr/>
        </p:nvSpPr>
        <p:spPr>
          <a:xfrm rot="16200000">
            <a:off x="2608494" y="4505156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5C542-8F45-D240-4D8B-6B88D4B55324}"/>
              </a:ext>
            </a:extLst>
          </p:cNvPr>
          <p:cNvSpPr/>
          <p:nvPr/>
        </p:nvSpPr>
        <p:spPr>
          <a:xfrm>
            <a:off x="8333527" y="3835631"/>
            <a:ext cx="1051629" cy="18451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7841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99221A-88DC-6342-AFE4-172DBB5469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-NN</a:t>
                </a:r>
                <a:br>
                  <a:rPr lang="en-US"/>
                </a:br>
                <a:r>
                  <a:rPr lang="en-US"/>
                  <a:t>Regression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99221A-88DC-6342-AFE4-172DBB546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Suppose we have real-valued targets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/>
                  <a:t>and               one-dimensional inputs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400" b="0"/>
              </a:p>
              <a:p>
                <a:pPr>
                  <a:lnSpc>
                    <a:spcPct val="100000"/>
                  </a:lnSpc>
                </a:pPr>
                <a:r>
                  <a:rPr lang="en-US" sz="2400" b="1"/>
                  <a:t>Assume</a:t>
                </a:r>
                <a:r>
                  <a:rPr lang="en-US" sz="2400" b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  <a:p>
                <a:pPr>
                  <a:lnSpc>
                    <a:spcPct val="100000"/>
                  </a:lnSpc>
                </a:pPr>
                <a:r>
                  <a:rPr lang="en-US" sz="2400"/>
                  <a:t>Notation: given training data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sz="240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 is the </a:t>
                </a:r>
                <a:r>
                  <a:rPr lang="en-US" sz="2400" i="1"/>
                  <a:t>design matrix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400"/>
                  <a:t> is the </a:t>
                </a:r>
                <a:r>
                  <a:rPr lang="en-US" sz="2400" i="1"/>
                  <a:t>target vector</a:t>
                </a:r>
                <a:endParaRPr lang="en-US" sz="2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  <a:blipFill>
                <a:blip r:embed="rId3"/>
                <a:stretch>
                  <a:fillRect l="-1317" t="-119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E77B-09E1-954B-A536-D58C161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2C2FA-B295-BFFC-099A-5259414A7C7D}"/>
              </a:ext>
            </a:extLst>
          </p:cNvPr>
          <p:cNvSpPr/>
          <p:nvPr/>
        </p:nvSpPr>
        <p:spPr>
          <a:xfrm>
            <a:off x="3668358" y="1741119"/>
            <a:ext cx="7982174" cy="4476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9D04EC-C5E6-E502-D7EE-5E731AAE1A59}"/>
              </a:ext>
            </a:extLst>
          </p:cNvPr>
          <p:cNvCxnSpPr/>
          <p:nvPr/>
        </p:nvCxnSpPr>
        <p:spPr>
          <a:xfrm flipV="1">
            <a:off x="5022937" y="2254685"/>
            <a:ext cx="0" cy="347033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F95BA1-5615-84E0-3DB2-61EC7A9BBB53}"/>
              </a:ext>
            </a:extLst>
          </p:cNvPr>
          <p:cNvCxnSpPr>
            <a:cxnSpLocks/>
          </p:cNvCxnSpPr>
          <p:nvPr/>
        </p:nvCxnSpPr>
        <p:spPr>
          <a:xfrm>
            <a:off x="5010411" y="5715207"/>
            <a:ext cx="45699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759F45-124C-FA3F-9149-8A3C95713039}"/>
                  </a:ext>
                </a:extLst>
              </p:cNvPr>
              <p:cNvSpPr txBox="1"/>
              <p:nvPr/>
            </p:nvSpPr>
            <p:spPr>
              <a:xfrm>
                <a:off x="9534595" y="5684631"/>
                <a:ext cx="2337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759F45-124C-FA3F-9149-8A3C9571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595" y="5684631"/>
                <a:ext cx="233718" cy="369332"/>
              </a:xfrm>
              <a:prstGeom prst="rect">
                <a:avLst/>
              </a:prstGeom>
              <a:blipFill>
                <a:blip r:embed="rId4"/>
                <a:stretch>
                  <a:fillRect l="-18421" r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64E951-2EEB-AC71-15B0-75F6F1DF4DD6}"/>
                  </a:ext>
                </a:extLst>
              </p:cNvPr>
              <p:cNvSpPr txBox="1"/>
              <p:nvPr/>
            </p:nvSpPr>
            <p:spPr>
              <a:xfrm>
                <a:off x="4772718" y="1885353"/>
                <a:ext cx="237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64E951-2EEB-AC71-15B0-75F6F1DF4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718" y="1885353"/>
                <a:ext cx="237693" cy="369332"/>
              </a:xfrm>
              <a:prstGeom prst="rect">
                <a:avLst/>
              </a:prstGeom>
              <a:blipFill>
                <a:blip r:embed="rId5"/>
                <a:stretch>
                  <a:fillRect l="-33333" r="-307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D8BDB670-EE26-5E83-8400-0DC71A167894}"/>
              </a:ext>
            </a:extLst>
          </p:cNvPr>
          <p:cNvSpPr>
            <a:spLocks noChangeAspect="1"/>
          </p:cNvSpPr>
          <p:nvPr/>
        </p:nvSpPr>
        <p:spPr>
          <a:xfrm>
            <a:off x="5770669" y="5003271"/>
            <a:ext cx="182880" cy="18288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599D19-4728-3BFA-CB27-9DA1483DFD3F}"/>
              </a:ext>
            </a:extLst>
          </p:cNvPr>
          <p:cNvSpPr>
            <a:spLocks noChangeAspect="1"/>
          </p:cNvSpPr>
          <p:nvPr/>
        </p:nvSpPr>
        <p:spPr>
          <a:xfrm>
            <a:off x="6446923" y="4110462"/>
            <a:ext cx="182880" cy="18288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2925C7A-C09D-07CC-CF47-1D1087E41DF9}"/>
              </a:ext>
            </a:extLst>
          </p:cNvPr>
          <p:cNvSpPr>
            <a:spLocks noChangeAspect="1"/>
          </p:cNvSpPr>
          <p:nvPr/>
        </p:nvSpPr>
        <p:spPr>
          <a:xfrm>
            <a:off x="7479792" y="3796640"/>
            <a:ext cx="182880" cy="18288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EF1C01-FAFD-781E-14DA-0ADD38D9D4CD}"/>
              </a:ext>
            </a:extLst>
          </p:cNvPr>
          <p:cNvSpPr>
            <a:spLocks noChangeAspect="1"/>
          </p:cNvSpPr>
          <p:nvPr/>
        </p:nvSpPr>
        <p:spPr>
          <a:xfrm>
            <a:off x="8221679" y="2854801"/>
            <a:ext cx="182880" cy="18288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67BEB4-87BA-F9AA-65D0-213A56B1C1EE}"/>
              </a:ext>
            </a:extLst>
          </p:cNvPr>
          <p:cNvSpPr>
            <a:spLocks noChangeAspect="1"/>
          </p:cNvSpPr>
          <p:nvPr/>
        </p:nvSpPr>
        <p:spPr>
          <a:xfrm>
            <a:off x="8950669" y="4710390"/>
            <a:ext cx="182880" cy="18288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221A-88DC-6342-AFE4-172DBB54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</a:t>
            </a:r>
            <a:br>
              <a:rPr lang="en-US"/>
            </a:br>
            <a:r>
              <a:rPr lang="en-US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Suppose we have real-valued targets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/>
                  <a:t>and   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0"/>
                  <a:t>-dimensional inputs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sz="2400" b="0"/>
              </a:p>
              <a:p>
                <a:pPr>
                  <a:lnSpc>
                    <a:spcPct val="100000"/>
                  </a:lnSpc>
                </a:pPr>
                <a:r>
                  <a:rPr lang="en-US" sz="2400" b="1"/>
                  <a:t>Assume</a:t>
                </a:r>
                <a:r>
                  <a:rPr lang="en-US" sz="2400" b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  <a:p>
                <a:pPr>
                  <a:lnSpc>
                    <a:spcPct val="100000"/>
                  </a:lnSpc>
                </a:pPr>
                <a:r>
                  <a:rPr lang="en-US" sz="2400"/>
                  <a:t>Notation: given training data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sz="240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 is the </a:t>
                </a:r>
                <a:r>
                  <a:rPr lang="en-US" sz="2400" i="1"/>
                  <a:t>design matrix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400"/>
                  <a:t> is the </a:t>
                </a:r>
                <a:r>
                  <a:rPr lang="en-US" sz="2400" i="1"/>
                  <a:t>target vector</a:t>
                </a:r>
                <a:endParaRPr lang="en-US" sz="2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  <a:blipFill>
                <a:blip r:embed="rId2"/>
                <a:stretch>
                  <a:fillRect l="-1317" t="-119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E77B-09E1-954B-A536-D58C161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2C2FA-B295-BFFC-099A-5259414A7C7D}"/>
              </a:ext>
            </a:extLst>
          </p:cNvPr>
          <p:cNvSpPr/>
          <p:nvPr/>
        </p:nvSpPr>
        <p:spPr>
          <a:xfrm>
            <a:off x="3668358" y="2657139"/>
            <a:ext cx="7982174" cy="35607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5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221A-88DC-6342-AFE4-172DBB54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</a:t>
            </a:r>
            <a:br>
              <a:rPr lang="en-US"/>
            </a:br>
            <a:r>
              <a:rPr lang="en-US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Suppose we have real-valued targets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and   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0" dirty="0"/>
                  <a:t>-dimensional inputs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1" dirty="0"/>
                  <a:t>Assume</a:t>
                </a:r>
                <a:r>
                  <a:rPr lang="en-US" sz="2400" b="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Notation: given training data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design matrix</a:t>
                </a:r>
                <a:endParaRPr lang="en-US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target vector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𝑿𝒘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8B75F-BEBF-7749-8AC5-0D20A6941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912" y="864108"/>
                <a:ext cx="7406640" cy="5120640"/>
              </a:xfrm>
              <a:blipFill>
                <a:blip r:embed="rId2"/>
                <a:stretch>
                  <a:fillRect l="-988" t="-5357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E77B-09E1-954B-A536-D58C161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6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888F66A-E333-8245-215F-9D8265A39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7589520" cy="512064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/>
                  <a:t>Define a model and model parameters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/>
                  <a:t> Assume</a:t>
                </a:r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40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/>
                  <a:t> Parameters: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</m:oMath>
                </a14:m>
                <a:endParaRPr lang="en-US" sz="240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/>
                  <a:t>Write down an objective function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/>
                  <a:t> Minimize the squared error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/>
                  <a:t>Optimize the objective </a:t>
                </a:r>
                <a:r>
                  <a:rPr lang="en-US" err="1"/>
                  <a:t>w.r.t.</a:t>
                </a:r>
                <a:r>
                  <a:rPr lang="en-US"/>
                  <a:t> the model parameters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400"/>
                  <a:t>Solve in </a:t>
                </a:r>
                <a:r>
                  <a:rPr lang="en-US" sz="2400" i="1"/>
                  <a:t>closed form</a:t>
                </a:r>
                <a:r>
                  <a:rPr lang="en-US" sz="2400"/>
                  <a:t>: take partial derivatives,           </a:t>
                </a:r>
                <a:br>
                  <a:rPr lang="en-US" sz="2400"/>
                </a:br>
                <a:r>
                  <a:rPr lang="en-US" sz="2400"/>
                  <a:t>set to 0 and solve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888F66A-E333-8245-215F-9D8265A39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7589520" cy="5120640"/>
              </a:xfrm>
              <a:blipFill>
                <a:blip r:embed="rId2"/>
                <a:stretch>
                  <a:fillRect l="-1285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D99221A-88DC-6342-AFE4-172DBB54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</a:t>
            </a:r>
            <a:br>
              <a:rPr lang="en-US"/>
            </a:br>
            <a:r>
              <a:rPr lang="en-US"/>
              <a:t>Recipe </a:t>
            </a:r>
            <a:br>
              <a:rPr lang="en-US"/>
            </a:br>
            <a:r>
              <a:rPr lang="en-US"/>
              <a:t>for </a:t>
            </a:r>
            <a:br>
              <a:rPr lang="en-US"/>
            </a:br>
            <a:r>
              <a:rPr lang="en-US"/>
              <a:t>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E77B-09E1-954B-A536-D58C161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88CC17-6A62-A64F-ACAA-BA67D6FD6AD0}"/>
              </a:ext>
            </a:extLst>
          </p:cNvPr>
          <p:cNvSpPr/>
          <p:nvPr/>
        </p:nvSpPr>
        <p:spPr>
          <a:xfrm>
            <a:off x="3630168" y="1407180"/>
            <a:ext cx="8110728" cy="119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C4B13-AD0E-C64F-9423-A671C2FADC3C}"/>
              </a:ext>
            </a:extLst>
          </p:cNvPr>
          <p:cNvSpPr/>
          <p:nvPr/>
        </p:nvSpPr>
        <p:spPr>
          <a:xfrm>
            <a:off x="3630168" y="3285768"/>
            <a:ext cx="8110728" cy="119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E560B-D0A5-5246-964B-77F3876C721F}"/>
              </a:ext>
            </a:extLst>
          </p:cNvPr>
          <p:cNvSpPr/>
          <p:nvPr/>
        </p:nvSpPr>
        <p:spPr>
          <a:xfrm>
            <a:off x="3630168" y="5046803"/>
            <a:ext cx="8110728" cy="1281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6857724-9A66-D141-8300-3ED6E6ED2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7589520" cy="512064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Define a model and model parameters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 dirty="0"/>
                  <a:t> Assume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 dirty="0"/>
                  <a:t> Parameters: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Write down an objective function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 dirty="0"/>
                  <a:t> Minimize the mean squared error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 dirty="0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Optimize the objective </a:t>
                </a:r>
                <a:r>
                  <a:rPr lang="en-US" dirty="0" err="1"/>
                  <a:t>w.r.t.</a:t>
                </a:r>
                <a:r>
                  <a:rPr lang="en-US" dirty="0"/>
                  <a:t> the model parameters</a:t>
                </a:r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 dirty="0"/>
                  <a:t>Solve in </a:t>
                </a:r>
                <a:r>
                  <a:rPr lang="en-US" sz="2400" i="1" dirty="0"/>
                  <a:t>closed form</a:t>
                </a:r>
                <a:r>
                  <a:rPr lang="en-US" sz="2400" dirty="0"/>
                  <a:t>: take partial derivatives,           </a:t>
                </a:r>
                <a:br>
                  <a:rPr lang="en-US" sz="2400" dirty="0"/>
                </a:br>
                <a:r>
                  <a:rPr lang="en-US" sz="2400" dirty="0"/>
                  <a:t>set to 0 and solve</a:t>
                </a: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6857724-9A66-D141-8300-3ED6E6ED2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7589520" cy="5120640"/>
              </a:xfrm>
              <a:blipFill>
                <a:blip r:embed="rId2"/>
                <a:stretch>
                  <a:fillRect l="-1169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D99221A-88DC-6342-AFE4-172DBB54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br>
              <a:rPr lang="en-US"/>
            </a:br>
            <a:r>
              <a:rPr lang="en-US"/>
              <a:t>Recipe </a:t>
            </a:r>
            <a:br>
              <a:rPr lang="en-US"/>
            </a:br>
            <a:r>
              <a:rPr lang="en-US"/>
              <a:t>for </a:t>
            </a:r>
            <a:br>
              <a:rPr lang="en-US"/>
            </a:br>
            <a:r>
              <a:rPr lang="en-US"/>
              <a:t>Linear</a:t>
            </a:r>
            <a:br>
              <a:rPr lang="en-US"/>
            </a:br>
            <a:r>
              <a:rPr lang="en-US"/>
              <a:t>Regression</a:t>
            </a:r>
            <a:br>
              <a:rPr lang="en-US"/>
            </a:b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E77B-09E1-954B-A536-D58C161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C7E5F59-C055-5C96-DB35-DCEBE2390BBB}"/>
                  </a:ext>
                </a:extLst>
              </p:cNvPr>
              <p:cNvSpPr/>
              <p:nvPr/>
            </p:nvSpPr>
            <p:spPr>
              <a:xfrm>
                <a:off x="5565793" y="3574282"/>
                <a:ext cx="4459298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C7E5F59-C055-5C96-DB35-DCEBE2390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793" y="3574282"/>
                <a:ext cx="4459298" cy="1130822"/>
              </a:xfrm>
              <a:prstGeom prst="rect">
                <a:avLst/>
              </a:prstGeom>
              <a:blipFill>
                <a:blip r:embed="rId3"/>
                <a:stretch>
                  <a:fillRect t="-102222" b="-15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70586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43A8-A191-004A-B901-21429C26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Minimizing the Squared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EE903-E7D3-D34C-998C-C08BEBC9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5297BA-96DB-AC42-A92B-1C9943B8A5E9}"/>
                  </a:ext>
                </a:extLst>
              </p:cNvPr>
              <p:cNvSpPr txBox="1"/>
              <p:nvPr/>
            </p:nvSpPr>
            <p:spPr>
              <a:xfrm>
                <a:off x="4981411" y="1935596"/>
                <a:ext cx="210712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5297BA-96DB-AC42-A92B-1C9943B8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11" y="1935596"/>
                <a:ext cx="2107124" cy="691471"/>
              </a:xfrm>
              <a:prstGeom prst="rect">
                <a:avLst/>
              </a:prstGeom>
              <a:blipFill>
                <a:blip r:embed="rId3"/>
                <a:stretch>
                  <a:fillRect l="-1796" r="-1198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02B387-47E5-C241-9D97-3FB29E9D878E}"/>
                  </a:ext>
                </a:extLst>
              </p:cNvPr>
              <p:cNvSpPr txBox="1"/>
              <p:nvPr/>
            </p:nvSpPr>
            <p:spPr>
              <a:xfrm>
                <a:off x="7153503" y="1562897"/>
                <a:ext cx="4062005" cy="1436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24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02B387-47E5-C241-9D97-3FB29E9D8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503" y="1562897"/>
                <a:ext cx="4062005" cy="1436868"/>
              </a:xfrm>
              <a:prstGeom prst="rect">
                <a:avLst/>
              </a:prstGeom>
              <a:blipFill>
                <a:blip r:embed="rId4"/>
                <a:stretch>
                  <a:fillRect l="-2492" t="-66957" r="-1558" b="-11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8AB1C5-0EBD-644E-BDF9-2AAF82F71A94}"/>
                  </a:ext>
                </a:extLst>
              </p:cNvPr>
              <p:cNvSpPr txBox="1"/>
              <p:nvPr/>
            </p:nvSpPr>
            <p:spPr>
              <a:xfrm>
                <a:off x="5015073" y="2748695"/>
                <a:ext cx="3167897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8AB1C5-0EBD-644E-BDF9-2AAF82F71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73" y="2748695"/>
                <a:ext cx="3167897" cy="691471"/>
              </a:xfrm>
              <a:prstGeom prst="rect">
                <a:avLst/>
              </a:prstGeom>
              <a:blipFill>
                <a:blip r:embed="rId5"/>
                <a:stretch>
                  <a:fillRect l="-2400" r="-120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603027-8A99-2849-A971-70E64045CDF3}"/>
                  </a:ext>
                </a:extLst>
              </p:cNvPr>
              <p:cNvSpPr/>
              <p:nvPr/>
            </p:nvSpPr>
            <p:spPr>
              <a:xfrm>
                <a:off x="4839708" y="3559129"/>
                <a:ext cx="4762265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603027-8A99-2849-A971-70E64045C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708" y="3559129"/>
                <a:ext cx="4762265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EDED3BF-6661-B84B-8AE4-27E177785FE1}"/>
                  </a:ext>
                </a:extLst>
              </p:cNvPr>
              <p:cNvSpPr/>
              <p:nvPr/>
            </p:nvSpPr>
            <p:spPr>
              <a:xfrm>
                <a:off x="3651889" y="5274995"/>
                <a:ext cx="2356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EDED3BF-6661-B84B-8AE4-27E177785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889" y="5274995"/>
                <a:ext cx="2356286" cy="461665"/>
              </a:xfrm>
              <a:prstGeom prst="rect">
                <a:avLst/>
              </a:prstGeom>
              <a:blipFill>
                <a:blip r:embed="rId7"/>
                <a:stretch>
                  <a:fillRect t="-270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B531B0-94F8-0041-BDAA-3A98E433E6BC}"/>
                  </a:ext>
                </a:extLst>
              </p:cNvPr>
              <p:cNvSpPr/>
              <p:nvPr/>
            </p:nvSpPr>
            <p:spPr>
              <a:xfrm>
                <a:off x="4221139" y="5855623"/>
                <a:ext cx="2917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400" b="1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B531B0-94F8-0041-BDAA-3A98E433E6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139" y="5855623"/>
                <a:ext cx="2917850" cy="461665"/>
              </a:xfrm>
              <a:prstGeom prst="rect">
                <a:avLst/>
              </a:prstGeom>
              <a:blipFill>
                <a:blip r:embed="rId8"/>
                <a:stretch>
                  <a:fillRect t="-270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1E0756-C4C4-1C47-80BC-EEB0C2CAA22A}"/>
                  </a:ext>
                </a:extLst>
              </p:cNvPr>
              <p:cNvSpPr/>
              <p:nvPr/>
            </p:nvSpPr>
            <p:spPr>
              <a:xfrm>
                <a:off x="3589810" y="4498139"/>
                <a:ext cx="5047087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1E0756-C4C4-1C47-80BC-EEB0C2CAA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10" y="4498139"/>
                <a:ext cx="5047087" cy="783804"/>
              </a:xfrm>
              <a:prstGeom prst="rect">
                <a:avLst/>
              </a:prstGeom>
              <a:blipFill>
                <a:blip r:embed="rId9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1B2A7B-CC26-82EE-95C2-5A964868CCE9}"/>
                  </a:ext>
                </a:extLst>
              </p:cNvPr>
              <p:cNvSpPr txBox="1"/>
              <p:nvPr/>
            </p:nvSpPr>
            <p:spPr>
              <a:xfrm>
                <a:off x="4036513" y="493833"/>
                <a:ext cx="7726218" cy="1038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4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1B2A7B-CC26-82EE-95C2-5A964868C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513" y="493833"/>
                <a:ext cx="7726218" cy="1038489"/>
              </a:xfrm>
              <a:prstGeom prst="rect">
                <a:avLst/>
              </a:prstGeom>
              <a:blipFill>
                <a:blip r:embed="rId10"/>
                <a:stretch>
                  <a:fillRect l="-492" t="-114458" b="-174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95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43A8-A191-004A-B901-21429C26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Minimizing the Squared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EE903-E7D3-D34C-998C-C08BEBC9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E9FDC-91FE-9680-E229-1319C9E4BFA1}"/>
                  </a:ext>
                </a:extLst>
              </p:cNvPr>
              <p:cNvSpPr txBox="1"/>
              <p:nvPr/>
            </p:nvSpPr>
            <p:spPr>
              <a:xfrm>
                <a:off x="3589810" y="5437149"/>
                <a:ext cx="2647826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E9FDC-91FE-9680-E229-1319C9E4B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10" y="5437149"/>
                <a:ext cx="2647826" cy="691471"/>
              </a:xfrm>
              <a:prstGeom prst="rect">
                <a:avLst/>
              </a:prstGeom>
              <a:blipFill>
                <a:blip r:embed="rId3"/>
                <a:stretch>
                  <a:fillRect l="-476" t="-1818" r="-476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01058A-E1A9-6B5F-7986-EE7E3A1D173E}"/>
                  </a:ext>
                </a:extLst>
              </p:cNvPr>
              <p:cNvSpPr txBox="1"/>
              <p:nvPr/>
            </p:nvSpPr>
            <p:spPr>
              <a:xfrm>
                <a:off x="6237636" y="5598218"/>
                <a:ext cx="50470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is positive semi-definite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01058A-E1A9-6B5F-7986-EE7E3A1D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636" y="5598218"/>
                <a:ext cx="5047086" cy="369332"/>
              </a:xfrm>
              <a:prstGeom prst="rect">
                <a:avLst/>
              </a:prstGeom>
              <a:blipFill>
                <a:blip r:embed="rId4"/>
                <a:stretch>
                  <a:fillRect l="-1759" t="-20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B67556-AAF7-4239-BE89-2D5888E16E5D}"/>
                  </a:ext>
                </a:extLst>
              </p:cNvPr>
              <p:cNvSpPr txBox="1"/>
              <p:nvPr/>
            </p:nvSpPr>
            <p:spPr>
              <a:xfrm>
                <a:off x="4981411" y="1935596"/>
                <a:ext cx="210712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B67556-AAF7-4239-BE89-2D5888E16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11" y="1935596"/>
                <a:ext cx="2107124" cy="691471"/>
              </a:xfrm>
              <a:prstGeom prst="rect">
                <a:avLst/>
              </a:prstGeom>
              <a:blipFill>
                <a:blip r:embed="rId5"/>
                <a:stretch>
                  <a:fillRect l="-1796" r="-1198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9F830-C049-E01F-B5A7-4A92CE0919E0}"/>
                  </a:ext>
                </a:extLst>
              </p:cNvPr>
              <p:cNvSpPr txBox="1"/>
              <p:nvPr/>
            </p:nvSpPr>
            <p:spPr>
              <a:xfrm>
                <a:off x="7153503" y="1562897"/>
                <a:ext cx="4062005" cy="1436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24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9F830-C049-E01F-B5A7-4A92CE09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503" y="1562897"/>
                <a:ext cx="4062005" cy="1436868"/>
              </a:xfrm>
              <a:prstGeom prst="rect">
                <a:avLst/>
              </a:prstGeom>
              <a:blipFill>
                <a:blip r:embed="rId6"/>
                <a:stretch>
                  <a:fillRect l="-2492" t="-66957" r="-1558" b="-11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992AF6-3758-30B2-ED11-1D0EC0C0815B}"/>
                  </a:ext>
                </a:extLst>
              </p:cNvPr>
              <p:cNvSpPr txBox="1"/>
              <p:nvPr/>
            </p:nvSpPr>
            <p:spPr>
              <a:xfrm>
                <a:off x="5015073" y="2748695"/>
                <a:ext cx="3167897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992AF6-3758-30B2-ED11-1D0EC0C08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73" y="2748695"/>
                <a:ext cx="3167897" cy="691471"/>
              </a:xfrm>
              <a:prstGeom prst="rect">
                <a:avLst/>
              </a:prstGeom>
              <a:blipFill>
                <a:blip r:embed="rId7"/>
                <a:stretch>
                  <a:fillRect l="-2400" r="-120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A15784-A86E-FF04-DAFE-82DA03EADE7C}"/>
                  </a:ext>
                </a:extLst>
              </p:cNvPr>
              <p:cNvSpPr/>
              <p:nvPr/>
            </p:nvSpPr>
            <p:spPr>
              <a:xfrm>
                <a:off x="4839708" y="3559129"/>
                <a:ext cx="4762265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A15784-A86E-FF04-DAFE-82DA03EAD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708" y="3559129"/>
                <a:ext cx="4762265" cy="783804"/>
              </a:xfrm>
              <a:prstGeom prst="rect">
                <a:avLst/>
              </a:prstGeom>
              <a:blipFill>
                <a:blip r:embed="rId8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8BFDB-D054-C5C1-70DE-2804BEF9C082}"/>
                  </a:ext>
                </a:extLst>
              </p:cNvPr>
              <p:cNvSpPr txBox="1"/>
              <p:nvPr/>
            </p:nvSpPr>
            <p:spPr>
              <a:xfrm>
                <a:off x="4036513" y="493833"/>
                <a:ext cx="7726218" cy="1038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4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8BFDB-D054-C5C1-70DE-2804BEF9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513" y="493833"/>
                <a:ext cx="7726218" cy="1038489"/>
              </a:xfrm>
              <a:prstGeom prst="rect">
                <a:avLst/>
              </a:prstGeom>
              <a:blipFill>
                <a:blip r:embed="rId9"/>
                <a:stretch>
                  <a:fillRect l="-492" t="-114458" b="-174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9A872A4-D000-BAA0-9DDE-E6AEFB6BA0AD}"/>
                  </a:ext>
                </a:extLst>
              </p:cNvPr>
              <p:cNvSpPr/>
              <p:nvPr/>
            </p:nvSpPr>
            <p:spPr>
              <a:xfrm>
                <a:off x="3589810" y="4498139"/>
                <a:ext cx="5047087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9A872A4-D000-BAA0-9DDE-E6AEFB6BA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10" y="4498139"/>
                <a:ext cx="5047087" cy="783804"/>
              </a:xfrm>
              <a:prstGeom prst="rect">
                <a:avLst/>
              </a:prstGeom>
              <a:blipFill>
                <a:blip r:embed="rId1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0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43A8-A191-004A-B901-21429C26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 Form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EE903-E7D3-D34C-998C-C08BEBC9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66EB5-D30C-6544-99C2-A2A00FCE17B5}"/>
                  </a:ext>
                </a:extLst>
              </p:cNvPr>
              <p:cNvSpPr txBox="1"/>
              <p:nvPr/>
            </p:nvSpPr>
            <p:spPr>
              <a:xfrm>
                <a:off x="3875162" y="759006"/>
                <a:ext cx="7772400" cy="533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Clr>
                    <a:schemeClr val="accent1"/>
                  </a:buClr>
                  <a:buAutoNum type="arabicPeriod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invertible?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(almost always) full rank and therefore, invertible!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not invertible (occurs when one of the features is a linear combination of the others) then there are infinitely many solutions.</a:t>
                </a:r>
              </a:p>
              <a:p>
                <a:pPr marL="457200" indent="-457200">
                  <a:lnSpc>
                    <a:spcPct val="130000"/>
                  </a:lnSpc>
                  <a:buClr>
                    <a:schemeClr val="accent1"/>
                  </a:buClr>
                  <a:buAutoNum type="arabicPeriod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so, how computationally expensive is inverting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+1×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 inverting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time…</a:t>
                </a:r>
              </a:p>
              <a:p>
                <a:pPr marL="1152525" lvl="2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time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Can use gradient descent to (potentially) speed things up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large!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66EB5-D30C-6544-99C2-A2A00FCE1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162" y="759006"/>
                <a:ext cx="7772400" cy="5334987"/>
              </a:xfrm>
              <a:prstGeom prst="rect">
                <a:avLst/>
              </a:prstGeom>
              <a:blipFill>
                <a:blip r:embed="rId3"/>
                <a:stretch>
                  <a:fillRect l="-1255" r="-784" b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E580A9-4384-3212-06E3-E08D0C742DFF}"/>
                  </a:ext>
                </a:extLst>
              </p:cNvPr>
              <p:cNvSpPr/>
              <p:nvPr/>
            </p:nvSpPr>
            <p:spPr>
              <a:xfrm>
                <a:off x="4492838" y="202585"/>
                <a:ext cx="25850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400" b="1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E580A9-4384-3212-06E3-E08D0C742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38" y="202585"/>
                <a:ext cx="2585067" cy="461665"/>
              </a:xfrm>
              <a:prstGeom prst="rect">
                <a:avLst/>
              </a:prstGeom>
              <a:blipFill>
                <a:blip r:embed="rId4"/>
                <a:stretch>
                  <a:fillRect t="-5263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7D0FB3A-6BED-6711-27DC-651142D332F5}"/>
              </a:ext>
            </a:extLst>
          </p:cNvPr>
          <p:cNvSpPr/>
          <p:nvPr/>
        </p:nvSpPr>
        <p:spPr>
          <a:xfrm>
            <a:off x="3547950" y="1330036"/>
            <a:ext cx="8184871" cy="2280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87F61-2A2E-9E29-EB4E-316E4A01C645}"/>
              </a:ext>
            </a:extLst>
          </p:cNvPr>
          <p:cNvSpPr/>
          <p:nvPr/>
        </p:nvSpPr>
        <p:spPr>
          <a:xfrm>
            <a:off x="3547950" y="4076286"/>
            <a:ext cx="8184871" cy="2280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0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CBCA9F-8DF3-3E11-C6E1-9CE54D2522DD}"/>
              </a:ext>
            </a:extLst>
          </p:cNvPr>
          <p:cNvGrpSpPr>
            <a:grpSpLocks noChangeAspect="1"/>
          </p:cNvGrpSpPr>
          <p:nvPr/>
        </p:nvGrpSpPr>
        <p:grpSpPr>
          <a:xfrm>
            <a:off x="7526868" y="1629314"/>
            <a:ext cx="4114800" cy="3599371"/>
            <a:chOff x="7112064" y="1502644"/>
            <a:chExt cx="4827019" cy="42223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6AF3FF-7F47-7840-BD88-4B90A726A7B9}"/>
                </a:ext>
              </a:extLst>
            </p:cNvPr>
            <p:cNvGrpSpPr/>
            <p:nvPr/>
          </p:nvGrpSpPr>
          <p:grpSpPr>
            <a:xfrm>
              <a:off x="7528922" y="1731245"/>
              <a:ext cx="4116842" cy="3562937"/>
              <a:chOff x="1284286" y="-955664"/>
              <a:chExt cx="4116842" cy="356293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6B45D0F-07CF-1440-BCCE-D16F9CF41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4286" y="2607272"/>
                <a:ext cx="4116842" cy="1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308192C-623E-3F42-861E-D860B0E0BD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4286" y="-955664"/>
                <a:ext cx="0" cy="3562937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FAC64D-350A-B948-815B-30319A802125}"/>
                </a:ext>
              </a:extLst>
            </p:cNvPr>
            <p:cNvSpPr/>
            <p:nvPr/>
          </p:nvSpPr>
          <p:spPr>
            <a:xfrm>
              <a:off x="8613545" y="3490830"/>
              <a:ext cx="251599" cy="24566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A2F7989-F27A-324B-BDEF-819F0A532867}"/>
                </a:ext>
              </a:extLst>
            </p:cNvPr>
            <p:cNvSpPr/>
            <p:nvPr/>
          </p:nvSpPr>
          <p:spPr>
            <a:xfrm>
              <a:off x="10244264" y="2903586"/>
              <a:ext cx="251599" cy="24566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/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blipFill>
                  <a:blip r:embed="rId3"/>
                  <a:stretch>
                    <a:fillRect l="-13793" b="-3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/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1D linear regression model trained to minimize the mean squared error: how many optimal solutions (i.e., sets of weights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) are there for the given dataset?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5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76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CBCA9F-8DF3-3E11-C6E1-9CE54D2522DD}"/>
              </a:ext>
            </a:extLst>
          </p:cNvPr>
          <p:cNvGrpSpPr>
            <a:grpSpLocks noChangeAspect="1"/>
          </p:cNvGrpSpPr>
          <p:nvPr/>
        </p:nvGrpSpPr>
        <p:grpSpPr>
          <a:xfrm>
            <a:off x="7526868" y="1629314"/>
            <a:ext cx="4114800" cy="3599371"/>
            <a:chOff x="7112064" y="1502644"/>
            <a:chExt cx="4827019" cy="42223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6AF3FF-7F47-7840-BD88-4B90A726A7B9}"/>
                </a:ext>
              </a:extLst>
            </p:cNvPr>
            <p:cNvGrpSpPr/>
            <p:nvPr/>
          </p:nvGrpSpPr>
          <p:grpSpPr>
            <a:xfrm>
              <a:off x="7528922" y="1731245"/>
              <a:ext cx="4116842" cy="3562937"/>
              <a:chOff x="1284286" y="-955664"/>
              <a:chExt cx="4116842" cy="356293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6B45D0F-07CF-1440-BCCE-D16F9CF41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4286" y="2607272"/>
                <a:ext cx="4116842" cy="1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308192C-623E-3F42-861E-D860B0E0BD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4286" y="-955664"/>
                <a:ext cx="0" cy="3562937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FAC64D-350A-B948-815B-30319A802125}"/>
                </a:ext>
              </a:extLst>
            </p:cNvPr>
            <p:cNvSpPr/>
            <p:nvPr/>
          </p:nvSpPr>
          <p:spPr>
            <a:xfrm>
              <a:off x="8613545" y="3490830"/>
              <a:ext cx="251599" cy="24566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/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blipFill>
                  <a:blip r:embed="rId3"/>
                  <a:stretch>
                    <a:fillRect l="-13793" b="-3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/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1D linear regression model trained to minimize the mean squared error: how many optimal solutions (i.e., sets of weights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) are there for the given dataset?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5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06434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14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CBCA9F-8DF3-3E11-C6E1-9CE54D2522DD}"/>
              </a:ext>
            </a:extLst>
          </p:cNvPr>
          <p:cNvGrpSpPr>
            <a:grpSpLocks noChangeAspect="1"/>
          </p:cNvGrpSpPr>
          <p:nvPr/>
        </p:nvGrpSpPr>
        <p:grpSpPr>
          <a:xfrm>
            <a:off x="7526868" y="1629314"/>
            <a:ext cx="4114800" cy="3599371"/>
            <a:chOff x="7112064" y="1502644"/>
            <a:chExt cx="4827019" cy="42223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6AF3FF-7F47-7840-BD88-4B90A726A7B9}"/>
                </a:ext>
              </a:extLst>
            </p:cNvPr>
            <p:cNvGrpSpPr/>
            <p:nvPr/>
          </p:nvGrpSpPr>
          <p:grpSpPr>
            <a:xfrm>
              <a:off x="7528922" y="1731245"/>
              <a:ext cx="4116842" cy="3562937"/>
              <a:chOff x="1284286" y="-955664"/>
              <a:chExt cx="4116842" cy="356293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6B45D0F-07CF-1440-BCCE-D16F9CF41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4286" y="2607272"/>
                <a:ext cx="4116842" cy="1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308192C-623E-3F42-861E-D860B0E0BD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4286" y="-955664"/>
                <a:ext cx="0" cy="3562937"/>
              </a:xfrm>
              <a:prstGeom prst="line">
                <a:avLst/>
              </a:prstGeom>
              <a:ln>
                <a:tailEnd type="triangle" w="lg" len="lg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FAC64D-350A-B948-815B-30319A802125}"/>
                </a:ext>
              </a:extLst>
            </p:cNvPr>
            <p:cNvSpPr/>
            <p:nvPr/>
          </p:nvSpPr>
          <p:spPr>
            <a:xfrm>
              <a:off x="8613545" y="3490830"/>
              <a:ext cx="251599" cy="24566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/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5869FA-B6F7-F642-B101-FF0ADBC34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064" y="1502644"/>
                  <a:ext cx="416859" cy="389964"/>
                </a:xfrm>
                <a:prstGeom prst="rect">
                  <a:avLst/>
                </a:prstGeom>
                <a:blipFill>
                  <a:blip r:embed="rId3"/>
                  <a:stretch>
                    <a:fillRect l="-13793" b="-3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/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F6DBB0-5303-894C-875D-C3606FD1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781" y="5294180"/>
                  <a:ext cx="564302" cy="4308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1D linear regression model trained to minimize the mean squared error: how many optimal solutions (i.e., sets of weights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) are there for the given dataset?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5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A5AF52EA-E676-F081-8E66-9D4BDAB1C5F5}"/>
              </a:ext>
            </a:extLst>
          </p:cNvPr>
          <p:cNvSpPr/>
          <p:nvPr/>
        </p:nvSpPr>
        <p:spPr>
          <a:xfrm>
            <a:off x="8806808" y="2312327"/>
            <a:ext cx="214476" cy="20941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i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45988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16673" cy="4601183"/>
          </a:xfrm>
        </p:spPr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2D linear regression model trained to minimize the mean squared error: how many optimal solutions (i.e., sets of parameters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) are there for the given dataset?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3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36CFB90-C6BB-465C-E1A3-ED7894CF3A24}"/>
              </a:ext>
            </a:extLst>
          </p:cNvPr>
          <p:cNvGrpSpPr>
            <a:grpSpLocks noChangeAspect="1"/>
          </p:cNvGrpSpPr>
          <p:nvPr/>
        </p:nvGrpSpPr>
        <p:grpSpPr>
          <a:xfrm>
            <a:off x="7284798" y="1534290"/>
            <a:ext cx="4114799" cy="3791607"/>
            <a:chOff x="5590585" y="1409951"/>
            <a:chExt cx="4950025" cy="456123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86D6FF-104B-EC8C-E26C-95229811C9D5}"/>
                </a:ext>
              </a:extLst>
            </p:cNvPr>
            <p:cNvGrpSpPr/>
            <p:nvPr/>
          </p:nvGrpSpPr>
          <p:grpSpPr>
            <a:xfrm>
              <a:off x="5590585" y="1409951"/>
              <a:ext cx="4950025" cy="4197473"/>
              <a:chOff x="3160060" y="1384785"/>
              <a:chExt cx="5862902" cy="49715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/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167" r="-4167" b="-5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baseline="-25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769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39C71C4-8F69-1FD3-43F3-14563E378ADD}"/>
                  </a:ext>
                </a:extLst>
              </p:cNvPr>
              <p:cNvGrpSpPr/>
              <p:nvPr/>
            </p:nvGrpSpPr>
            <p:grpSpPr>
              <a:xfrm>
                <a:off x="3160060" y="1775012"/>
                <a:ext cx="5528782" cy="4581338"/>
                <a:chOff x="3160060" y="1775012"/>
                <a:chExt cx="5528782" cy="4581338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D7E12E9F-1214-841B-F8A5-B08781C88F17}"/>
                    </a:ext>
                  </a:extLst>
                </p:cNvPr>
                <p:cNvGrpSpPr/>
                <p:nvPr/>
              </p:nvGrpSpPr>
              <p:grpSpPr>
                <a:xfrm>
                  <a:off x="4572000" y="1775012"/>
                  <a:ext cx="4116842" cy="3562937"/>
                  <a:chOff x="1284286" y="-955664"/>
                  <a:chExt cx="4116842" cy="3562937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105EA658-7603-8A38-0F24-937A8036B8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84286" y="2607272"/>
                    <a:ext cx="4116842" cy="1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A7AF89B-FD2D-D003-C4EC-78B01F7723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284286" y="-955664"/>
                    <a:ext cx="0" cy="3562937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AC2DCEB-1538-72C3-47A9-976D688A76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060" y="5337948"/>
                  <a:ext cx="1411940" cy="1018402"/>
                </a:xfrm>
                <a:prstGeom prst="line">
                  <a:avLst/>
                </a:prstGeom>
                <a:ln>
                  <a:tailEnd type="triangle" w="lg" len="lg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/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baseline="-250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blipFill>
                  <a:blip r:embed="rId6"/>
                  <a:stretch>
                    <a:fillRect l="-10769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CEB8C80-E365-FC12-311D-A0105F2C2ED8}"/>
                </a:ext>
              </a:extLst>
            </p:cNvPr>
            <p:cNvSpPr/>
            <p:nvPr/>
          </p:nvSpPr>
          <p:spPr>
            <a:xfrm>
              <a:off x="7663560" y="3858363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B651A3-665D-1AE3-73D7-D6214FA86A27}"/>
                </a:ext>
              </a:extLst>
            </p:cNvPr>
            <p:cNvSpPr/>
            <p:nvPr/>
          </p:nvSpPr>
          <p:spPr>
            <a:xfrm>
              <a:off x="8131235" y="3701281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2F1CC14-A0BB-2E3F-F97C-CD15B1572521}"/>
                </a:ext>
              </a:extLst>
            </p:cNvPr>
            <p:cNvSpPr/>
            <p:nvPr/>
          </p:nvSpPr>
          <p:spPr>
            <a:xfrm>
              <a:off x="8595095" y="3534486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C9916E-D180-73FB-5922-D4567F5D0CA2}"/>
                </a:ext>
              </a:extLst>
            </p:cNvPr>
            <p:cNvSpPr/>
            <p:nvPr/>
          </p:nvSpPr>
          <p:spPr>
            <a:xfrm>
              <a:off x="9045508" y="3389585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6E9B6B-85A7-6441-5440-D4BEAA834FD8}"/>
                </a:ext>
              </a:extLst>
            </p:cNvPr>
            <p:cNvSpPr/>
            <p:nvPr/>
          </p:nvSpPr>
          <p:spPr>
            <a:xfrm>
              <a:off x="9495921" y="3246260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CD6947-0665-8878-5C96-D2370E41FB46}"/>
              </a:ext>
            </a:extLst>
          </p:cNvPr>
          <p:cNvCxnSpPr>
            <a:cxnSpLocks/>
          </p:cNvCxnSpPr>
          <p:nvPr/>
        </p:nvCxnSpPr>
        <p:spPr>
          <a:xfrm flipV="1">
            <a:off x="8226543" y="2887683"/>
            <a:ext cx="3082039" cy="109191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5397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25AAD74-3123-87BA-3AC2-CE2131CD6C52}"/>
              </a:ext>
            </a:extLst>
          </p:cNvPr>
          <p:cNvSpPr/>
          <p:nvPr/>
        </p:nvSpPr>
        <p:spPr>
          <a:xfrm rot="20434884">
            <a:off x="8045471" y="2933420"/>
            <a:ext cx="3270132" cy="5172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16673" cy="4601183"/>
          </a:xfrm>
        </p:spPr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2D linear regression model trained to minimize the mean squared error: how many optimal solutions (i.e., sets of weights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) are there for the given dataset?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2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36CFB90-C6BB-465C-E1A3-ED7894CF3A24}"/>
              </a:ext>
            </a:extLst>
          </p:cNvPr>
          <p:cNvGrpSpPr>
            <a:grpSpLocks noChangeAspect="1"/>
          </p:cNvGrpSpPr>
          <p:nvPr/>
        </p:nvGrpSpPr>
        <p:grpSpPr>
          <a:xfrm>
            <a:off x="7284798" y="1534290"/>
            <a:ext cx="4114799" cy="3791607"/>
            <a:chOff x="5590585" y="1409951"/>
            <a:chExt cx="4950025" cy="456123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86D6FF-104B-EC8C-E26C-95229811C9D5}"/>
                </a:ext>
              </a:extLst>
            </p:cNvPr>
            <p:cNvGrpSpPr/>
            <p:nvPr/>
          </p:nvGrpSpPr>
          <p:grpSpPr>
            <a:xfrm>
              <a:off x="5590585" y="1409951"/>
              <a:ext cx="4950025" cy="4197473"/>
              <a:chOff x="3160060" y="1384785"/>
              <a:chExt cx="5862902" cy="49715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/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167" r="-4167" b="-5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baseline="-25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769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39C71C4-8F69-1FD3-43F3-14563E378ADD}"/>
                  </a:ext>
                </a:extLst>
              </p:cNvPr>
              <p:cNvGrpSpPr/>
              <p:nvPr/>
            </p:nvGrpSpPr>
            <p:grpSpPr>
              <a:xfrm>
                <a:off x="3160060" y="1775012"/>
                <a:ext cx="5528782" cy="4581338"/>
                <a:chOff x="3160060" y="1775012"/>
                <a:chExt cx="5528782" cy="4581338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D7E12E9F-1214-841B-F8A5-B08781C88F17}"/>
                    </a:ext>
                  </a:extLst>
                </p:cNvPr>
                <p:cNvGrpSpPr/>
                <p:nvPr/>
              </p:nvGrpSpPr>
              <p:grpSpPr>
                <a:xfrm>
                  <a:off x="4572000" y="1775012"/>
                  <a:ext cx="4116842" cy="3562937"/>
                  <a:chOff x="1284286" y="-955664"/>
                  <a:chExt cx="4116842" cy="3562937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105EA658-7603-8A38-0F24-937A8036B8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84286" y="2607272"/>
                    <a:ext cx="4116842" cy="1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A7AF89B-FD2D-D003-C4EC-78B01F7723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284286" y="-955664"/>
                    <a:ext cx="0" cy="3562937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AC2DCEB-1538-72C3-47A9-976D688A76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060" y="5337948"/>
                  <a:ext cx="1411940" cy="1018402"/>
                </a:xfrm>
                <a:prstGeom prst="line">
                  <a:avLst/>
                </a:prstGeom>
                <a:ln>
                  <a:tailEnd type="triangle" w="lg" len="lg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/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baseline="-250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blipFill>
                  <a:blip r:embed="rId5"/>
                  <a:stretch>
                    <a:fillRect l="-10769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CEB8C80-E365-FC12-311D-A0105F2C2ED8}"/>
                </a:ext>
              </a:extLst>
            </p:cNvPr>
            <p:cNvSpPr/>
            <p:nvPr/>
          </p:nvSpPr>
          <p:spPr>
            <a:xfrm>
              <a:off x="7663560" y="3858363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B651A3-665D-1AE3-73D7-D6214FA86A27}"/>
                </a:ext>
              </a:extLst>
            </p:cNvPr>
            <p:cNvSpPr/>
            <p:nvPr/>
          </p:nvSpPr>
          <p:spPr>
            <a:xfrm>
              <a:off x="8131235" y="3701281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2F1CC14-A0BB-2E3F-F97C-CD15B1572521}"/>
                </a:ext>
              </a:extLst>
            </p:cNvPr>
            <p:cNvSpPr/>
            <p:nvPr/>
          </p:nvSpPr>
          <p:spPr>
            <a:xfrm>
              <a:off x="8595095" y="3534486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C9916E-D180-73FB-5922-D4567F5D0CA2}"/>
                </a:ext>
              </a:extLst>
            </p:cNvPr>
            <p:cNvSpPr/>
            <p:nvPr/>
          </p:nvSpPr>
          <p:spPr>
            <a:xfrm>
              <a:off x="9045508" y="3389585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6E9B6B-85A7-6441-5440-D4BEAA834FD8}"/>
                </a:ext>
              </a:extLst>
            </p:cNvPr>
            <p:cNvSpPr/>
            <p:nvPr/>
          </p:nvSpPr>
          <p:spPr>
            <a:xfrm>
              <a:off x="9495921" y="3246260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0C99142-A361-6D30-4ABA-0106BF798CB2}"/>
              </a:ext>
            </a:extLst>
          </p:cNvPr>
          <p:cNvSpPr/>
          <p:nvPr/>
        </p:nvSpPr>
        <p:spPr>
          <a:xfrm rot="20434884">
            <a:off x="8215712" y="3416577"/>
            <a:ext cx="3270132" cy="5172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ACD64F-0C60-83B8-CE47-1AEE3173F327}"/>
              </a:ext>
            </a:extLst>
          </p:cNvPr>
          <p:cNvCxnSpPr>
            <a:cxnSpLocks/>
          </p:cNvCxnSpPr>
          <p:nvPr/>
        </p:nvCxnSpPr>
        <p:spPr>
          <a:xfrm flipV="1">
            <a:off x="8226543" y="2887683"/>
            <a:ext cx="3082039" cy="109191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66347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5EB11F-11F2-CAB9-C029-EE1706AB02FD}"/>
              </a:ext>
            </a:extLst>
          </p:cNvPr>
          <p:cNvSpPr/>
          <p:nvPr/>
        </p:nvSpPr>
        <p:spPr>
          <a:xfrm rot="20431251">
            <a:off x="8976564" y="3396761"/>
            <a:ext cx="1944376" cy="869099"/>
          </a:xfrm>
          <a:prstGeom prst="rect">
            <a:avLst/>
          </a:prstGeom>
          <a:solidFill>
            <a:schemeClr val="accent2">
              <a:alpha val="4994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5AAD74-3123-87BA-3AC2-CE2131CD6C52}"/>
              </a:ext>
            </a:extLst>
          </p:cNvPr>
          <p:cNvSpPr/>
          <p:nvPr/>
        </p:nvSpPr>
        <p:spPr>
          <a:xfrm rot="20434884">
            <a:off x="8045471" y="2933420"/>
            <a:ext cx="3270132" cy="5172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30A31C-290A-A241-9AB5-BB941FD6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16673" cy="4601183"/>
          </a:xfrm>
        </p:spPr>
        <p:txBody>
          <a:bodyPr>
            <a:normAutofit/>
          </a:bodyPr>
          <a:lstStyle/>
          <a:p>
            <a:r>
              <a:rPr lang="en-US"/>
              <a:t>Linear Regression: 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5853-27C5-3041-BFF4-F8B3B7E5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Consider a 2D linear regression model trained to minimize the mean squared error: how many optimal solutions (i.e., sets of weights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) are there for the given dataset?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25E5C5F-F26F-29A4-6A5F-4FA65A3DB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3657599" cy="5120640"/>
              </a:xfrm>
              <a:blipFill>
                <a:blip r:embed="rId2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36CFB90-C6BB-465C-E1A3-ED7894CF3A24}"/>
              </a:ext>
            </a:extLst>
          </p:cNvPr>
          <p:cNvGrpSpPr>
            <a:grpSpLocks noChangeAspect="1"/>
          </p:cNvGrpSpPr>
          <p:nvPr/>
        </p:nvGrpSpPr>
        <p:grpSpPr>
          <a:xfrm>
            <a:off x="7284798" y="1534290"/>
            <a:ext cx="4114799" cy="3791607"/>
            <a:chOff x="5590585" y="1409951"/>
            <a:chExt cx="4950025" cy="456123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86D6FF-104B-EC8C-E26C-95229811C9D5}"/>
                </a:ext>
              </a:extLst>
            </p:cNvPr>
            <p:cNvGrpSpPr/>
            <p:nvPr/>
          </p:nvGrpSpPr>
          <p:grpSpPr>
            <a:xfrm>
              <a:off x="5590585" y="1409951"/>
              <a:ext cx="4950025" cy="4197473"/>
              <a:chOff x="3160060" y="1384785"/>
              <a:chExt cx="5862902" cy="49715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/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C6AF9A5-4EEB-55EA-8B0E-F1E1DCDAF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5141" y="1384785"/>
                    <a:ext cx="416859" cy="3899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167" r="-4167" b="-5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baseline="-25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40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9A16153-9D63-7884-8C6A-A0EE43ED1D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8660" y="5418388"/>
                    <a:ext cx="564302" cy="43084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769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39C71C4-8F69-1FD3-43F3-14563E378ADD}"/>
                  </a:ext>
                </a:extLst>
              </p:cNvPr>
              <p:cNvGrpSpPr/>
              <p:nvPr/>
            </p:nvGrpSpPr>
            <p:grpSpPr>
              <a:xfrm>
                <a:off x="3160060" y="1775012"/>
                <a:ext cx="5528782" cy="4581338"/>
                <a:chOff x="3160060" y="1775012"/>
                <a:chExt cx="5528782" cy="4581338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D7E12E9F-1214-841B-F8A5-B08781C88F17}"/>
                    </a:ext>
                  </a:extLst>
                </p:cNvPr>
                <p:cNvGrpSpPr/>
                <p:nvPr/>
              </p:nvGrpSpPr>
              <p:grpSpPr>
                <a:xfrm>
                  <a:off x="4572000" y="1775012"/>
                  <a:ext cx="4116842" cy="3562937"/>
                  <a:chOff x="1284286" y="-955664"/>
                  <a:chExt cx="4116842" cy="3562937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105EA658-7603-8A38-0F24-937A8036B8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84286" y="2607272"/>
                    <a:ext cx="4116842" cy="1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A7AF89B-FD2D-D003-C4EC-78B01F7723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284286" y="-955664"/>
                    <a:ext cx="0" cy="3562937"/>
                  </a:xfrm>
                  <a:prstGeom prst="line">
                    <a:avLst/>
                  </a:prstGeom>
                  <a:ln>
                    <a:tailEnd type="triangle" w="lg" len="lg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AC2DCEB-1538-72C3-47A9-976D688A76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060" y="5337948"/>
                  <a:ext cx="1411940" cy="1018402"/>
                </a:xfrm>
                <a:prstGeom prst="line">
                  <a:avLst/>
                </a:prstGeom>
                <a:ln>
                  <a:tailEnd type="triangle" w="lg" len="lg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/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baseline="-250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4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E9E9725-C1E7-9ED3-1D98-DD43CADA2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570" y="5607424"/>
                  <a:ext cx="476438" cy="363757"/>
                </a:xfrm>
                <a:prstGeom prst="rect">
                  <a:avLst/>
                </a:prstGeom>
                <a:blipFill>
                  <a:blip r:embed="rId5"/>
                  <a:stretch>
                    <a:fillRect l="-10769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CEB8C80-E365-FC12-311D-A0105F2C2ED8}"/>
                </a:ext>
              </a:extLst>
            </p:cNvPr>
            <p:cNvSpPr/>
            <p:nvPr/>
          </p:nvSpPr>
          <p:spPr>
            <a:xfrm>
              <a:off x="7663560" y="3858363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B651A3-665D-1AE3-73D7-D6214FA86A27}"/>
                </a:ext>
              </a:extLst>
            </p:cNvPr>
            <p:cNvSpPr/>
            <p:nvPr/>
          </p:nvSpPr>
          <p:spPr>
            <a:xfrm>
              <a:off x="8131235" y="3701281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2F1CC14-A0BB-2E3F-F97C-CD15B1572521}"/>
                </a:ext>
              </a:extLst>
            </p:cNvPr>
            <p:cNvSpPr/>
            <p:nvPr/>
          </p:nvSpPr>
          <p:spPr>
            <a:xfrm>
              <a:off x="8595095" y="3534486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C9916E-D180-73FB-5922-D4567F5D0CA2}"/>
                </a:ext>
              </a:extLst>
            </p:cNvPr>
            <p:cNvSpPr/>
            <p:nvPr/>
          </p:nvSpPr>
          <p:spPr>
            <a:xfrm>
              <a:off x="9045508" y="3389585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6E9B6B-85A7-6441-5440-D4BEAA834FD8}"/>
                </a:ext>
              </a:extLst>
            </p:cNvPr>
            <p:cNvSpPr/>
            <p:nvPr/>
          </p:nvSpPr>
          <p:spPr>
            <a:xfrm>
              <a:off x="9495921" y="3246260"/>
              <a:ext cx="231034" cy="2255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/>
                <a:cs typeface="Times New Roman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0C99142-A361-6D30-4ABA-0106BF798CB2}"/>
              </a:ext>
            </a:extLst>
          </p:cNvPr>
          <p:cNvSpPr/>
          <p:nvPr/>
        </p:nvSpPr>
        <p:spPr>
          <a:xfrm rot="20434884">
            <a:off x="8215712" y="3416577"/>
            <a:ext cx="3270132" cy="5172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ACD64F-0C60-83B8-CE47-1AEE3173F327}"/>
              </a:ext>
            </a:extLst>
          </p:cNvPr>
          <p:cNvCxnSpPr>
            <a:cxnSpLocks/>
          </p:cNvCxnSpPr>
          <p:nvPr/>
        </p:nvCxnSpPr>
        <p:spPr>
          <a:xfrm flipV="1">
            <a:off x="8226543" y="2887683"/>
            <a:ext cx="3082039" cy="109191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4EC15F-7273-1CA9-C293-7847F7B8536C}"/>
              </a:ext>
            </a:extLst>
          </p:cNvPr>
          <p:cNvSpPr/>
          <p:nvPr/>
        </p:nvSpPr>
        <p:spPr>
          <a:xfrm rot="20440223">
            <a:off x="8665417" y="2437883"/>
            <a:ext cx="1944376" cy="1015549"/>
          </a:xfrm>
          <a:prstGeom prst="rect">
            <a:avLst/>
          </a:prstGeom>
          <a:solidFill>
            <a:schemeClr val="accent2">
              <a:alpha val="4994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905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1823-53AE-68D5-91D2-560AD980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66F0-3954-A3D9-C66E-C2439F12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 Form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2A49D-989A-FC4F-EC30-D0BF248B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63D0F2-8552-3C73-BACF-CE85E8AE2CD9}"/>
                  </a:ext>
                </a:extLst>
              </p:cNvPr>
              <p:cNvSpPr txBox="1"/>
              <p:nvPr/>
            </p:nvSpPr>
            <p:spPr>
              <a:xfrm>
                <a:off x="3875162" y="759006"/>
                <a:ext cx="7772400" cy="533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Clr>
                    <a:schemeClr val="accent1"/>
                  </a:buClr>
                  <a:buAutoNum type="arabicPeriod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invertible?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(almost always) full rank and therefore, invertible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not invertible (occurs when one of the features is a linear combination of the others) then there are infinitely many solutions.</a:t>
                </a:r>
              </a:p>
              <a:p>
                <a:pPr marL="457200" indent="-457200">
                  <a:lnSpc>
                    <a:spcPct val="130000"/>
                  </a:lnSpc>
                  <a:buClr>
                    <a:schemeClr val="accent1"/>
                  </a:buClr>
                  <a:buAutoNum type="arabicPeriod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so, how computationally expensive is inverting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+1×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 inverting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takes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time…</a:t>
                </a:r>
              </a:p>
              <a:p>
                <a:pPr marL="1152525" lvl="2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takes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time</a:t>
                </a:r>
              </a:p>
              <a:p>
                <a:pPr marL="695325" lvl="1" indent="-223838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What alternative optimization method can we use to minimize the mean squared error?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63D0F2-8552-3C73-BACF-CE85E8AE2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162" y="759006"/>
                <a:ext cx="7772400" cy="5334987"/>
              </a:xfrm>
              <a:prstGeom prst="rect">
                <a:avLst/>
              </a:prstGeom>
              <a:blipFill>
                <a:blip r:embed="rId3"/>
                <a:stretch>
                  <a:fillRect l="-1305" r="-816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6D8A35-2428-E6A8-290C-886A6F22B4DD}"/>
                  </a:ext>
                </a:extLst>
              </p:cNvPr>
              <p:cNvSpPr/>
              <p:nvPr/>
            </p:nvSpPr>
            <p:spPr>
              <a:xfrm>
                <a:off x="4492838" y="202585"/>
                <a:ext cx="25850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400" b="1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6D8A35-2428-E6A8-290C-886A6F22B4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38" y="202585"/>
                <a:ext cx="2585067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118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Descent:</a:t>
            </a:r>
            <a:br>
              <a:rPr lang="en-US"/>
            </a:br>
            <a:r>
              <a:rPr lang="en-US"/>
              <a:t>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E092-CE1E-9B49-A53E-881F9851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50068"/>
            <a:ext cx="7315200" cy="58062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/>
              <a:t>An iterative method for minimizing functions </a:t>
            </a:r>
          </a:p>
          <a:p>
            <a:pPr>
              <a:lnSpc>
                <a:spcPct val="100000"/>
              </a:lnSpc>
            </a:pPr>
            <a:r>
              <a:rPr lang="en-US"/>
              <a:t>Requires the gradient to exist everywhere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61D2C-BB27-6A43-B723-69B059D1ED44}"/>
              </a:ext>
            </a:extLst>
          </p:cNvPr>
          <p:cNvSpPr/>
          <p:nvPr/>
        </p:nvSpPr>
        <p:spPr>
          <a:xfrm>
            <a:off x="5854054" y="1759221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42626B-8F6A-6F4D-BF54-F525F01574A2}"/>
              </a:ext>
            </a:extLst>
          </p:cNvPr>
          <p:cNvSpPr/>
          <p:nvPr/>
        </p:nvSpPr>
        <p:spPr>
          <a:xfrm>
            <a:off x="6661914" y="2611636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6886163-2033-454C-B990-F0C4F1F46A2A}"/>
              </a:ext>
            </a:extLst>
          </p:cNvPr>
          <p:cNvSpPr/>
          <p:nvPr/>
        </p:nvSpPr>
        <p:spPr>
          <a:xfrm>
            <a:off x="5854054" y="1944960"/>
            <a:ext cx="3345628" cy="2968080"/>
          </a:xfrm>
          <a:custGeom>
            <a:avLst/>
            <a:gdLst>
              <a:gd name="connsiteX0" fmla="*/ 0 w 3342807"/>
              <a:gd name="connsiteY0" fmla="*/ 1470286 h 2632964"/>
              <a:gd name="connsiteX1" fmla="*/ 689548 w 3342807"/>
              <a:gd name="connsiteY1" fmla="*/ 510916 h 2632964"/>
              <a:gd name="connsiteX2" fmla="*/ 1394086 w 3342807"/>
              <a:gd name="connsiteY2" fmla="*/ 2234785 h 2632964"/>
              <a:gd name="connsiteX3" fmla="*/ 1708879 w 3342807"/>
              <a:gd name="connsiteY3" fmla="*/ 16240 h 2632964"/>
              <a:gd name="connsiteX4" fmla="*/ 1918741 w 3342807"/>
              <a:gd name="connsiteY4" fmla="*/ 1185473 h 2632964"/>
              <a:gd name="connsiteX5" fmla="*/ 2173574 w 3342807"/>
              <a:gd name="connsiteY5" fmla="*/ 316044 h 2632964"/>
              <a:gd name="connsiteX6" fmla="*/ 2698230 w 3342807"/>
              <a:gd name="connsiteY6" fmla="*/ 2624529 h 2632964"/>
              <a:gd name="connsiteX7" fmla="*/ 3342807 w 3342807"/>
              <a:gd name="connsiteY7" fmla="*/ 945630 h 263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2807" h="2632964">
                <a:moveTo>
                  <a:pt x="0" y="1470286"/>
                </a:moveTo>
                <a:cubicBezTo>
                  <a:pt x="228600" y="926893"/>
                  <a:pt x="457200" y="383500"/>
                  <a:pt x="689548" y="510916"/>
                </a:cubicBezTo>
                <a:cubicBezTo>
                  <a:pt x="921896" y="638332"/>
                  <a:pt x="1224198" y="2317231"/>
                  <a:pt x="1394086" y="2234785"/>
                </a:cubicBezTo>
                <a:cubicBezTo>
                  <a:pt x="1563974" y="2152339"/>
                  <a:pt x="1621437" y="191125"/>
                  <a:pt x="1708879" y="16240"/>
                </a:cubicBezTo>
                <a:cubicBezTo>
                  <a:pt x="1796322" y="-158645"/>
                  <a:pt x="1841292" y="1135506"/>
                  <a:pt x="1918741" y="1185473"/>
                </a:cubicBezTo>
                <a:cubicBezTo>
                  <a:pt x="1996190" y="1235440"/>
                  <a:pt x="2043659" y="76201"/>
                  <a:pt x="2173574" y="316044"/>
                </a:cubicBezTo>
                <a:cubicBezTo>
                  <a:pt x="2303489" y="555887"/>
                  <a:pt x="2503358" y="2519598"/>
                  <a:pt x="2698230" y="2624529"/>
                </a:cubicBezTo>
                <a:cubicBezTo>
                  <a:pt x="2893102" y="2729460"/>
                  <a:pt x="3117954" y="1837545"/>
                  <a:pt x="3342807" y="945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8E738C-8289-BD44-9235-12DCC4778F23}"/>
              </a:ext>
            </a:extLst>
          </p:cNvPr>
          <p:cNvCxnSpPr>
            <a:cxnSpLocks/>
          </p:cNvCxnSpPr>
          <p:nvPr/>
        </p:nvCxnSpPr>
        <p:spPr>
          <a:xfrm>
            <a:off x="6754096" y="2755083"/>
            <a:ext cx="106517" cy="359879"/>
          </a:xfrm>
          <a:prstGeom prst="straightConnector1">
            <a:avLst/>
          </a:prstGeom>
          <a:ln w="222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65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Descent:</a:t>
            </a:r>
            <a:br>
              <a:rPr lang="en-US"/>
            </a:br>
            <a:r>
              <a:rPr lang="en-US"/>
              <a:t>Intuition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7AC2DC-FF8F-3240-A244-AD676711616B}"/>
              </a:ext>
            </a:extLst>
          </p:cNvPr>
          <p:cNvGrpSpPr/>
          <p:nvPr/>
        </p:nvGrpSpPr>
        <p:grpSpPr>
          <a:xfrm>
            <a:off x="5854054" y="1759221"/>
            <a:ext cx="3345628" cy="3339559"/>
            <a:chOff x="5854054" y="2385461"/>
            <a:chExt cx="3345628" cy="33395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D61D2C-BB27-6A43-B723-69B059D1ED44}"/>
                </a:ext>
              </a:extLst>
            </p:cNvPr>
            <p:cNvSpPr/>
            <p:nvPr/>
          </p:nvSpPr>
          <p:spPr>
            <a:xfrm>
              <a:off x="5854054" y="2385461"/>
              <a:ext cx="3345628" cy="3339559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A42626B-8F6A-6F4D-BF54-F525F01574A2}"/>
                </a:ext>
              </a:extLst>
            </p:cNvPr>
            <p:cNvSpPr/>
            <p:nvPr/>
          </p:nvSpPr>
          <p:spPr>
            <a:xfrm>
              <a:off x="6661914" y="3237876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6886163-2033-454C-B990-F0C4F1F46A2A}"/>
                </a:ext>
              </a:extLst>
            </p:cNvPr>
            <p:cNvSpPr/>
            <p:nvPr/>
          </p:nvSpPr>
          <p:spPr>
            <a:xfrm>
              <a:off x="5854054" y="2571200"/>
              <a:ext cx="3345628" cy="2968080"/>
            </a:xfrm>
            <a:custGeom>
              <a:avLst/>
              <a:gdLst>
                <a:gd name="connsiteX0" fmla="*/ 0 w 3342807"/>
                <a:gd name="connsiteY0" fmla="*/ 1470286 h 2632964"/>
                <a:gd name="connsiteX1" fmla="*/ 689548 w 3342807"/>
                <a:gd name="connsiteY1" fmla="*/ 510916 h 2632964"/>
                <a:gd name="connsiteX2" fmla="*/ 1394086 w 3342807"/>
                <a:gd name="connsiteY2" fmla="*/ 2234785 h 2632964"/>
                <a:gd name="connsiteX3" fmla="*/ 1708879 w 3342807"/>
                <a:gd name="connsiteY3" fmla="*/ 16240 h 2632964"/>
                <a:gd name="connsiteX4" fmla="*/ 1918741 w 3342807"/>
                <a:gd name="connsiteY4" fmla="*/ 1185473 h 2632964"/>
                <a:gd name="connsiteX5" fmla="*/ 2173574 w 3342807"/>
                <a:gd name="connsiteY5" fmla="*/ 316044 h 2632964"/>
                <a:gd name="connsiteX6" fmla="*/ 2698230 w 3342807"/>
                <a:gd name="connsiteY6" fmla="*/ 2624529 h 2632964"/>
                <a:gd name="connsiteX7" fmla="*/ 3342807 w 3342807"/>
                <a:gd name="connsiteY7" fmla="*/ 945630 h 26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2807" h="2632964">
                  <a:moveTo>
                    <a:pt x="0" y="1470286"/>
                  </a:moveTo>
                  <a:cubicBezTo>
                    <a:pt x="228600" y="926893"/>
                    <a:pt x="457200" y="383500"/>
                    <a:pt x="689548" y="510916"/>
                  </a:cubicBezTo>
                  <a:cubicBezTo>
                    <a:pt x="921896" y="638332"/>
                    <a:pt x="1224198" y="2317231"/>
                    <a:pt x="1394086" y="2234785"/>
                  </a:cubicBezTo>
                  <a:cubicBezTo>
                    <a:pt x="1563974" y="2152339"/>
                    <a:pt x="1621437" y="191125"/>
                    <a:pt x="1708879" y="16240"/>
                  </a:cubicBezTo>
                  <a:cubicBezTo>
                    <a:pt x="1796322" y="-158645"/>
                    <a:pt x="1841292" y="1135506"/>
                    <a:pt x="1918741" y="1185473"/>
                  </a:cubicBezTo>
                  <a:cubicBezTo>
                    <a:pt x="1996190" y="1235440"/>
                    <a:pt x="2043659" y="76201"/>
                    <a:pt x="2173574" y="316044"/>
                  </a:cubicBezTo>
                  <a:cubicBezTo>
                    <a:pt x="2303489" y="555887"/>
                    <a:pt x="2503358" y="2519598"/>
                    <a:pt x="2698230" y="2624529"/>
                  </a:cubicBezTo>
                  <a:cubicBezTo>
                    <a:pt x="2893102" y="2729460"/>
                    <a:pt x="3117954" y="1837545"/>
                    <a:pt x="3342807" y="9456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D8E738C-8289-BD44-9235-12DCC4778F23}"/>
                </a:ext>
              </a:extLst>
            </p:cNvPr>
            <p:cNvCxnSpPr>
              <a:cxnSpLocks/>
            </p:cNvCxnSpPr>
            <p:nvPr/>
          </p:nvCxnSpPr>
          <p:spPr>
            <a:xfrm>
              <a:off x="6754096" y="3381323"/>
              <a:ext cx="106517" cy="359879"/>
            </a:xfrm>
            <a:prstGeom prst="straightConnector1">
              <a:avLst/>
            </a:prstGeom>
            <a:ln w="22225">
              <a:solidFill>
                <a:schemeClr val="accent6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A276579-FB25-A64A-8476-EA57B448837E}"/>
                </a:ext>
              </a:extLst>
            </p:cNvPr>
            <p:cNvSpPr/>
            <p:nvPr/>
          </p:nvSpPr>
          <p:spPr>
            <a:xfrm>
              <a:off x="8050931" y="2876470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CF4790-3F66-854D-9C92-B51745B1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143113" y="3019887"/>
              <a:ext cx="164592" cy="914400"/>
            </a:xfrm>
            <a:prstGeom prst="straightConnector1">
              <a:avLst/>
            </a:prstGeom>
            <a:ln w="2222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C202D48-A55C-5A4D-8AED-E90575D52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50068"/>
            <a:ext cx="7315200" cy="58062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/>
              <a:t>An iterative method for minimizing functions </a:t>
            </a:r>
          </a:p>
          <a:p>
            <a:pPr>
              <a:lnSpc>
                <a:spcPct val="100000"/>
              </a:lnSpc>
            </a:pPr>
            <a:r>
              <a:rPr lang="en-US"/>
              <a:t>Requires the gradient to exist everywhere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792838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Descent:</a:t>
            </a:r>
            <a:br>
              <a:rPr lang="en-US"/>
            </a:br>
            <a:r>
              <a:rPr lang="en-US"/>
              <a:t>Intuition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1785F4-0D1F-C14B-98E3-705EC1FBEF37}"/>
              </a:ext>
            </a:extLst>
          </p:cNvPr>
          <p:cNvGrpSpPr/>
          <p:nvPr/>
        </p:nvGrpSpPr>
        <p:grpSpPr>
          <a:xfrm>
            <a:off x="5854054" y="1759221"/>
            <a:ext cx="3345628" cy="3339559"/>
            <a:chOff x="5854054" y="2385461"/>
            <a:chExt cx="3345628" cy="33395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D61D2C-BB27-6A43-B723-69B059D1ED44}"/>
                </a:ext>
              </a:extLst>
            </p:cNvPr>
            <p:cNvSpPr/>
            <p:nvPr/>
          </p:nvSpPr>
          <p:spPr>
            <a:xfrm>
              <a:off x="5854054" y="2385461"/>
              <a:ext cx="3345628" cy="3339559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A42626B-8F6A-6F4D-BF54-F525F01574A2}"/>
                </a:ext>
              </a:extLst>
            </p:cNvPr>
            <p:cNvSpPr/>
            <p:nvPr/>
          </p:nvSpPr>
          <p:spPr>
            <a:xfrm>
              <a:off x="6661914" y="3237876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6886163-2033-454C-B990-F0C4F1F46A2A}"/>
                </a:ext>
              </a:extLst>
            </p:cNvPr>
            <p:cNvSpPr/>
            <p:nvPr/>
          </p:nvSpPr>
          <p:spPr>
            <a:xfrm>
              <a:off x="5854054" y="2571200"/>
              <a:ext cx="3345628" cy="2968080"/>
            </a:xfrm>
            <a:custGeom>
              <a:avLst/>
              <a:gdLst>
                <a:gd name="connsiteX0" fmla="*/ 0 w 3342807"/>
                <a:gd name="connsiteY0" fmla="*/ 1470286 h 2632964"/>
                <a:gd name="connsiteX1" fmla="*/ 689548 w 3342807"/>
                <a:gd name="connsiteY1" fmla="*/ 510916 h 2632964"/>
                <a:gd name="connsiteX2" fmla="*/ 1394086 w 3342807"/>
                <a:gd name="connsiteY2" fmla="*/ 2234785 h 2632964"/>
                <a:gd name="connsiteX3" fmla="*/ 1708879 w 3342807"/>
                <a:gd name="connsiteY3" fmla="*/ 16240 h 2632964"/>
                <a:gd name="connsiteX4" fmla="*/ 1918741 w 3342807"/>
                <a:gd name="connsiteY4" fmla="*/ 1185473 h 2632964"/>
                <a:gd name="connsiteX5" fmla="*/ 2173574 w 3342807"/>
                <a:gd name="connsiteY5" fmla="*/ 316044 h 2632964"/>
                <a:gd name="connsiteX6" fmla="*/ 2698230 w 3342807"/>
                <a:gd name="connsiteY6" fmla="*/ 2624529 h 2632964"/>
                <a:gd name="connsiteX7" fmla="*/ 3342807 w 3342807"/>
                <a:gd name="connsiteY7" fmla="*/ 945630 h 26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2807" h="2632964">
                  <a:moveTo>
                    <a:pt x="0" y="1470286"/>
                  </a:moveTo>
                  <a:cubicBezTo>
                    <a:pt x="228600" y="926893"/>
                    <a:pt x="457200" y="383500"/>
                    <a:pt x="689548" y="510916"/>
                  </a:cubicBezTo>
                  <a:cubicBezTo>
                    <a:pt x="921896" y="638332"/>
                    <a:pt x="1224198" y="2317231"/>
                    <a:pt x="1394086" y="2234785"/>
                  </a:cubicBezTo>
                  <a:cubicBezTo>
                    <a:pt x="1563974" y="2152339"/>
                    <a:pt x="1621437" y="191125"/>
                    <a:pt x="1708879" y="16240"/>
                  </a:cubicBezTo>
                  <a:cubicBezTo>
                    <a:pt x="1796322" y="-158645"/>
                    <a:pt x="1841292" y="1135506"/>
                    <a:pt x="1918741" y="1185473"/>
                  </a:cubicBezTo>
                  <a:cubicBezTo>
                    <a:pt x="1996190" y="1235440"/>
                    <a:pt x="2043659" y="76201"/>
                    <a:pt x="2173574" y="316044"/>
                  </a:cubicBezTo>
                  <a:cubicBezTo>
                    <a:pt x="2303489" y="555887"/>
                    <a:pt x="2503358" y="2519598"/>
                    <a:pt x="2698230" y="2624529"/>
                  </a:cubicBezTo>
                  <a:cubicBezTo>
                    <a:pt x="2893102" y="2729460"/>
                    <a:pt x="3117954" y="1837545"/>
                    <a:pt x="3342807" y="9456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D8E738C-8289-BD44-9235-12DCC4778F23}"/>
                </a:ext>
              </a:extLst>
            </p:cNvPr>
            <p:cNvCxnSpPr>
              <a:cxnSpLocks/>
            </p:cNvCxnSpPr>
            <p:nvPr/>
          </p:nvCxnSpPr>
          <p:spPr>
            <a:xfrm>
              <a:off x="6754096" y="3381323"/>
              <a:ext cx="106517" cy="359879"/>
            </a:xfrm>
            <a:prstGeom prst="straightConnector1">
              <a:avLst/>
            </a:prstGeom>
            <a:ln w="22225">
              <a:solidFill>
                <a:schemeClr val="accent6">
                  <a:alpha val="51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A276579-FB25-A64A-8476-EA57B448837E}"/>
                </a:ext>
              </a:extLst>
            </p:cNvPr>
            <p:cNvSpPr/>
            <p:nvPr/>
          </p:nvSpPr>
          <p:spPr>
            <a:xfrm>
              <a:off x="8050931" y="2876470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CF4790-3F66-854D-9C92-B51745B1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143113" y="3019887"/>
              <a:ext cx="164592" cy="914400"/>
            </a:xfrm>
            <a:prstGeom prst="straightConnector1">
              <a:avLst/>
            </a:prstGeom>
            <a:ln w="22225">
              <a:solidFill>
                <a:schemeClr val="accent6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F356288-E160-5A4A-BF2A-E6A0019DEB85}"/>
                </a:ext>
              </a:extLst>
            </p:cNvPr>
            <p:cNvSpPr/>
            <p:nvPr/>
          </p:nvSpPr>
          <p:spPr>
            <a:xfrm>
              <a:off x="6328828" y="2979996"/>
              <a:ext cx="149901" cy="149902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FFC031-149F-8E45-AC02-46E3B29563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9795" y="3096158"/>
              <a:ext cx="122843" cy="136493"/>
            </a:xfrm>
            <a:prstGeom prst="straightConnector1">
              <a:avLst/>
            </a:prstGeom>
            <a:ln w="2222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17EA12-1673-4341-9B40-D885E051B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50068"/>
            <a:ext cx="7315200" cy="58062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/>
              <a:t>An iterative method for minimizing functions </a:t>
            </a:r>
          </a:p>
          <a:p>
            <a:pPr>
              <a:lnSpc>
                <a:spcPct val="100000"/>
              </a:lnSpc>
            </a:pPr>
            <a:r>
              <a:rPr lang="en-US"/>
              <a:t>Requires the gradient to exist everywhere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35353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</a:t>
            </a:r>
            <a:br>
              <a:rPr lang="en-US"/>
            </a:b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7772400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Suppose the current weight vector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Move some distance,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/>
                  <a:t>, in the “most downhill” direction,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0" i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The gradient points in the direction of steepest </a:t>
                </a:r>
                <a:r>
                  <a:rPr lang="en-US" i="1"/>
                  <a:t>increase …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i="1"/>
                  <a:t>… </a:t>
                </a:r>
                <a:r>
                  <a:rPr lang="en-US"/>
                  <a:t>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/>
                  <a:t> is a unit vector pointing in the opposite direction: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US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7772400" cy="5120640"/>
              </a:xfrm>
              <a:blipFill>
                <a:blip r:embed="rId3"/>
                <a:stretch>
                  <a:fillRect l="-1255" r="-5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75AC7-360C-0699-08BA-2E4EA7FA52AF}"/>
              </a:ext>
            </a:extLst>
          </p:cNvPr>
          <p:cNvSpPr/>
          <p:nvPr/>
        </p:nvSpPr>
        <p:spPr>
          <a:xfrm>
            <a:off x="3741420" y="3291840"/>
            <a:ext cx="7985760" cy="2301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0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Descent:</a:t>
            </a:r>
            <a:br>
              <a:rPr lang="en-US"/>
            </a:br>
            <a:r>
              <a:rPr lang="en-US"/>
              <a:t>Step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864108"/>
                <a:ext cx="7772400" cy="512064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Suppose the current weight vector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Move some distance,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, in the “most downhill” direction,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The gradient points in the direction of steepest </a:t>
                </a:r>
                <a:r>
                  <a:rPr lang="en-US" i="1" dirty="0"/>
                  <a:t>increase …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i="1" dirty="0"/>
                  <a:t>… </a:t>
                </a:r>
                <a:r>
                  <a:rPr lang="en-US" dirty="0"/>
                  <a:t>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dirty="0"/>
                  <a:t> should point in the opposite direction: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864108"/>
                <a:ext cx="7772400" cy="5120640"/>
              </a:xfrm>
              <a:blipFill>
                <a:blip r:embed="rId3"/>
                <a:stretch>
                  <a:fillRect l="-1255" r="-5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284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E22D-C271-D24F-8029-1466952E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Gradient Descent: 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Step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4979C-7BCF-A449-B01D-59533EA4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231FF-9A1B-684E-A0F0-D0DBDD539485}"/>
              </a:ext>
            </a:extLst>
          </p:cNvPr>
          <p:cNvSpPr/>
          <p:nvPr/>
        </p:nvSpPr>
        <p:spPr>
          <a:xfrm>
            <a:off x="4104323" y="1652605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E27B9FB-E52A-1A4E-A5EE-A53C9B5B28DC}"/>
              </a:ext>
            </a:extLst>
          </p:cNvPr>
          <p:cNvSpPr/>
          <p:nvPr/>
        </p:nvSpPr>
        <p:spPr>
          <a:xfrm>
            <a:off x="4686928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996EE-D1AA-6446-996C-07552FA66BEA}"/>
              </a:ext>
            </a:extLst>
          </p:cNvPr>
          <p:cNvSpPr/>
          <p:nvPr/>
        </p:nvSpPr>
        <p:spPr>
          <a:xfrm>
            <a:off x="8053970" y="1652604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B8FD9CF-D8D1-8046-90AB-18B69BA45742}"/>
              </a:ext>
            </a:extLst>
          </p:cNvPr>
          <p:cNvSpPr/>
          <p:nvPr/>
        </p:nvSpPr>
        <p:spPr>
          <a:xfrm>
            <a:off x="8615161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58DF1B-90C7-3F42-94D7-4571F70253D9}"/>
              </a:ext>
            </a:extLst>
          </p:cNvPr>
          <p:cNvSpPr/>
          <p:nvPr/>
        </p:nvSpPr>
        <p:spPr>
          <a:xfrm>
            <a:off x="4763438" y="1841547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2E1C44-9A8C-B842-85B0-5AB410F5D281}"/>
                  </a:ext>
                </a:extLst>
              </p:cNvPr>
              <p:cNvSpPr txBox="1"/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Small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2E1C44-9A8C-B842-85B0-5AB410F5D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blipFill>
                <a:blip r:embed="rId3"/>
                <a:stretch>
                  <a:fillRect l="-79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CABFFB-68EF-C14B-901C-7CE976911456}"/>
                  </a:ext>
                </a:extLst>
              </p:cNvPr>
              <p:cNvSpPr txBox="1"/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Large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CABFFB-68EF-C14B-901C-7CE97691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blipFill>
                <a:blip r:embed="rId4"/>
                <a:stretch>
                  <a:fillRect l="-793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73B8C2C6-8DD3-BA4E-9237-34DA2A4F5F2C}"/>
              </a:ext>
            </a:extLst>
          </p:cNvPr>
          <p:cNvSpPr/>
          <p:nvPr/>
        </p:nvSpPr>
        <p:spPr>
          <a:xfrm>
            <a:off x="8686897" y="1841547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4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4979C-7BCF-A449-B01D-59533EA4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231FF-9A1B-684E-A0F0-D0DBDD539485}"/>
              </a:ext>
            </a:extLst>
          </p:cNvPr>
          <p:cNvSpPr/>
          <p:nvPr/>
        </p:nvSpPr>
        <p:spPr>
          <a:xfrm>
            <a:off x="4104323" y="1652605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E27B9FB-E52A-1A4E-A5EE-A53C9B5B28DC}"/>
              </a:ext>
            </a:extLst>
          </p:cNvPr>
          <p:cNvSpPr/>
          <p:nvPr/>
        </p:nvSpPr>
        <p:spPr>
          <a:xfrm>
            <a:off x="4686928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996EE-D1AA-6446-996C-07552FA66BEA}"/>
              </a:ext>
            </a:extLst>
          </p:cNvPr>
          <p:cNvSpPr/>
          <p:nvPr/>
        </p:nvSpPr>
        <p:spPr>
          <a:xfrm>
            <a:off x="8053970" y="1652604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B8FD9CF-D8D1-8046-90AB-18B69BA45742}"/>
              </a:ext>
            </a:extLst>
          </p:cNvPr>
          <p:cNvSpPr/>
          <p:nvPr/>
        </p:nvSpPr>
        <p:spPr>
          <a:xfrm>
            <a:off x="8615161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58DF1B-90C7-3F42-94D7-4571F70253D9}"/>
              </a:ext>
            </a:extLst>
          </p:cNvPr>
          <p:cNvSpPr/>
          <p:nvPr/>
        </p:nvSpPr>
        <p:spPr>
          <a:xfrm>
            <a:off x="4766713" y="1841547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B8C2C6-8DD3-BA4E-9237-34DA2A4F5F2C}"/>
              </a:ext>
            </a:extLst>
          </p:cNvPr>
          <p:cNvSpPr/>
          <p:nvPr/>
        </p:nvSpPr>
        <p:spPr>
          <a:xfrm>
            <a:off x="8686897" y="1842618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02B6AD-AB8F-EC49-94C5-5A8E07DB65C1}"/>
              </a:ext>
            </a:extLst>
          </p:cNvPr>
          <p:cNvSpPr/>
          <p:nvPr/>
        </p:nvSpPr>
        <p:spPr>
          <a:xfrm>
            <a:off x="4801095" y="1993017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D1FC-8DEE-A24E-A7AC-1EC30E4B4A33}"/>
              </a:ext>
            </a:extLst>
          </p:cNvPr>
          <p:cNvSpPr/>
          <p:nvPr/>
        </p:nvSpPr>
        <p:spPr>
          <a:xfrm>
            <a:off x="4835477" y="2142919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8EFE68-AA56-514F-B580-0ED36DBA55CC}"/>
              </a:ext>
            </a:extLst>
          </p:cNvPr>
          <p:cNvSpPr/>
          <p:nvPr/>
        </p:nvSpPr>
        <p:spPr>
          <a:xfrm>
            <a:off x="4876045" y="2292821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1699AC-17F1-A34A-BCC1-1C94A6E8EEE9}"/>
              </a:ext>
            </a:extLst>
          </p:cNvPr>
          <p:cNvSpPr/>
          <p:nvPr/>
        </p:nvSpPr>
        <p:spPr>
          <a:xfrm>
            <a:off x="4916613" y="244272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8F47F2-FF13-2340-A469-BA94DAC43C6E}"/>
              </a:ext>
            </a:extLst>
          </p:cNvPr>
          <p:cNvSpPr/>
          <p:nvPr/>
        </p:nvSpPr>
        <p:spPr>
          <a:xfrm>
            <a:off x="4955671" y="259015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350D8B-2705-EA4A-A95B-549BA4B66D43}"/>
              </a:ext>
            </a:extLst>
          </p:cNvPr>
          <p:cNvSpPr/>
          <p:nvPr/>
        </p:nvSpPr>
        <p:spPr>
          <a:xfrm>
            <a:off x="4991563" y="274520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997AC2-095B-624F-B6F7-ACB74C7FBBEE}"/>
              </a:ext>
            </a:extLst>
          </p:cNvPr>
          <p:cNvSpPr/>
          <p:nvPr/>
        </p:nvSpPr>
        <p:spPr>
          <a:xfrm>
            <a:off x="5036971" y="2895105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90F181-18E7-5348-8461-922603847CA5}"/>
              </a:ext>
            </a:extLst>
          </p:cNvPr>
          <p:cNvSpPr/>
          <p:nvPr/>
        </p:nvSpPr>
        <p:spPr>
          <a:xfrm>
            <a:off x="5074909" y="3041800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8CA2A0-F865-5144-BA4A-6C95FB68F309}"/>
              </a:ext>
            </a:extLst>
          </p:cNvPr>
          <p:cNvSpPr/>
          <p:nvPr/>
        </p:nvSpPr>
        <p:spPr>
          <a:xfrm>
            <a:off x="5119197" y="3200125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48F5B3-920C-244E-BEF9-D53936ADB2E6}"/>
              </a:ext>
            </a:extLst>
          </p:cNvPr>
          <p:cNvSpPr/>
          <p:nvPr/>
        </p:nvSpPr>
        <p:spPr>
          <a:xfrm>
            <a:off x="5159384" y="3350798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613EAF1-6BF6-4848-BA7A-D7C46B9D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Gradient Descent: 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Step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4DEA13-0008-D047-B360-5A54CF59E5EC}"/>
                  </a:ext>
                </a:extLst>
              </p:cNvPr>
              <p:cNvSpPr txBox="1"/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Small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4DEA13-0008-D047-B360-5A54CF59E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blipFill>
                <a:blip r:embed="rId3"/>
                <a:stretch>
                  <a:fillRect l="-79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112A31-0E10-7745-B4B8-6D1A94145BE4}"/>
                  </a:ext>
                </a:extLst>
              </p:cNvPr>
              <p:cNvSpPr txBox="1"/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Large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112A31-0E10-7745-B4B8-6D1A94145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blipFill>
                <a:blip r:embed="rId4"/>
                <a:stretch>
                  <a:fillRect l="-793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6081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4979C-7BCF-A449-B01D-59533EA4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231FF-9A1B-684E-A0F0-D0DBDD539485}"/>
              </a:ext>
            </a:extLst>
          </p:cNvPr>
          <p:cNvSpPr/>
          <p:nvPr/>
        </p:nvSpPr>
        <p:spPr>
          <a:xfrm>
            <a:off x="4104323" y="1652605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E27B9FB-E52A-1A4E-A5EE-A53C9B5B28DC}"/>
              </a:ext>
            </a:extLst>
          </p:cNvPr>
          <p:cNvSpPr/>
          <p:nvPr/>
        </p:nvSpPr>
        <p:spPr>
          <a:xfrm>
            <a:off x="4686928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996EE-D1AA-6446-996C-07552FA66BEA}"/>
              </a:ext>
            </a:extLst>
          </p:cNvPr>
          <p:cNvSpPr/>
          <p:nvPr/>
        </p:nvSpPr>
        <p:spPr>
          <a:xfrm>
            <a:off x="8053970" y="1652604"/>
            <a:ext cx="3345628" cy="3339559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B8FD9CF-D8D1-8046-90AB-18B69BA45742}"/>
              </a:ext>
            </a:extLst>
          </p:cNvPr>
          <p:cNvSpPr/>
          <p:nvPr/>
        </p:nvSpPr>
        <p:spPr>
          <a:xfrm>
            <a:off x="8615161" y="1652605"/>
            <a:ext cx="2223247" cy="3137647"/>
          </a:xfrm>
          <a:custGeom>
            <a:avLst/>
            <a:gdLst>
              <a:gd name="connsiteX0" fmla="*/ 0 w 2223247"/>
              <a:gd name="connsiteY0" fmla="*/ 0 h 3137647"/>
              <a:gd name="connsiteX1" fmla="*/ 1147482 w 2223247"/>
              <a:gd name="connsiteY1" fmla="*/ 3137647 h 3137647"/>
              <a:gd name="connsiteX2" fmla="*/ 2223247 w 2223247"/>
              <a:gd name="connsiteY2" fmla="*/ 0 h 313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3247" h="3137647">
                <a:moveTo>
                  <a:pt x="0" y="0"/>
                </a:moveTo>
                <a:cubicBezTo>
                  <a:pt x="388470" y="1568823"/>
                  <a:pt x="776941" y="3137647"/>
                  <a:pt x="1147482" y="3137647"/>
                </a:cubicBezTo>
                <a:cubicBezTo>
                  <a:pt x="1518023" y="3137647"/>
                  <a:pt x="2082800" y="385482"/>
                  <a:pt x="2223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58DF1B-90C7-3F42-94D7-4571F70253D9}"/>
              </a:ext>
            </a:extLst>
          </p:cNvPr>
          <p:cNvSpPr/>
          <p:nvPr/>
        </p:nvSpPr>
        <p:spPr>
          <a:xfrm>
            <a:off x="4766713" y="1841547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B8C2C6-8DD3-BA4E-9237-34DA2A4F5F2C}"/>
              </a:ext>
            </a:extLst>
          </p:cNvPr>
          <p:cNvSpPr/>
          <p:nvPr/>
        </p:nvSpPr>
        <p:spPr>
          <a:xfrm rot="20429444">
            <a:off x="8686897" y="1842618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02B6AD-AB8F-EC49-94C5-5A8E07DB65C1}"/>
              </a:ext>
            </a:extLst>
          </p:cNvPr>
          <p:cNvSpPr/>
          <p:nvPr/>
        </p:nvSpPr>
        <p:spPr>
          <a:xfrm>
            <a:off x="4801095" y="1993017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D1FC-8DEE-A24E-A7AC-1EC30E4B4A33}"/>
              </a:ext>
            </a:extLst>
          </p:cNvPr>
          <p:cNvSpPr/>
          <p:nvPr/>
        </p:nvSpPr>
        <p:spPr>
          <a:xfrm>
            <a:off x="4835477" y="2142919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8EFE68-AA56-514F-B580-0ED36DBA55CC}"/>
              </a:ext>
            </a:extLst>
          </p:cNvPr>
          <p:cNvSpPr/>
          <p:nvPr/>
        </p:nvSpPr>
        <p:spPr>
          <a:xfrm>
            <a:off x="4876045" y="2292821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1699AC-17F1-A34A-BCC1-1C94A6E8EEE9}"/>
              </a:ext>
            </a:extLst>
          </p:cNvPr>
          <p:cNvSpPr/>
          <p:nvPr/>
        </p:nvSpPr>
        <p:spPr>
          <a:xfrm>
            <a:off x="4916613" y="244272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8F47F2-FF13-2340-A469-BA94DAC43C6E}"/>
              </a:ext>
            </a:extLst>
          </p:cNvPr>
          <p:cNvSpPr/>
          <p:nvPr/>
        </p:nvSpPr>
        <p:spPr>
          <a:xfrm>
            <a:off x="4955671" y="259015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350D8B-2705-EA4A-A95B-549BA4B66D43}"/>
              </a:ext>
            </a:extLst>
          </p:cNvPr>
          <p:cNvSpPr/>
          <p:nvPr/>
        </p:nvSpPr>
        <p:spPr>
          <a:xfrm>
            <a:off x="4991563" y="2745203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997AC2-095B-624F-B6F7-ACB74C7FBBEE}"/>
              </a:ext>
            </a:extLst>
          </p:cNvPr>
          <p:cNvSpPr/>
          <p:nvPr/>
        </p:nvSpPr>
        <p:spPr>
          <a:xfrm>
            <a:off x="5036971" y="2895105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90F181-18E7-5348-8461-922603847CA5}"/>
              </a:ext>
            </a:extLst>
          </p:cNvPr>
          <p:cNvSpPr/>
          <p:nvPr/>
        </p:nvSpPr>
        <p:spPr>
          <a:xfrm>
            <a:off x="5074909" y="3041800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8CA2A0-F865-5144-BA4A-6C95FB68F309}"/>
              </a:ext>
            </a:extLst>
          </p:cNvPr>
          <p:cNvSpPr/>
          <p:nvPr/>
        </p:nvSpPr>
        <p:spPr>
          <a:xfrm>
            <a:off x="5119197" y="3200125"/>
            <a:ext cx="149901" cy="149902"/>
          </a:xfrm>
          <a:prstGeom prst="ellipse">
            <a:avLst/>
          </a:prstGeom>
          <a:solidFill>
            <a:schemeClr val="accent6">
              <a:shade val="80000"/>
              <a:satMod val="150000"/>
              <a:alpha val="50000"/>
            </a:schemeClr>
          </a:solidFill>
          <a:ln>
            <a:solidFill>
              <a:schemeClr val="accent6">
                <a:alpha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48F5B3-920C-244E-BEF9-D53936ADB2E6}"/>
              </a:ext>
            </a:extLst>
          </p:cNvPr>
          <p:cNvSpPr/>
          <p:nvPr/>
        </p:nvSpPr>
        <p:spPr>
          <a:xfrm>
            <a:off x="5159384" y="3350798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B0DC8C-BAF3-AE48-BDE9-6C64002D87CD}"/>
              </a:ext>
            </a:extLst>
          </p:cNvPr>
          <p:cNvSpPr/>
          <p:nvPr/>
        </p:nvSpPr>
        <p:spPr>
          <a:xfrm rot="1590906">
            <a:off x="10300525" y="3032175"/>
            <a:ext cx="149901" cy="14990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55FA99-BE49-9644-94CA-D18B4507FEBD}"/>
              </a:ext>
            </a:extLst>
          </p:cNvPr>
          <p:cNvCxnSpPr>
            <a:cxnSpLocks/>
            <a:stCxn id="15" idx="5"/>
            <a:endCxn id="26" idx="2"/>
          </p:cNvCxnSpPr>
          <p:nvPr/>
        </p:nvCxnSpPr>
        <p:spPr>
          <a:xfrm>
            <a:off x="8829502" y="1949825"/>
            <a:ext cx="1478907" cy="1123841"/>
          </a:xfrm>
          <a:prstGeom prst="straightConnector1">
            <a:avLst/>
          </a:prstGeom>
          <a:ln>
            <a:solidFill>
              <a:schemeClr val="accent6">
                <a:alpha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25EDAF15-4D53-8A46-9D56-A4C8F5DB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Gradient Descent: 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Step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BD6456-B7ED-0848-B086-D5A3F71C8DB4}"/>
                  </a:ext>
                </a:extLst>
              </p:cNvPr>
              <p:cNvSpPr txBox="1"/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Small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BD6456-B7ED-0848-B086-D5A3F71C8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810" y="5263355"/>
                <a:ext cx="1147482" cy="461665"/>
              </a:xfrm>
              <a:prstGeom prst="rect">
                <a:avLst/>
              </a:prstGeom>
              <a:blipFill>
                <a:blip r:embed="rId3"/>
                <a:stretch>
                  <a:fillRect l="-79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B1B443-2C3C-5E40-8809-90FA96EB540B}"/>
                  </a:ext>
                </a:extLst>
              </p:cNvPr>
              <p:cNvSpPr txBox="1"/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Large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B1B443-2C3C-5E40-8809-90FA96EB5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043" y="5263355"/>
                <a:ext cx="1147482" cy="461665"/>
              </a:xfrm>
              <a:prstGeom prst="rect">
                <a:avLst/>
              </a:prstGeom>
              <a:blipFill>
                <a:blip r:embed="rId4"/>
                <a:stretch>
                  <a:fillRect l="-793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18993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09D92-D174-3D40-B247-FF0D3AEF3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26032" y="864108"/>
                <a:ext cx="7497287" cy="5120640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Use a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i="1"/>
                  <a:t> </a:t>
                </a:r>
                <a:r>
                  <a:rPr lang="en-US"/>
                  <a:t>instead of a fixed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/>
                  <a:t>!</a:t>
                </a:r>
                <a:endParaRPr lang="en-US" i="1"/>
              </a:p>
              <a:p>
                <a:endParaRPr lang="en-US" i="1"/>
              </a:p>
              <a:p>
                <a:endParaRPr lang="en-US" i="1"/>
              </a:p>
              <a:p>
                <a:endParaRPr lang="en-US" i="1"/>
              </a:p>
              <a:p>
                <a:endParaRPr lang="en-US" i="1"/>
              </a:p>
              <a:p>
                <a:endParaRPr lang="en-US" i="1"/>
              </a:p>
              <a:p>
                <a:endParaRPr lang="en-US" i="1"/>
              </a:p>
              <a:p>
                <a:pPr>
                  <a:lnSpc>
                    <a:spcPct val="130000"/>
                  </a:lnSpc>
                </a:pPr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decreases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/>
                  <a:t> approaches its minimum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i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i="1"/>
                  <a:t> </a:t>
                </a:r>
                <a:r>
                  <a:rPr lang="en-US"/>
                  <a:t>(hopefully) decreases over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09D92-D174-3D40-B247-FF0D3AEF3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6032" y="864108"/>
                <a:ext cx="7497287" cy="5120640"/>
              </a:xfrm>
              <a:blipFill>
                <a:blip r:embed="rId3"/>
                <a:stretch>
                  <a:fillRect l="-1302" t="-5119" r="-1790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8636D-DA17-2B4D-9155-5A10E2D4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3595E4-51C4-FE43-B7A6-40CDE80BCCDF}"/>
              </a:ext>
            </a:extLst>
          </p:cNvPr>
          <p:cNvGrpSpPr/>
          <p:nvPr/>
        </p:nvGrpSpPr>
        <p:grpSpPr>
          <a:xfrm>
            <a:off x="5810819" y="1225606"/>
            <a:ext cx="3345628" cy="3339559"/>
            <a:chOff x="5849995" y="2385461"/>
            <a:chExt cx="3345628" cy="33395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E12A29-3E87-E44D-A548-992EF55B5839}"/>
                </a:ext>
              </a:extLst>
            </p:cNvPr>
            <p:cNvSpPr/>
            <p:nvPr/>
          </p:nvSpPr>
          <p:spPr>
            <a:xfrm>
              <a:off x="5849995" y="2385461"/>
              <a:ext cx="3345628" cy="3339559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7DE1668-31C6-4142-94C7-209B3D15FB3A}"/>
                </a:ext>
              </a:extLst>
            </p:cNvPr>
            <p:cNvSpPr/>
            <p:nvPr/>
          </p:nvSpPr>
          <p:spPr>
            <a:xfrm>
              <a:off x="6432600" y="2385461"/>
              <a:ext cx="2223247" cy="3137647"/>
            </a:xfrm>
            <a:custGeom>
              <a:avLst/>
              <a:gdLst>
                <a:gd name="connsiteX0" fmla="*/ 0 w 2223247"/>
                <a:gd name="connsiteY0" fmla="*/ 0 h 3137647"/>
                <a:gd name="connsiteX1" fmla="*/ 1147482 w 2223247"/>
                <a:gd name="connsiteY1" fmla="*/ 3137647 h 3137647"/>
                <a:gd name="connsiteX2" fmla="*/ 2223247 w 2223247"/>
                <a:gd name="connsiteY2" fmla="*/ 0 h 3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3247" h="3137647">
                  <a:moveTo>
                    <a:pt x="0" y="0"/>
                  </a:moveTo>
                  <a:cubicBezTo>
                    <a:pt x="388470" y="1568823"/>
                    <a:pt x="776941" y="3137647"/>
                    <a:pt x="1147482" y="3137647"/>
                  </a:cubicBezTo>
                  <a:cubicBezTo>
                    <a:pt x="1518023" y="3137647"/>
                    <a:pt x="2082800" y="385482"/>
                    <a:pt x="222324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F67060-8F10-5942-9566-5F2B24806F4D}"/>
                </a:ext>
              </a:extLst>
            </p:cNvPr>
            <p:cNvSpPr/>
            <p:nvPr/>
          </p:nvSpPr>
          <p:spPr>
            <a:xfrm>
              <a:off x="6512385" y="2574403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F23D001-657B-2B47-9B53-803C55B7B089}"/>
                </a:ext>
              </a:extLst>
            </p:cNvPr>
            <p:cNvSpPr/>
            <p:nvPr/>
          </p:nvSpPr>
          <p:spPr>
            <a:xfrm>
              <a:off x="6812186" y="3750943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BB777A9-B002-8B48-A8CC-D2ACE473530F}"/>
                </a:ext>
              </a:extLst>
            </p:cNvPr>
            <p:cNvSpPr/>
            <p:nvPr/>
          </p:nvSpPr>
          <p:spPr>
            <a:xfrm>
              <a:off x="7063250" y="4576266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A733A84-9442-1349-8971-6A9C3284E536}"/>
                </a:ext>
              </a:extLst>
            </p:cNvPr>
            <p:cNvSpPr/>
            <p:nvPr/>
          </p:nvSpPr>
          <p:spPr>
            <a:xfrm>
              <a:off x="7217938" y="4985896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8FF267-1FDF-B340-B48C-DC6FF4D97C8D}"/>
                </a:ext>
              </a:extLst>
            </p:cNvPr>
            <p:cNvSpPr/>
            <p:nvPr/>
          </p:nvSpPr>
          <p:spPr>
            <a:xfrm>
              <a:off x="7333732" y="5210749"/>
              <a:ext cx="149901" cy="149902"/>
            </a:xfrm>
            <a:prstGeom prst="ellipse">
              <a:avLst/>
            </a:prstGeom>
            <a:solidFill>
              <a:schemeClr val="accent6">
                <a:shade val="80000"/>
                <a:satMod val="150000"/>
                <a:alpha val="50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257B919-D354-7841-ACE1-28AFA124286F}"/>
                </a:ext>
              </a:extLst>
            </p:cNvPr>
            <p:cNvSpPr/>
            <p:nvPr/>
          </p:nvSpPr>
          <p:spPr>
            <a:xfrm>
              <a:off x="7483633" y="5360651"/>
              <a:ext cx="149901" cy="149902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DB31D561-E446-FA48-A639-2A0006F4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Gradient Descent: 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Step Size</a:t>
            </a:r>
          </a:p>
        </p:txBody>
      </p:sp>
    </p:spTree>
    <p:extLst>
      <p:ext uri="{BB962C8B-B14F-4D97-AF65-F5344CB8AC3E}">
        <p14:creationId xmlns:p14="http://schemas.microsoft.com/office/powerpoint/2010/main" val="335345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24A4B-3B7F-7543-90A6-DDF0DC37E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</m:d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𝒟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24A4B-3B7F-7543-90A6-DDF0DC37E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CE08E-1774-164C-B5F1-A0EEC22B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5E9B02-84BE-9A4A-912A-13D419016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Gradient Descent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4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to all zeros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While TERMINATION CRITERION is not satisfied</a:t>
                </a:r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sz="2400" dirty="0"/>
                  <a:t>Compute the gradient:</a:t>
                </a:r>
              </a:p>
              <a:p>
                <a:pPr marL="977900" lvl="1" indent="-447675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Update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Increment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: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3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5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to all zeros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:pPr marL="514350" indent="-514350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en-US" dirty="0"/>
                  <a:t>While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sz="2400" dirty="0"/>
                  <a:t>Compute the gradient:</a:t>
                </a:r>
              </a:p>
              <a:p>
                <a:pPr marL="977900" lvl="1" indent="-447675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Update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Increment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: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3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7465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to all zeros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While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sz="2400" dirty="0"/>
                  <a:t>Compute the gradient:</a:t>
                </a:r>
              </a:p>
              <a:p>
                <a:pPr marL="977900" lvl="1" indent="-447675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Update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Increment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: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3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554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AD88-0952-AC43-94A5-2F98875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br>
              <a:rPr lang="en-US"/>
            </a:br>
            <a:r>
              <a:rPr lang="en-US"/>
              <a:t>Why</a:t>
            </a:r>
            <a:br>
              <a:rPr lang="en-US"/>
            </a:br>
            <a:r>
              <a:rPr lang="en-US"/>
              <a:t>Gradient Descent for</a:t>
            </a:r>
            <a:br>
              <a:rPr lang="en-US"/>
            </a:br>
            <a:r>
              <a:rPr lang="en-US"/>
              <a:t>linear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to all zeros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While TERMINATION CRITERION is not satisfied</a:t>
                </a:r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sz="2400" dirty="0"/>
                  <a:t>Compute the gradient:</a:t>
                </a:r>
              </a:p>
              <a:p>
                <a:pPr marL="977900" lvl="1" indent="-447675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Update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 startAt="2"/>
                </a:pPr>
                <a:r>
                  <a:rPr lang="en-US" sz="2400" dirty="0"/>
                  <a:t>Increment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: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2E092-CE1E-9B49-A53E-881F98516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3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C392-E601-F141-ABB6-1A10CADC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753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/>
                  <a:t>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is </a:t>
                </a:r>
                <a:r>
                  <a:rPr lang="en-US" i="1">
                    <a:solidFill>
                      <a:schemeClr val="bg1"/>
                    </a:solidFill>
                  </a:rPr>
                  <a:t>strictly</a:t>
                </a:r>
                <a:r>
                  <a:rPr lang="en-US">
                    <a:solidFill>
                      <a:schemeClr val="bg1"/>
                    </a:solidFill>
                  </a:rPr>
                  <a:t> </a:t>
                </a:r>
                <a:r>
                  <a:rPr lang="en-US"/>
                  <a:t>convex if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C35D22-F591-0904-2074-398C0A370627}"/>
              </a:ext>
            </a:extLst>
          </p:cNvPr>
          <p:cNvCxnSpPr>
            <a:cxnSpLocks/>
          </p:cNvCxnSpPr>
          <p:nvPr/>
        </p:nvCxnSpPr>
        <p:spPr>
          <a:xfrm flipH="1">
            <a:off x="6732531" y="5064892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4BCDE95-A2BF-F1CE-7AD3-918CEF922390}"/>
              </a:ext>
            </a:extLst>
          </p:cNvPr>
          <p:cNvCxnSpPr>
            <a:cxnSpLocks/>
          </p:cNvCxnSpPr>
          <p:nvPr/>
        </p:nvCxnSpPr>
        <p:spPr>
          <a:xfrm flipH="1">
            <a:off x="6732531" y="4398315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/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blipFill>
                <a:blip r:embed="rId4"/>
                <a:stretch>
                  <a:fillRect l="-3423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F1012F-EABB-FFE0-F3BF-2C2DC69613B1}"/>
              </a:ext>
            </a:extLst>
          </p:cNvPr>
          <p:cNvCxnSpPr>
            <a:cxnSpLocks/>
          </p:cNvCxnSpPr>
          <p:nvPr/>
        </p:nvCxnSpPr>
        <p:spPr>
          <a:xfrm>
            <a:off x="7515698" y="4737100"/>
            <a:ext cx="0" cy="90300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158BE9-B59C-8809-2FC8-E38362FA82B3}"/>
              </a:ext>
            </a:extLst>
          </p:cNvPr>
          <p:cNvCxnSpPr>
            <a:cxnSpLocks/>
          </p:cNvCxnSpPr>
          <p:nvPr/>
        </p:nvCxnSpPr>
        <p:spPr>
          <a:xfrm>
            <a:off x="10513277" y="3654201"/>
            <a:ext cx="0" cy="198589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3EF893-9F1A-4479-8CCF-7C701FE927CF}"/>
              </a:ext>
            </a:extLst>
          </p:cNvPr>
          <p:cNvCxnSpPr>
            <a:cxnSpLocks/>
          </p:cNvCxnSpPr>
          <p:nvPr/>
        </p:nvCxnSpPr>
        <p:spPr>
          <a:xfrm>
            <a:off x="6732772" y="5640100"/>
            <a:ext cx="4434487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9FA0E4-DBF9-D35B-4CBA-E8BD76175F7E}"/>
              </a:ext>
            </a:extLst>
          </p:cNvPr>
          <p:cNvCxnSpPr/>
          <p:nvPr/>
        </p:nvCxnSpPr>
        <p:spPr>
          <a:xfrm flipV="1">
            <a:off x="6732531" y="2914601"/>
            <a:ext cx="0" cy="2725499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E1A3FEB2-8AB1-8E4B-C2D3-09B97B6F483E}"/>
              </a:ext>
            </a:extLst>
          </p:cNvPr>
          <p:cNvCxnSpPr>
            <a:cxnSpLocks/>
            <a:stCxn id="10" idx="4"/>
            <a:endCxn id="11" idx="4"/>
          </p:cNvCxnSpPr>
          <p:nvPr/>
        </p:nvCxnSpPr>
        <p:spPr>
          <a:xfrm rot="5400000" flipH="1" flipV="1">
            <a:off x="8362971" y="1757743"/>
            <a:ext cx="778641" cy="3664858"/>
          </a:xfrm>
          <a:prstGeom prst="curvedConnector3">
            <a:avLst>
              <a:gd name="adj1" fmla="val -141202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06DEBAF-ED0B-F869-249A-7ACDB860E0FD}"/>
              </a:ext>
            </a:extLst>
          </p:cNvPr>
          <p:cNvSpPr/>
          <p:nvPr/>
        </p:nvSpPr>
        <p:spPr>
          <a:xfrm>
            <a:off x="6723996" y="3581167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67457E-AE43-D2F8-A5CC-26F35E744BC2}"/>
              </a:ext>
            </a:extLst>
          </p:cNvPr>
          <p:cNvSpPr/>
          <p:nvPr/>
        </p:nvSpPr>
        <p:spPr>
          <a:xfrm>
            <a:off x="10388854" y="2802526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/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/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blipFill>
                <a:blip r:embed="rId6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C54CD-88CD-5B8C-3070-998211316189}"/>
              </a:ext>
            </a:extLst>
          </p:cNvPr>
          <p:cNvCxnSpPr>
            <a:cxnSpLocks/>
          </p:cNvCxnSpPr>
          <p:nvPr/>
        </p:nvCxnSpPr>
        <p:spPr>
          <a:xfrm flipV="1">
            <a:off x="7001348" y="3451745"/>
            <a:ext cx="4073504" cy="148163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/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D83183-DAE1-8422-B543-7DD318A7F133}"/>
              </a:ext>
            </a:extLst>
          </p:cNvPr>
          <p:cNvCxnSpPr/>
          <p:nvPr/>
        </p:nvCxnSpPr>
        <p:spPr>
          <a:xfrm>
            <a:off x="8469707" y="5064892"/>
            <a:ext cx="0" cy="57520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/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blipFill>
                <a:blip r:embed="rId8"/>
                <a:stretch>
                  <a:fillRect l="-324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/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blipFill>
                <a:blip r:embed="rId9"/>
                <a:stretch>
                  <a:fillRect l="-297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ight Brace 53">
            <a:extLst>
              <a:ext uri="{FF2B5EF4-FFF2-40B4-BE49-F238E27FC236}">
                <a16:creationId xmlns:a16="http://schemas.microsoft.com/office/drawing/2014/main" id="{365CCCBC-8AA6-4D1A-0505-7E4A51FD7131}"/>
              </a:ext>
            </a:extLst>
          </p:cNvPr>
          <p:cNvSpPr/>
          <p:nvPr/>
        </p:nvSpPr>
        <p:spPr>
          <a:xfrm>
            <a:off x="8479982" y="4427826"/>
            <a:ext cx="137160" cy="594360"/>
          </a:xfrm>
          <a:prstGeom prst="rightBrace">
            <a:avLst>
              <a:gd name="adj1" fmla="val 6226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1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8" grpId="0"/>
      <p:bldP spid="29" grpId="0"/>
      <p:bldP spid="37" grpId="0"/>
      <p:bldP spid="40" grpId="0"/>
      <p:bldP spid="44" grpId="0"/>
      <p:bldP spid="5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/>
                  <a:t>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is </a:t>
                </a:r>
                <a:r>
                  <a:rPr lang="en-US" i="1">
                    <a:solidFill>
                      <a:schemeClr val="bg1"/>
                    </a:solidFill>
                  </a:rPr>
                  <a:t>strictly</a:t>
                </a:r>
                <a:r>
                  <a:rPr lang="en-US">
                    <a:solidFill>
                      <a:schemeClr val="bg1"/>
                    </a:solidFill>
                  </a:rPr>
                  <a:t> </a:t>
                </a:r>
                <a:r>
                  <a:rPr lang="en-US"/>
                  <a:t>convex if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C35D22-F591-0904-2074-398C0A370627}"/>
              </a:ext>
            </a:extLst>
          </p:cNvPr>
          <p:cNvCxnSpPr>
            <a:cxnSpLocks/>
          </p:cNvCxnSpPr>
          <p:nvPr/>
        </p:nvCxnSpPr>
        <p:spPr>
          <a:xfrm flipH="1">
            <a:off x="6732531" y="5064892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4BCDE95-A2BF-F1CE-7AD3-918CEF922390}"/>
              </a:ext>
            </a:extLst>
          </p:cNvPr>
          <p:cNvCxnSpPr>
            <a:cxnSpLocks/>
          </p:cNvCxnSpPr>
          <p:nvPr/>
        </p:nvCxnSpPr>
        <p:spPr>
          <a:xfrm flipH="1">
            <a:off x="6732531" y="4398315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/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blipFill>
                <a:blip r:embed="rId4"/>
                <a:stretch>
                  <a:fillRect l="-3423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F1012F-EABB-FFE0-F3BF-2C2DC69613B1}"/>
              </a:ext>
            </a:extLst>
          </p:cNvPr>
          <p:cNvCxnSpPr>
            <a:cxnSpLocks/>
          </p:cNvCxnSpPr>
          <p:nvPr/>
        </p:nvCxnSpPr>
        <p:spPr>
          <a:xfrm>
            <a:off x="7515698" y="4737100"/>
            <a:ext cx="0" cy="90300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158BE9-B59C-8809-2FC8-E38362FA82B3}"/>
              </a:ext>
            </a:extLst>
          </p:cNvPr>
          <p:cNvCxnSpPr>
            <a:cxnSpLocks/>
          </p:cNvCxnSpPr>
          <p:nvPr/>
        </p:nvCxnSpPr>
        <p:spPr>
          <a:xfrm>
            <a:off x="10513277" y="3654201"/>
            <a:ext cx="0" cy="198589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3EF893-9F1A-4479-8CCF-7C701FE927CF}"/>
              </a:ext>
            </a:extLst>
          </p:cNvPr>
          <p:cNvCxnSpPr>
            <a:cxnSpLocks/>
          </p:cNvCxnSpPr>
          <p:nvPr/>
        </p:nvCxnSpPr>
        <p:spPr>
          <a:xfrm>
            <a:off x="6732772" y="5640100"/>
            <a:ext cx="4434487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9FA0E4-DBF9-D35B-4CBA-E8BD76175F7E}"/>
              </a:ext>
            </a:extLst>
          </p:cNvPr>
          <p:cNvCxnSpPr/>
          <p:nvPr/>
        </p:nvCxnSpPr>
        <p:spPr>
          <a:xfrm flipV="1">
            <a:off x="6732531" y="2914601"/>
            <a:ext cx="0" cy="2725499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06DEBAF-ED0B-F869-249A-7ACDB860E0FD}"/>
              </a:ext>
            </a:extLst>
          </p:cNvPr>
          <p:cNvSpPr/>
          <p:nvPr/>
        </p:nvSpPr>
        <p:spPr>
          <a:xfrm>
            <a:off x="6723996" y="3581167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67457E-AE43-D2F8-A5CC-26F35E744BC2}"/>
              </a:ext>
            </a:extLst>
          </p:cNvPr>
          <p:cNvSpPr/>
          <p:nvPr/>
        </p:nvSpPr>
        <p:spPr>
          <a:xfrm>
            <a:off x="10388854" y="2802526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/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/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blipFill>
                <a:blip r:embed="rId6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C54CD-88CD-5B8C-3070-998211316189}"/>
              </a:ext>
            </a:extLst>
          </p:cNvPr>
          <p:cNvCxnSpPr>
            <a:cxnSpLocks/>
          </p:cNvCxnSpPr>
          <p:nvPr/>
        </p:nvCxnSpPr>
        <p:spPr>
          <a:xfrm flipV="1">
            <a:off x="7001348" y="3451745"/>
            <a:ext cx="4073504" cy="148163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/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D83183-DAE1-8422-B543-7DD318A7F133}"/>
              </a:ext>
            </a:extLst>
          </p:cNvPr>
          <p:cNvCxnSpPr/>
          <p:nvPr/>
        </p:nvCxnSpPr>
        <p:spPr>
          <a:xfrm>
            <a:off x="8469707" y="5064892"/>
            <a:ext cx="0" cy="57520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/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blipFill>
                <a:blip r:embed="rId8"/>
                <a:stretch>
                  <a:fillRect l="-324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/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blipFill>
                <a:blip r:embed="rId9"/>
                <a:stretch>
                  <a:fillRect l="-297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ight Brace 53">
            <a:extLst>
              <a:ext uri="{FF2B5EF4-FFF2-40B4-BE49-F238E27FC236}">
                <a16:creationId xmlns:a16="http://schemas.microsoft.com/office/drawing/2014/main" id="{365CCCBC-8AA6-4D1A-0505-7E4A51FD7131}"/>
              </a:ext>
            </a:extLst>
          </p:cNvPr>
          <p:cNvSpPr/>
          <p:nvPr/>
        </p:nvSpPr>
        <p:spPr>
          <a:xfrm>
            <a:off x="8479982" y="4427826"/>
            <a:ext cx="137160" cy="594360"/>
          </a:xfrm>
          <a:prstGeom prst="rightBrace">
            <a:avLst>
              <a:gd name="adj1" fmla="val 6226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F77F8B-E330-5A7E-BB79-42651B05F794}"/>
              </a:ext>
            </a:extLst>
          </p:cNvPr>
          <p:cNvCxnSpPr/>
          <p:nvPr/>
        </p:nvCxnSpPr>
        <p:spPr>
          <a:xfrm>
            <a:off x="7930055" y="5064892"/>
            <a:ext cx="174997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FD4E91-F8B6-2597-A327-E39F95BF331A}"/>
              </a:ext>
            </a:extLst>
          </p:cNvPr>
          <p:cNvCxnSpPr>
            <a:cxnSpLocks/>
          </p:cNvCxnSpPr>
          <p:nvPr/>
        </p:nvCxnSpPr>
        <p:spPr>
          <a:xfrm flipV="1">
            <a:off x="9680028" y="3307733"/>
            <a:ext cx="1039859" cy="175715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9CDCB3-A181-05A5-B322-2F6016E3FC24}"/>
              </a:ext>
            </a:extLst>
          </p:cNvPr>
          <p:cNvCxnSpPr>
            <a:cxnSpLocks/>
          </p:cNvCxnSpPr>
          <p:nvPr/>
        </p:nvCxnSpPr>
        <p:spPr>
          <a:xfrm flipH="1" flipV="1">
            <a:off x="6885282" y="4221664"/>
            <a:ext cx="1051908" cy="8432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E2FEED2-5833-3667-F05D-BE453D9F4311}"/>
                  </a:ext>
                </a:extLst>
              </p14:cNvPr>
              <p14:cNvContentPartPr/>
              <p14:nvPr/>
            </p14:nvContentPartPr>
            <p14:xfrm>
              <a:off x="8146800" y="5063400"/>
              <a:ext cx="1046520" cy="536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E2FEED2-5833-3667-F05D-BE453D9F431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37440" y="5054040"/>
                <a:ext cx="1065240" cy="5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97731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/>
                  <a:t>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is </a:t>
                </a:r>
                <a:r>
                  <a:rPr lang="en-US" i="1"/>
                  <a:t>strictly</a:t>
                </a:r>
                <a:r>
                  <a:rPr lang="en-US"/>
                  <a:t> convex if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450E9-0FAD-471A-D16C-FEEBD099E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C35D22-F591-0904-2074-398C0A370627}"/>
              </a:ext>
            </a:extLst>
          </p:cNvPr>
          <p:cNvCxnSpPr>
            <a:cxnSpLocks/>
          </p:cNvCxnSpPr>
          <p:nvPr/>
        </p:nvCxnSpPr>
        <p:spPr>
          <a:xfrm flipH="1">
            <a:off x="6732531" y="5064892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4BCDE95-A2BF-F1CE-7AD3-918CEF922390}"/>
              </a:ext>
            </a:extLst>
          </p:cNvPr>
          <p:cNvCxnSpPr>
            <a:cxnSpLocks/>
          </p:cNvCxnSpPr>
          <p:nvPr/>
        </p:nvCxnSpPr>
        <p:spPr>
          <a:xfrm flipH="1">
            <a:off x="6732531" y="4398315"/>
            <a:ext cx="174745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/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3FC2B8E-C925-026A-0D1C-D3270C5A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365" y="4888241"/>
                <a:ext cx="2497222" cy="353302"/>
              </a:xfrm>
              <a:prstGeom prst="rect">
                <a:avLst/>
              </a:prstGeom>
              <a:blipFill>
                <a:blip r:embed="rId4"/>
                <a:stretch>
                  <a:fillRect l="-3423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F1012F-EABB-FFE0-F3BF-2C2DC69613B1}"/>
              </a:ext>
            </a:extLst>
          </p:cNvPr>
          <p:cNvCxnSpPr>
            <a:cxnSpLocks/>
          </p:cNvCxnSpPr>
          <p:nvPr/>
        </p:nvCxnSpPr>
        <p:spPr>
          <a:xfrm>
            <a:off x="7515698" y="4737100"/>
            <a:ext cx="0" cy="90300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158BE9-B59C-8809-2FC8-E38362FA82B3}"/>
              </a:ext>
            </a:extLst>
          </p:cNvPr>
          <p:cNvCxnSpPr>
            <a:cxnSpLocks/>
          </p:cNvCxnSpPr>
          <p:nvPr/>
        </p:nvCxnSpPr>
        <p:spPr>
          <a:xfrm>
            <a:off x="10513277" y="3654201"/>
            <a:ext cx="0" cy="198589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3EF893-9F1A-4479-8CCF-7C701FE927CF}"/>
              </a:ext>
            </a:extLst>
          </p:cNvPr>
          <p:cNvCxnSpPr>
            <a:cxnSpLocks/>
          </p:cNvCxnSpPr>
          <p:nvPr/>
        </p:nvCxnSpPr>
        <p:spPr>
          <a:xfrm>
            <a:off x="6732772" y="5640100"/>
            <a:ext cx="4434487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9FA0E4-DBF9-D35B-4CBA-E8BD76175F7E}"/>
              </a:ext>
            </a:extLst>
          </p:cNvPr>
          <p:cNvCxnSpPr/>
          <p:nvPr/>
        </p:nvCxnSpPr>
        <p:spPr>
          <a:xfrm flipV="1">
            <a:off x="6732531" y="2914601"/>
            <a:ext cx="0" cy="2725499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E1A3FEB2-8AB1-8E4B-C2D3-09B97B6F483E}"/>
              </a:ext>
            </a:extLst>
          </p:cNvPr>
          <p:cNvCxnSpPr>
            <a:cxnSpLocks/>
            <a:stCxn id="10" idx="4"/>
            <a:endCxn id="11" idx="4"/>
          </p:cNvCxnSpPr>
          <p:nvPr/>
        </p:nvCxnSpPr>
        <p:spPr>
          <a:xfrm rot="5400000" flipH="1" flipV="1">
            <a:off x="8362971" y="1757743"/>
            <a:ext cx="778641" cy="3664858"/>
          </a:xfrm>
          <a:prstGeom prst="curvedConnector3">
            <a:avLst>
              <a:gd name="adj1" fmla="val -141202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06DEBAF-ED0B-F869-249A-7ACDB860E0FD}"/>
              </a:ext>
            </a:extLst>
          </p:cNvPr>
          <p:cNvSpPr/>
          <p:nvPr/>
        </p:nvSpPr>
        <p:spPr>
          <a:xfrm>
            <a:off x="6723996" y="3581167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67457E-AE43-D2F8-A5CC-26F35E744BC2}"/>
              </a:ext>
            </a:extLst>
          </p:cNvPr>
          <p:cNvSpPr/>
          <p:nvPr/>
        </p:nvSpPr>
        <p:spPr>
          <a:xfrm>
            <a:off x="10388854" y="2802526"/>
            <a:ext cx="391733" cy="39832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/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159085-D411-F197-6291-39F91F5F9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728" y="2695644"/>
                <a:ext cx="585124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/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DF62C-C5EC-49C0-9B05-E9B3CE113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3" y="5672848"/>
                <a:ext cx="476669" cy="328680"/>
              </a:xfrm>
              <a:prstGeom prst="rect">
                <a:avLst/>
              </a:prstGeom>
              <a:blipFill>
                <a:blip r:embed="rId6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C54CD-88CD-5B8C-3070-998211316189}"/>
              </a:ext>
            </a:extLst>
          </p:cNvPr>
          <p:cNvCxnSpPr>
            <a:cxnSpLocks/>
          </p:cNvCxnSpPr>
          <p:nvPr/>
        </p:nvCxnSpPr>
        <p:spPr>
          <a:xfrm flipV="1">
            <a:off x="7001348" y="3451745"/>
            <a:ext cx="4073504" cy="148163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/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2B3A98-7C1A-C437-CFF7-1144EE432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942" y="5672848"/>
                <a:ext cx="476669" cy="328680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D83183-DAE1-8422-B543-7DD318A7F133}"/>
              </a:ext>
            </a:extLst>
          </p:cNvPr>
          <p:cNvCxnSpPr/>
          <p:nvPr/>
        </p:nvCxnSpPr>
        <p:spPr>
          <a:xfrm>
            <a:off x="8469707" y="5064892"/>
            <a:ext cx="0" cy="57520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/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2C4159-5C2F-1AA0-0622-7FCD116F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266" y="5672848"/>
                <a:ext cx="2067398" cy="328680"/>
              </a:xfrm>
              <a:prstGeom prst="rect">
                <a:avLst/>
              </a:prstGeom>
              <a:blipFill>
                <a:blip r:embed="rId8"/>
                <a:stretch>
                  <a:fillRect l="-324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/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86467B3-2EF3-E8EF-4C0A-DE40596B2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494" y="4221664"/>
                <a:ext cx="2868093" cy="353302"/>
              </a:xfrm>
              <a:prstGeom prst="rect">
                <a:avLst/>
              </a:prstGeom>
              <a:blipFill>
                <a:blip r:embed="rId9"/>
                <a:stretch>
                  <a:fillRect l="-297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ight Brace 53">
            <a:extLst>
              <a:ext uri="{FF2B5EF4-FFF2-40B4-BE49-F238E27FC236}">
                <a16:creationId xmlns:a16="http://schemas.microsoft.com/office/drawing/2014/main" id="{365CCCBC-8AA6-4D1A-0505-7E4A51FD7131}"/>
              </a:ext>
            </a:extLst>
          </p:cNvPr>
          <p:cNvSpPr/>
          <p:nvPr/>
        </p:nvSpPr>
        <p:spPr>
          <a:xfrm>
            <a:off x="8479982" y="4427826"/>
            <a:ext cx="137160" cy="594360"/>
          </a:xfrm>
          <a:prstGeom prst="rightBrace">
            <a:avLst>
              <a:gd name="adj1" fmla="val 6226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5F3C3C-1D1F-814B-71FD-2879CA993B4D}"/>
              </a:ext>
            </a:extLst>
          </p:cNvPr>
          <p:cNvSpPr/>
          <p:nvPr/>
        </p:nvSpPr>
        <p:spPr>
          <a:xfrm>
            <a:off x="7125013" y="1926274"/>
            <a:ext cx="352645" cy="445596"/>
          </a:xfrm>
          <a:prstGeom prst="roundRect">
            <a:avLst/>
          </a:prstGeom>
          <a:solidFill>
            <a:schemeClr val="accent6">
              <a:lumMod val="75000"/>
              <a:alpha val="2048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B56C93A-71FF-CD0A-5878-4E3FAC66DF66}"/>
              </a:ext>
            </a:extLst>
          </p:cNvPr>
          <p:cNvSpPr/>
          <p:nvPr/>
        </p:nvSpPr>
        <p:spPr>
          <a:xfrm>
            <a:off x="7843691" y="1428847"/>
            <a:ext cx="352645" cy="445596"/>
          </a:xfrm>
          <a:prstGeom prst="roundRect">
            <a:avLst/>
          </a:prstGeom>
          <a:solidFill>
            <a:schemeClr val="accent6">
              <a:lumMod val="75000"/>
              <a:alpha val="2048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0A363D-EF50-716B-0C8A-843E82CFAE21}"/>
              </a:ext>
            </a:extLst>
          </p:cNvPr>
          <p:cNvSpPr/>
          <p:nvPr/>
        </p:nvSpPr>
        <p:spPr>
          <a:xfrm>
            <a:off x="8399646" y="1428847"/>
            <a:ext cx="352645" cy="445596"/>
          </a:xfrm>
          <a:prstGeom prst="roundRect">
            <a:avLst/>
          </a:prstGeom>
          <a:solidFill>
            <a:schemeClr val="accent6">
              <a:lumMod val="75000"/>
              <a:alpha val="2048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2301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4CA9B8-07C3-6826-FB23-A970296B51EF}"/>
              </a:ext>
            </a:extLst>
          </p:cNvPr>
          <p:cNvGrpSpPr>
            <a:grpSpLocks noChangeAspect="1"/>
          </p:cNvGrpSpPr>
          <p:nvPr/>
        </p:nvGrpSpPr>
        <p:grpSpPr>
          <a:xfrm>
            <a:off x="3933061" y="935533"/>
            <a:ext cx="3657600" cy="2247893"/>
            <a:chOff x="4087805" y="935529"/>
            <a:chExt cx="4434728" cy="27254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3EF893-9F1A-4479-8CCF-7C701FE927C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9FA0E4-DBF9-D35B-4CBA-E8BD76175F7E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0C54CD-88CD-5B8C-3070-998211316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622" y="1472673"/>
              <a:ext cx="4073504" cy="1481632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  <a:headEnd type="triangle" w="lg" len="lg"/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21A5A5-8A8B-58F6-620E-5F430752CB1D}"/>
              </a:ext>
            </a:extLst>
          </p:cNvPr>
          <p:cNvCxnSpPr>
            <a:cxnSpLocks/>
          </p:cNvCxnSpPr>
          <p:nvPr/>
        </p:nvCxnSpPr>
        <p:spPr>
          <a:xfrm>
            <a:off x="3933260" y="5922467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AF2C9A-863E-F721-B2C9-F8373148C66E}"/>
              </a:ext>
            </a:extLst>
          </p:cNvPr>
          <p:cNvCxnSpPr/>
          <p:nvPr/>
        </p:nvCxnSpPr>
        <p:spPr>
          <a:xfrm flipV="1">
            <a:off x="3933061" y="3674574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EBFA2B-F9CB-3149-9129-80AD14B7DB99}"/>
              </a:ext>
            </a:extLst>
          </p:cNvPr>
          <p:cNvCxnSpPr>
            <a:cxnSpLocks/>
          </p:cNvCxnSpPr>
          <p:nvPr/>
        </p:nvCxnSpPr>
        <p:spPr>
          <a:xfrm flipV="1">
            <a:off x="4154771" y="4117591"/>
            <a:ext cx="3359676" cy="1221996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0168E7F3-167D-F5D0-BD7E-3AC6F53506D7}"/>
              </a:ext>
            </a:extLst>
          </p:cNvPr>
          <p:cNvSpPr/>
          <p:nvPr/>
        </p:nvSpPr>
        <p:spPr>
          <a:xfrm>
            <a:off x="4431323" y="3809515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885036-D616-EDB6-E7CB-1ED7BF99CB3F}"/>
              </a:ext>
            </a:extLst>
          </p:cNvPr>
          <p:cNvCxnSpPr>
            <a:cxnSpLocks/>
          </p:cNvCxnSpPr>
          <p:nvPr/>
        </p:nvCxnSpPr>
        <p:spPr>
          <a:xfrm flipV="1">
            <a:off x="4795837" y="2721439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F4883B-E97A-22E4-8AA4-FDA59716E1CA}"/>
              </a:ext>
            </a:extLst>
          </p:cNvPr>
          <p:cNvCxnSpPr>
            <a:cxnSpLocks/>
          </p:cNvCxnSpPr>
          <p:nvPr/>
        </p:nvCxnSpPr>
        <p:spPr>
          <a:xfrm flipH="1" flipV="1">
            <a:off x="4079847" y="1809055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8684019-74F1-BC18-CF1B-DA43211BB537}"/>
              </a:ext>
            </a:extLst>
          </p:cNvPr>
          <p:cNvCxnSpPr>
            <a:cxnSpLocks/>
          </p:cNvCxnSpPr>
          <p:nvPr/>
        </p:nvCxnSpPr>
        <p:spPr>
          <a:xfrm flipV="1">
            <a:off x="6209770" y="1171622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A865EA2-9AAF-579F-6424-D51757A8E663}"/>
              </a:ext>
            </a:extLst>
          </p:cNvPr>
          <p:cNvSpPr txBox="1"/>
          <p:nvPr/>
        </p:nvSpPr>
        <p:spPr>
          <a:xfrm>
            <a:off x="7742209" y="1184111"/>
            <a:ext cx="3657389" cy="53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Convex functions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62971F-C8B9-81D7-C65F-EA4BA55626F9}"/>
              </a:ext>
            </a:extLst>
          </p:cNvPr>
          <p:cNvSpPr txBox="1"/>
          <p:nvPr/>
        </p:nvSpPr>
        <p:spPr>
          <a:xfrm>
            <a:off x="7742208" y="4036562"/>
            <a:ext cx="3962109" cy="53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Non-convex functions</a:t>
            </a:r>
          </a:p>
        </p:txBody>
      </p:sp>
    </p:spTree>
    <p:extLst>
      <p:ext uri="{BB962C8B-B14F-4D97-AF65-F5344CB8AC3E}">
        <p14:creationId xmlns:p14="http://schemas.microsoft.com/office/powerpoint/2010/main" val="3066717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4CA9B8-07C3-6826-FB23-A970296B51EF}"/>
              </a:ext>
            </a:extLst>
          </p:cNvPr>
          <p:cNvGrpSpPr>
            <a:grpSpLocks noChangeAspect="1"/>
          </p:cNvGrpSpPr>
          <p:nvPr/>
        </p:nvGrpSpPr>
        <p:grpSpPr>
          <a:xfrm>
            <a:off x="3933061" y="935533"/>
            <a:ext cx="3657600" cy="2247893"/>
            <a:chOff x="4087805" y="935529"/>
            <a:chExt cx="4434728" cy="27254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3EF893-9F1A-4479-8CCF-7C701FE927C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9FA0E4-DBF9-D35B-4CBA-E8BD76175F7E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0C54CD-88CD-5B8C-3070-998211316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622" y="1472673"/>
              <a:ext cx="4073504" cy="1481632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  <a:headEnd type="triangle" w="lg" len="lg"/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21A5A5-8A8B-58F6-620E-5F430752CB1D}"/>
              </a:ext>
            </a:extLst>
          </p:cNvPr>
          <p:cNvCxnSpPr>
            <a:cxnSpLocks/>
          </p:cNvCxnSpPr>
          <p:nvPr/>
        </p:nvCxnSpPr>
        <p:spPr>
          <a:xfrm>
            <a:off x="3933260" y="5922467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AF2C9A-863E-F721-B2C9-F8373148C66E}"/>
              </a:ext>
            </a:extLst>
          </p:cNvPr>
          <p:cNvCxnSpPr/>
          <p:nvPr/>
        </p:nvCxnSpPr>
        <p:spPr>
          <a:xfrm flipV="1">
            <a:off x="3933061" y="3674574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EBFA2B-F9CB-3149-9129-80AD14B7DB99}"/>
              </a:ext>
            </a:extLst>
          </p:cNvPr>
          <p:cNvCxnSpPr>
            <a:cxnSpLocks/>
          </p:cNvCxnSpPr>
          <p:nvPr/>
        </p:nvCxnSpPr>
        <p:spPr>
          <a:xfrm flipV="1">
            <a:off x="4154771" y="4117591"/>
            <a:ext cx="3359676" cy="1221996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0168E7F3-167D-F5D0-BD7E-3AC6F53506D7}"/>
              </a:ext>
            </a:extLst>
          </p:cNvPr>
          <p:cNvSpPr/>
          <p:nvPr/>
        </p:nvSpPr>
        <p:spPr>
          <a:xfrm>
            <a:off x="4431323" y="3809515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25653BF-0BA1-20BA-95A3-B194C2D22D6A}"/>
                  </a:ext>
                </a:extLst>
              </p:cNvPr>
              <p:cNvSpPr txBox="1"/>
              <p:nvPr/>
            </p:nvSpPr>
            <p:spPr>
              <a:xfrm>
                <a:off x="7742209" y="1184111"/>
                <a:ext cx="3657389" cy="4373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Given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/>
                  <a:t> </a:t>
                </a:r>
              </a:p>
              <a:p>
                <a:pPr marL="177800" indent="-169863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a </a:t>
                </a:r>
                <a:r>
                  <a:rPr lang="en-US" sz="24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global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minimum </a:t>
                </a:r>
                <a:r>
                  <a:rPr lang="en-US" sz="240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∀ 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sz="24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7800" indent="-169863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24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937">
                  <a:lnSpc>
                    <a:spcPct val="130000"/>
                  </a:lnSpc>
                  <a:buClr>
                    <a:schemeClr val="accent1"/>
                  </a:buClr>
                </a:pPr>
                <a:endParaRPr lang="en-US" sz="24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7800" indent="-169863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24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7800" indent="-169863">
                  <a:lnSpc>
                    <a:spcPct val="130000"/>
                  </a:lnSpc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a </a:t>
                </a:r>
                <a:r>
                  <a:rPr lang="en-US" sz="24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local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minimum </a:t>
                </a:r>
                <a:r>
                  <a:rPr lang="en-US" sz="240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∃ 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s.t.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∀</m:t>
                    </m:r>
                  </m:oMath>
                </a14:m>
                <a:br>
                  <a:rPr lang="en-US" sz="2400" b="0" i="1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𝒙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s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t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sz="24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  <m:r>
                              <a:rPr lang="en-US" sz="24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b="1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400" b="1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endParaRPr lang="en-US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25653BF-0BA1-20BA-95A3-B194C2D22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209" y="1184111"/>
                <a:ext cx="3657389" cy="4373761"/>
              </a:xfrm>
              <a:prstGeom prst="rect">
                <a:avLst/>
              </a:prstGeom>
              <a:blipFill>
                <a:blip r:embed="rId3"/>
                <a:stretch>
                  <a:fillRect l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885036-D616-EDB6-E7CB-1ED7BF99CB3F}"/>
              </a:ext>
            </a:extLst>
          </p:cNvPr>
          <p:cNvCxnSpPr>
            <a:cxnSpLocks/>
          </p:cNvCxnSpPr>
          <p:nvPr/>
        </p:nvCxnSpPr>
        <p:spPr>
          <a:xfrm flipV="1">
            <a:off x="4795837" y="2721439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F4883B-E97A-22E4-8AA4-FDA59716E1CA}"/>
              </a:ext>
            </a:extLst>
          </p:cNvPr>
          <p:cNvCxnSpPr>
            <a:cxnSpLocks/>
          </p:cNvCxnSpPr>
          <p:nvPr/>
        </p:nvCxnSpPr>
        <p:spPr>
          <a:xfrm flipH="1" flipV="1">
            <a:off x="4079847" y="1809055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8684019-74F1-BC18-CF1B-DA43211BB537}"/>
              </a:ext>
            </a:extLst>
          </p:cNvPr>
          <p:cNvCxnSpPr>
            <a:cxnSpLocks/>
          </p:cNvCxnSpPr>
          <p:nvPr/>
        </p:nvCxnSpPr>
        <p:spPr>
          <a:xfrm flipV="1">
            <a:off x="6209770" y="1171622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7110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4CA9B8-07C3-6826-FB23-A970296B51EF}"/>
              </a:ext>
            </a:extLst>
          </p:cNvPr>
          <p:cNvGrpSpPr>
            <a:grpSpLocks noChangeAspect="1"/>
          </p:cNvGrpSpPr>
          <p:nvPr/>
        </p:nvGrpSpPr>
        <p:grpSpPr>
          <a:xfrm>
            <a:off x="3933061" y="935533"/>
            <a:ext cx="3657600" cy="2247893"/>
            <a:chOff x="4087805" y="935529"/>
            <a:chExt cx="4434728" cy="27254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3EF893-9F1A-4479-8CCF-7C701FE927C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9FA0E4-DBF9-D35B-4CBA-E8BD76175F7E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0C54CD-88CD-5B8C-3070-998211316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622" y="1472673"/>
              <a:ext cx="4073504" cy="1481632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  <a:headEnd type="triangle" w="lg" len="lg"/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21A5A5-8A8B-58F6-620E-5F430752CB1D}"/>
              </a:ext>
            </a:extLst>
          </p:cNvPr>
          <p:cNvCxnSpPr>
            <a:cxnSpLocks/>
          </p:cNvCxnSpPr>
          <p:nvPr/>
        </p:nvCxnSpPr>
        <p:spPr>
          <a:xfrm>
            <a:off x="3933260" y="5922467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AF2C9A-863E-F721-B2C9-F8373148C66E}"/>
              </a:ext>
            </a:extLst>
          </p:cNvPr>
          <p:cNvCxnSpPr/>
          <p:nvPr/>
        </p:nvCxnSpPr>
        <p:spPr>
          <a:xfrm flipV="1">
            <a:off x="3933061" y="3674574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EBFA2B-F9CB-3149-9129-80AD14B7DB99}"/>
              </a:ext>
            </a:extLst>
          </p:cNvPr>
          <p:cNvCxnSpPr>
            <a:cxnSpLocks/>
          </p:cNvCxnSpPr>
          <p:nvPr/>
        </p:nvCxnSpPr>
        <p:spPr>
          <a:xfrm flipV="1">
            <a:off x="4154771" y="4117591"/>
            <a:ext cx="3359676" cy="1221996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0168E7F3-167D-F5D0-BD7E-3AC6F53506D7}"/>
              </a:ext>
            </a:extLst>
          </p:cNvPr>
          <p:cNvSpPr/>
          <p:nvPr/>
        </p:nvSpPr>
        <p:spPr>
          <a:xfrm>
            <a:off x="4431323" y="3809515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653BF-0BA1-20BA-95A3-B194C2D22D6A}"/>
              </a:ext>
            </a:extLst>
          </p:cNvPr>
          <p:cNvSpPr txBox="1"/>
          <p:nvPr/>
        </p:nvSpPr>
        <p:spPr>
          <a:xfrm>
            <a:off x="7742209" y="1184111"/>
            <a:ext cx="3657389" cy="149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Convex functions:</a:t>
            </a:r>
          </a:p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local minimum is a global minimum!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B5677-01F4-16A7-D951-5E1779B2E4ED}"/>
              </a:ext>
            </a:extLst>
          </p:cNvPr>
          <p:cNvSpPr txBox="1"/>
          <p:nvPr/>
        </p:nvSpPr>
        <p:spPr>
          <a:xfrm>
            <a:off x="7742208" y="4036562"/>
            <a:ext cx="3962109" cy="149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Non-convex functions:</a:t>
            </a:r>
          </a:p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local minimum may or may not be a global minimum…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E6239E-C58A-45F3-E11C-48E5904ECACF}"/>
              </a:ext>
            </a:extLst>
          </p:cNvPr>
          <p:cNvCxnSpPr>
            <a:cxnSpLocks/>
          </p:cNvCxnSpPr>
          <p:nvPr/>
        </p:nvCxnSpPr>
        <p:spPr>
          <a:xfrm flipV="1">
            <a:off x="4795837" y="2721439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7DD937-E62A-82AC-0AB8-C954047E8F37}"/>
              </a:ext>
            </a:extLst>
          </p:cNvPr>
          <p:cNvCxnSpPr>
            <a:cxnSpLocks/>
          </p:cNvCxnSpPr>
          <p:nvPr/>
        </p:nvCxnSpPr>
        <p:spPr>
          <a:xfrm flipH="1" flipV="1">
            <a:off x="4079847" y="1809055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07D90E-E565-9840-6D38-C4996C4B754D}"/>
              </a:ext>
            </a:extLst>
          </p:cNvPr>
          <p:cNvCxnSpPr>
            <a:cxnSpLocks/>
          </p:cNvCxnSpPr>
          <p:nvPr/>
        </p:nvCxnSpPr>
        <p:spPr>
          <a:xfrm flipV="1">
            <a:off x="6209770" y="1171622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2C291C2-525B-916D-15ED-DB6B5E60C861}"/>
              </a:ext>
            </a:extLst>
          </p:cNvPr>
          <p:cNvSpPr>
            <a:spLocks noChangeAspect="1"/>
          </p:cNvSpPr>
          <p:nvPr/>
        </p:nvSpPr>
        <p:spPr>
          <a:xfrm>
            <a:off x="4950835" y="2655734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3E9B6C-493E-80A9-0AE6-742601FFC584}"/>
              </a:ext>
            </a:extLst>
          </p:cNvPr>
          <p:cNvSpPr>
            <a:spLocks noChangeAspect="1"/>
          </p:cNvSpPr>
          <p:nvPr/>
        </p:nvSpPr>
        <p:spPr>
          <a:xfrm>
            <a:off x="5266837" y="2653332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8E806F-C781-5CFC-77A4-5E9FF3C75095}"/>
              </a:ext>
            </a:extLst>
          </p:cNvPr>
          <p:cNvSpPr>
            <a:spLocks noChangeAspect="1"/>
          </p:cNvSpPr>
          <p:nvPr/>
        </p:nvSpPr>
        <p:spPr>
          <a:xfrm>
            <a:off x="5382724" y="2653429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3F5A85-224D-4F10-DDC7-ABDB873129F0}"/>
              </a:ext>
            </a:extLst>
          </p:cNvPr>
          <p:cNvSpPr>
            <a:spLocks noChangeAspect="1"/>
          </p:cNvSpPr>
          <p:nvPr/>
        </p:nvSpPr>
        <p:spPr>
          <a:xfrm>
            <a:off x="6121201" y="2651005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08D79B-2D11-1C68-0DF0-ED714440ED9D}"/>
              </a:ext>
            </a:extLst>
          </p:cNvPr>
          <p:cNvSpPr>
            <a:spLocks noChangeAspect="1"/>
          </p:cNvSpPr>
          <p:nvPr/>
        </p:nvSpPr>
        <p:spPr>
          <a:xfrm>
            <a:off x="5825087" y="5658921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630F11-65D9-F8BD-6B7E-02720D3F0966}"/>
              </a:ext>
            </a:extLst>
          </p:cNvPr>
          <p:cNvSpPr>
            <a:spLocks noChangeAspect="1"/>
          </p:cNvSpPr>
          <p:nvPr/>
        </p:nvSpPr>
        <p:spPr>
          <a:xfrm>
            <a:off x="6323883" y="5551833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A3E0B0A-E83F-56A3-D382-A09295A9EDE6}"/>
              </a:ext>
            </a:extLst>
          </p:cNvPr>
          <p:cNvSpPr>
            <a:spLocks noChangeAspect="1"/>
          </p:cNvSpPr>
          <p:nvPr/>
        </p:nvSpPr>
        <p:spPr>
          <a:xfrm>
            <a:off x="5085113" y="5310869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B3749B-88C8-7F58-082B-3B381F9693D0}"/>
              </a:ext>
            </a:extLst>
          </p:cNvPr>
          <p:cNvSpPr>
            <a:spLocks noChangeAspect="1"/>
          </p:cNvSpPr>
          <p:nvPr/>
        </p:nvSpPr>
        <p:spPr>
          <a:xfrm>
            <a:off x="4601319" y="5443587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93895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8A9-0A42-2E58-A106-52CC4D2C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047C-FB42-FD8B-54F9-FE052E2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4CA9B8-07C3-6826-FB23-A970296B51EF}"/>
              </a:ext>
            </a:extLst>
          </p:cNvPr>
          <p:cNvGrpSpPr>
            <a:grpSpLocks noChangeAspect="1"/>
          </p:cNvGrpSpPr>
          <p:nvPr/>
        </p:nvGrpSpPr>
        <p:grpSpPr>
          <a:xfrm>
            <a:off x="3933061" y="935533"/>
            <a:ext cx="3657600" cy="2247893"/>
            <a:chOff x="4087805" y="935529"/>
            <a:chExt cx="4434728" cy="27254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3EF893-9F1A-4479-8CCF-7C701FE927C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9FA0E4-DBF9-D35B-4CBA-E8BD76175F7E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E1A3FEB2-8AB1-8E4B-C2D3-09B97B6F48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718245" y="-221329"/>
              <a:ext cx="778641" cy="3664858"/>
            </a:xfrm>
            <a:prstGeom prst="curvedConnector3">
              <a:avLst>
                <a:gd name="adj1" fmla="val -141202"/>
              </a:avLst>
            </a:prstGeom>
            <a:ln w="19050">
              <a:solidFill>
                <a:schemeClr val="accent6">
                  <a:lumMod val="75000"/>
                </a:schemeClr>
              </a:solidFill>
              <a:headEnd type="triangle"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0C54CD-88CD-5B8C-3070-998211316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622" y="1472673"/>
              <a:ext cx="4073504" cy="1481632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  <a:headEnd type="triangle" w="lg" len="lg"/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21A5A5-8A8B-58F6-620E-5F430752CB1D}"/>
              </a:ext>
            </a:extLst>
          </p:cNvPr>
          <p:cNvCxnSpPr>
            <a:cxnSpLocks/>
          </p:cNvCxnSpPr>
          <p:nvPr/>
        </p:nvCxnSpPr>
        <p:spPr>
          <a:xfrm>
            <a:off x="3933260" y="5922467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AF2C9A-863E-F721-B2C9-F8373148C66E}"/>
              </a:ext>
            </a:extLst>
          </p:cNvPr>
          <p:cNvCxnSpPr/>
          <p:nvPr/>
        </p:nvCxnSpPr>
        <p:spPr>
          <a:xfrm flipV="1">
            <a:off x="3933061" y="3674574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EBFA2B-F9CB-3149-9129-80AD14B7DB99}"/>
              </a:ext>
            </a:extLst>
          </p:cNvPr>
          <p:cNvCxnSpPr>
            <a:cxnSpLocks/>
          </p:cNvCxnSpPr>
          <p:nvPr/>
        </p:nvCxnSpPr>
        <p:spPr>
          <a:xfrm flipV="1">
            <a:off x="4154771" y="4117591"/>
            <a:ext cx="3359676" cy="1221996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triangle" w="lg" len="lg"/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0168E7F3-167D-F5D0-BD7E-3AC6F53506D7}"/>
              </a:ext>
            </a:extLst>
          </p:cNvPr>
          <p:cNvSpPr/>
          <p:nvPr/>
        </p:nvSpPr>
        <p:spPr>
          <a:xfrm>
            <a:off x="4431323" y="3809515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653BF-0BA1-20BA-95A3-B194C2D22D6A}"/>
              </a:ext>
            </a:extLst>
          </p:cNvPr>
          <p:cNvSpPr txBox="1"/>
          <p:nvPr/>
        </p:nvSpPr>
        <p:spPr>
          <a:xfrm>
            <a:off x="7742209" y="1184111"/>
            <a:ext cx="3657389" cy="149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convex functions:</a:t>
            </a:r>
          </a:p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exists a unique global minimum!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B5677-01F4-16A7-D951-5E1779B2E4ED}"/>
              </a:ext>
            </a:extLst>
          </p:cNvPr>
          <p:cNvSpPr txBox="1"/>
          <p:nvPr/>
        </p:nvSpPr>
        <p:spPr>
          <a:xfrm>
            <a:off x="7742208" y="4036562"/>
            <a:ext cx="3962109" cy="149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Non-convex functions:</a:t>
            </a:r>
          </a:p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local minimum may or may not be a global minimum…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DF20A5-955E-1698-2A3A-55268ADB1927}"/>
              </a:ext>
            </a:extLst>
          </p:cNvPr>
          <p:cNvSpPr>
            <a:spLocks noChangeAspect="1"/>
          </p:cNvSpPr>
          <p:nvPr/>
        </p:nvSpPr>
        <p:spPr>
          <a:xfrm>
            <a:off x="5825087" y="5658921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2E6270-C5EE-8125-A2DB-7A9F42F6E434}"/>
              </a:ext>
            </a:extLst>
          </p:cNvPr>
          <p:cNvSpPr>
            <a:spLocks noChangeAspect="1"/>
          </p:cNvSpPr>
          <p:nvPr/>
        </p:nvSpPr>
        <p:spPr>
          <a:xfrm>
            <a:off x="6323883" y="5551833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AA7395-140C-0EE2-1E72-65B36F1FA2E1}"/>
              </a:ext>
            </a:extLst>
          </p:cNvPr>
          <p:cNvSpPr>
            <a:spLocks noChangeAspect="1"/>
          </p:cNvSpPr>
          <p:nvPr/>
        </p:nvSpPr>
        <p:spPr>
          <a:xfrm>
            <a:off x="5085113" y="5310869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009C81-B13E-84F2-5E26-A78F41BEAD01}"/>
              </a:ext>
            </a:extLst>
          </p:cNvPr>
          <p:cNvSpPr>
            <a:spLocks noChangeAspect="1"/>
          </p:cNvSpPr>
          <p:nvPr/>
        </p:nvSpPr>
        <p:spPr>
          <a:xfrm>
            <a:off x="4601319" y="5443587"/>
            <a:ext cx="137160" cy="137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C5C1B7-14BE-EA33-B5AF-EC6A29A39305}"/>
              </a:ext>
            </a:extLst>
          </p:cNvPr>
          <p:cNvSpPr>
            <a:spLocks noChangeAspect="1"/>
          </p:cNvSpPr>
          <p:nvPr/>
        </p:nvSpPr>
        <p:spPr>
          <a:xfrm>
            <a:off x="5574922" y="2653429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8619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Works great if the objective function is convex!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D3340A-46AD-B456-976E-3AE13426062B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2798710"/>
            <a:ext cx="3657600" cy="2247893"/>
            <a:chOff x="4087805" y="935529"/>
            <a:chExt cx="4434728" cy="27254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DAB34E-AB86-2917-E0FE-35756763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CEB8DC-E9F6-1197-9107-97A4BE4B559B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91709B-ED26-B878-C5EF-50EBBBB50585}"/>
              </a:ext>
            </a:extLst>
          </p:cNvPr>
          <p:cNvCxnSpPr>
            <a:cxnSpLocks/>
          </p:cNvCxnSpPr>
          <p:nvPr/>
        </p:nvCxnSpPr>
        <p:spPr>
          <a:xfrm flipV="1">
            <a:off x="6958776" y="4584616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B5FFF-E13F-E450-23C1-6A84695F530B}"/>
              </a:ext>
            </a:extLst>
          </p:cNvPr>
          <p:cNvCxnSpPr>
            <a:cxnSpLocks/>
          </p:cNvCxnSpPr>
          <p:nvPr/>
        </p:nvCxnSpPr>
        <p:spPr>
          <a:xfrm flipH="1" flipV="1">
            <a:off x="6242786" y="3672232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92193-7680-C3CC-9D21-DE8EE667E284}"/>
              </a:ext>
            </a:extLst>
          </p:cNvPr>
          <p:cNvCxnSpPr>
            <a:cxnSpLocks/>
          </p:cNvCxnSpPr>
          <p:nvPr/>
        </p:nvCxnSpPr>
        <p:spPr>
          <a:xfrm flipV="1">
            <a:off x="8372709" y="3034799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85922F1C-6965-29C2-2C5B-06CA7A6887F9}"/>
              </a:ext>
            </a:extLst>
          </p:cNvPr>
          <p:cNvSpPr>
            <a:spLocks noChangeAspect="1"/>
          </p:cNvSpPr>
          <p:nvPr/>
        </p:nvSpPr>
        <p:spPr>
          <a:xfrm>
            <a:off x="6478915" y="3993086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2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Works great if the objective function is convex!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D3340A-46AD-B456-976E-3AE13426062B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2798710"/>
            <a:ext cx="3657600" cy="2247893"/>
            <a:chOff x="4087805" y="935529"/>
            <a:chExt cx="4434728" cy="27254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DAB34E-AB86-2917-E0FE-35756763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CEB8DC-E9F6-1197-9107-97A4BE4B559B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91709B-ED26-B878-C5EF-50EBBBB50585}"/>
              </a:ext>
            </a:extLst>
          </p:cNvPr>
          <p:cNvCxnSpPr>
            <a:cxnSpLocks/>
          </p:cNvCxnSpPr>
          <p:nvPr/>
        </p:nvCxnSpPr>
        <p:spPr>
          <a:xfrm flipV="1">
            <a:off x="6958776" y="4584616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B5FFF-E13F-E450-23C1-6A84695F530B}"/>
              </a:ext>
            </a:extLst>
          </p:cNvPr>
          <p:cNvCxnSpPr>
            <a:cxnSpLocks/>
          </p:cNvCxnSpPr>
          <p:nvPr/>
        </p:nvCxnSpPr>
        <p:spPr>
          <a:xfrm flipH="1" flipV="1">
            <a:off x="6242786" y="3672232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92193-7680-C3CC-9D21-DE8EE667E284}"/>
              </a:ext>
            </a:extLst>
          </p:cNvPr>
          <p:cNvCxnSpPr>
            <a:cxnSpLocks/>
          </p:cNvCxnSpPr>
          <p:nvPr/>
        </p:nvCxnSpPr>
        <p:spPr>
          <a:xfrm flipV="1">
            <a:off x="8372709" y="3034799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094DD9-7E7F-55E1-8569-D8044111E3FC}"/>
              </a:ext>
            </a:extLst>
          </p:cNvPr>
          <p:cNvSpPr>
            <a:spLocks noChangeAspect="1"/>
          </p:cNvSpPr>
          <p:nvPr/>
        </p:nvSpPr>
        <p:spPr>
          <a:xfrm>
            <a:off x="7021520" y="4519361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922F1C-6965-29C2-2C5B-06CA7A6887F9}"/>
              </a:ext>
            </a:extLst>
          </p:cNvPr>
          <p:cNvSpPr>
            <a:spLocks noChangeAspect="1"/>
          </p:cNvSpPr>
          <p:nvPr/>
        </p:nvSpPr>
        <p:spPr>
          <a:xfrm>
            <a:off x="6478915" y="3993086"/>
            <a:ext cx="137160" cy="137160"/>
          </a:xfrm>
          <a:prstGeom prst="ellipse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4766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Works great if the objective function is convex!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D3340A-46AD-B456-976E-3AE13426062B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2798710"/>
            <a:ext cx="3657600" cy="2247893"/>
            <a:chOff x="4087805" y="935529"/>
            <a:chExt cx="4434728" cy="27254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DAB34E-AB86-2917-E0FE-35756763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CEB8DC-E9F6-1197-9107-97A4BE4B559B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91709B-ED26-B878-C5EF-50EBBBB50585}"/>
              </a:ext>
            </a:extLst>
          </p:cNvPr>
          <p:cNvCxnSpPr>
            <a:cxnSpLocks/>
          </p:cNvCxnSpPr>
          <p:nvPr/>
        </p:nvCxnSpPr>
        <p:spPr>
          <a:xfrm flipV="1">
            <a:off x="6958776" y="4584616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B5FFF-E13F-E450-23C1-6A84695F530B}"/>
              </a:ext>
            </a:extLst>
          </p:cNvPr>
          <p:cNvCxnSpPr>
            <a:cxnSpLocks/>
          </p:cNvCxnSpPr>
          <p:nvPr/>
        </p:nvCxnSpPr>
        <p:spPr>
          <a:xfrm flipH="1" flipV="1">
            <a:off x="6242786" y="3672232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92193-7680-C3CC-9D21-DE8EE667E284}"/>
              </a:ext>
            </a:extLst>
          </p:cNvPr>
          <p:cNvCxnSpPr>
            <a:cxnSpLocks/>
          </p:cNvCxnSpPr>
          <p:nvPr/>
        </p:nvCxnSpPr>
        <p:spPr>
          <a:xfrm flipV="1">
            <a:off x="8372709" y="3034799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ECDB6B2-72B0-66BE-B095-A2A0E026F114}"/>
              </a:ext>
            </a:extLst>
          </p:cNvPr>
          <p:cNvSpPr>
            <a:spLocks noChangeAspect="1"/>
          </p:cNvSpPr>
          <p:nvPr/>
        </p:nvSpPr>
        <p:spPr>
          <a:xfrm>
            <a:off x="8754346" y="3741127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823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Works great if the objective function is convex!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D3340A-46AD-B456-976E-3AE13426062B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2798710"/>
            <a:ext cx="3657600" cy="2247893"/>
            <a:chOff x="4087805" y="935529"/>
            <a:chExt cx="4434728" cy="27254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DAB34E-AB86-2917-E0FE-35756763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CEB8DC-E9F6-1197-9107-97A4BE4B559B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91709B-ED26-B878-C5EF-50EBBBB50585}"/>
              </a:ext>
            </a:extLst>
          </p:cNvPr>
          <p:cNvCxnSpPr>
            <a:cxnSpLocks/>
          </p:cNvCxnSpPr>
          <p:nvPr/>
        </p:nvCxnSpPr>
        <p:spPr>
          <a:xfrm flipV="1">
            <a:off x="6958776" y="4584616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B5FFF-E13F-E450-23C1-6A84695F530B}"/>
              </a:ext>
            </a:extLst>
          </p:cNvPr>
          <p:cNvCxnSpPr>
            <a:cxnSpLocks/>
          </p:cNvCxnSpPr>
          <p:nvPr/>
        </p:nvCxnSpPr>
        <p:spPr>
          <a:xfrm flipH="1" flipV="1">
            <a:off x="6242786" y="3672232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92193-7680-C3CC-9D21-DE8EE667E284}"/>
              </a:ext>
            </a:extLst>
          </p:cNvPr>
          <p:cNvCxnSpPr>
            <a:cxnSpLocks/>
          </p:cNvCxnSpPr>
          <p:nvPr/>
        </p:nvCxnSpPr>
        <p:spPr>
          <a:xfrm flipV="1">
            <a:off x="8372709" y="3034799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85922F1C-6965-29C2-2C5B-06CA7A6887F9}"/>
              </a:ext>
            </a:extLst>
          </p:cNvPr>
          <p:cNvSpPr>
            <a:spLocks noChangeAspect="1"/>
          </p:cNvSpPr>
          <p:nvPr/>
        </p:nvSpPr>
        <p:spPr>
          <a:xfrm>
            <a:off x="8013840" y="4519361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CDB6B2-72B0-66BE-B095-A2A0E026F114}"/>
              </a:ext>
            </a:extLst>
          </p:cNvPr>
          <p:cNvSpPr>
            <a:spLocks noChangeAspect="1"/>
          </p:cNvSpPr>
          <p:nvPr/>
        </p:nvSpPr>
        <p:spPr>
          <a:xfrm>
            <a:off x="8754346" y="3741127"/>
            <a:ext cx="137160" cy="137160"/>
          </a:xfrm>
          <a:prstGeom prst="ellipse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98069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90947F-C66D-345B-3E77-03C9A62858B7}"/>
              </a:ext>
            </a:extLst>
          </p:cNvPr>
          <p:cNvCxnSpPr>
            <a:cxnSpLocks/>
          </p:cNvCxnSpPr>
          <p:nvPr/>
        </p:nvCxnSpPr>
        <p:spPr>
          <a:xfrm>
            <a:off x="6096199" y="5046603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FB4DE3-4C3D-8B98-8696-600C6F2A45EA}"/>
              </a:ext>
            </a:extLst>
          </p:cNvPr>
          <p:cNvCxnSpPr/>
          <p:nvPr/>
        </p:nvCxnSpPr>
        <p:spPr>
          <a:xfrm flipV="1">
            <a:off x="6096000" y="2798710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3B638F6-F18C-89BE-B917-032AF3790928}"/>
              </a:ext>
            </a:extLst>
          </p:cNvPr>
          <p:cNvSpPr/>
          <p:nvPr/>
        </p:nvSpPr>
        <p:spPr>
          <a:xfrm>
            <a:off x="6594262" y="2933651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E84712D-DD59-7F1E-B974-43AFEB00FDBF}"/>
              </a:ext>
            </a:extLst>
          </p:cNvPr>
          <p:cNvSpPr>
            <a:spLocks noChangeAspect="1"/>
          </p:cNvSpPr>
          <p:nvPr/>
        </p:nvSpPr>
        <p:spPr>
          <a:xfrm>
            <a:off x="7474690" y="3424428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819B855-30D7-F837-E8F7-59C526B0D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Not ideal if the objective function is non-convex…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7026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1AC12E-C781-2E3E-DF50-4CBAC9A4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Not ideal if the objective function is non-convex…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90947F-C66D-345B-3E77-03C9A62858B7}"/>
              </a:ext>
            </a:extLst>
          </p:cNvPr>
          <p:cNvCxnSpPr>
            <a:cxnSpLocks/>
          </p:cNvCxnSpPr>
          <p:nvPr/>
        </p:nvCxnSpPr>
        <p:spPr>
          <a:xfrm>
            <a:off x="6096199" y="5046603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FB4DE3-4C3D-8B98-8696-600C6F2A45EA}"/>
              </a:ext>
            </a:extLst>
          </p:cNvPr>
          <p:cNvCxnSpPr/>
          <p:nvPr/>
        </p:nvCxnSpPr>
        <p:spPr>
          <a:xfrm flipV="1">
            <a:off x="6096000" y="2798710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3B638F6-F18C-89BE-B917-032AF3790928}"/>
              </a:ext>
            </a:extLst>
          </p:cNvPr>
          <p:cNvSpPr/>
          <p:nvPr/>
        </p:nvSpPr>
        <p:spPr>
          <a:xfrm>
            <a:off x="6594262" y="2933651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66D440-EE08-D8C2-838B-7C56C3EFA957}"/>
              </a:ext>
            </a:extLst>
          </p:cNvPr>
          <p:cNvSpPr>
            <a:spLocks noChangeAspect="1"/>
          </p:cNvSpPr>
          <p:nvPr/>
        </p:nvSpPr>
        <p:spPr>
          <a:xfrm>
            <a:off x="7248052" y="4435005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636479-B78E-8A0C-EAA7-495D4646879B}"/>
              </a:ext>
            </a:extLst>
          </p:cNvPr>
          <p:cNvSpPr>
            <a:spLocks noChangeAspect="1"/>
          </p:cNvSpPr>
          <p:nvPr/>
        </p:nvSpPr>
        <p:spPr>
          <a:xfrm>
            <a:off x="7474690" y="3424428"/>
            <a:ext cx="137160" cy="137160"/>
          </a:xfrm>
          <a:prstGeom prst="ellipse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98828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90947F-C66D-345B-3E77-03C9A62858B7}"/>
              </a:ext>
            </a:extLst>
          </p:cNvPr>
          <p:cNvCxnSpPr>
            <a:cxnSpLocks/>
          </p:cNvCxnSpPr>
          <p:nvPr/>
        </p:nvCxnSpPr>
        <p:spPr>
          <a:xfrm>
            <a:off x="6096199" y="5046603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FB4DE3-4C3D-8B98-8696-600C6F2A45EA}"/>
              </a:ext>
            </a:extLst>
          </p:cNvPr>
          <p:cNvCxnSpPr/>
          <p:nvPr/>
        </p:nvCxnSpPr>
        <p:spPr>
          <a:xfrm flipV="1">
            <a:off x="6096000" y="2798710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3B638F6-F18C-89BE-B917-032AF3790928}"/>
              </a:ext>
            </a:extLst>
          </p:cNvPr>
          <p:cNvSpPr/>
          <p:nvPr/>
        </p:nvSpPr>
        <p:spPr>
          <a:xfrm>
            <a:off x="6594262" y="2933651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F7FCEF-5E11-9CF3-DF6D-D8E7C2448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Not ideal if the objective function is non-convex…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5926BC-70A9-9567-4370-D844BEDFBB37}"/>
              </a:ext>
            </a:extLst>
          </p:cNvPr>
          <p:cNvSpPr>
            <a:spLocks noChangeAspect="1"/>
          </p:cNvSpPr>
          <p:nvPr/>
        </p:nvSpPr>
        <p:spPr>
          <a:xfrm>
            <a:off x="8325912" y="4366425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5018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 &amp; Convexity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Not ideal if the objective function is non-convex…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90947F-C66D-345B-3E77-03C9A62858B7}"/>
              </a:ext>
            </a:extLst>
          </p:cNvPr>
          <p:cNvCxnSpPr>
            <a:cxnSpLocks/>
          </p:cNvCxnSpPr>
          <p:nvPr/>
        </p:nvCxnSpPr>
        <p:spPr>
          <a:xfrm>
            <a:off x="6096199" y="5046603"/>
            <a:ext cx="3657401" cy="0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FB4DE3-4C3D-8B98-8696-600C6F2A45EA}"/>
              </a:ext>
            </a:extLst>
          </p:cNvPr>
          <p:cNvCxnSpPr/>
          <p:nvPr/>
        </p:nvCxnSpPr>
        <p:spPr>
          <a:xfrm flipV="1">
            <a:off x="6096000" y="2798710"/>
            <a:ext cx="0" cy="2247893"/>
          </a:xfrm>
          <a:prstGeom prst="line">
            <a:avLst/>
          </a:prstGeom>
          <a:ln w="12700"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3B638F6-F18C-89BE-B917-032AF3790928}"/>
              </a:ext>
            </a:extLst>
          </p:cNvPr>
          <p:cNvSpPr/>
          <p:nvPr/>
        </p:nvSpPr>
        <p:spPr>
          <a:xfrm>
            <a:off x="6594262" y="2933651"/>
            <a:ext cx="2630659" cy="1948031"/>
          </a:xfrm>
          <a:custGeom>
            <a:avLst/>
            <a:gdLst>
              <a:gd name="connsiteX0" fmla="*/ 0 w 2630659"/>
              <a:gd name="connsiteY0" fmla="*/ 762485 h 1948031"/>
              <a:gd name="connsiteX1" fmla="*/ 239151 w 2630659"/>
              <a:gd name="connsiteY1" fmla="*/ 1733156 h 1948031"/>
              <a:gd name="connsiteX2" fmla="*/ 534572 w 2630659"/>
              <a:gd name="connsiteY2" fmla="*/ 945365 h 1948031"/>
              <a:gd name="connsiteX3" fmla="*/ 731520 w 2630659"/>
              <a:gd name="connsiteY3" fmla="*/ 1578411 h 1948031"/>
              <a:gd name="connsiteX4" fmla="*/ 1083212 w 2630659"/>
              <a:gd name="connsiteY4" fmla="*/ 199777 h 1948031"/>
              <a:gd name="connsiteX5" fmla="*/ 1420837 w 2630659"/>
              <a:gd name="connsiteY5" fmla="*/ 1916036 h 1948031"/>
              <a:gd name="connsiteX6" fmla="*/ 1716259 w 2630659"/>
              <a:gd name="connsiteY6" fmla="*/ 1353328 h 1948031"/>
              <a:gd name="connsiteX7" fmla="*/ 1997612 w 2630659"/>
              <a:gd name="connsiteY7" fmla="*/ 1803494 h 1948031"/>
              <a:gd name="connsiteX8" fmla="*/ 2278966 w 2630659"/>
              <a:gd name="connsiteY8" fmla="*/ 16897 h 1948031"/>
              <a:gd name="connsiteX9" fmla="*/ 2630659 w 2630659"/>
              <a:gd name="connsiteY9" fmla="*/ 1057907 h 194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30659" h="1948031">
                <a:moveTo>
                  <a:pt x="0" y="762485"/>
                </a:moveTo>
                <a:cubicBezTo>
                  <a:pt x="75028" y="1232580"/>
                  <a:pt x="150056" y="1702676"/>
                  <a:pt x="239151" y="1733156"/>
                </a:cubicBezTo>
                <a:cubicBezTo>
                  <a:pt x="328246" y="1763636"/>
                  <a:pt x="452511" y="971156"/>
                  <a:pt x="534572" y="945365"/>
                </a:cubicBezTo>
                <a:cubicBezTo>
                  <a:pt x="616633" y="919574"/>
                  <a:pt x="640080" y="1702676"/>
                  <a:pt x="731520" y="1578411"/>
                </a:cubicBezTo>
                <a:cubicBezTo>
                  <a:pt x="822960" y="1454146"/>
                  <a:pt x="968326" y="143506"/>
                  <a:pt x="1083212" y="199777"/>
                </a:cubicBezTo>
                <a:cubicBezTo>
                  <a:pt x="1198098" y="256048"/>
                  <a:pt x="1315329" y="1723778"/>
                  <a:pt x="1420837" y="1916036"/>
                </a:cubicBezTo>
                <a:cubicBezTo>
                  <a:pt x="1526345" y="2108294"/>
                  <a:pt x="1620130" y="1372085"/>
                  <a:pt x="1716259" y="1353328"/>
                </a:cubicBezTo>
                <a:cubicBezTo>
                  <a:pt x="1812388" y="1334571"/>
                  <a:pt x="1903828" y="2026233"/>
                  <a:pt x="1997612" y="1803494"/>
                </a:cubicBezTo>
                <a:cubicBezTo>
                  <a:pt x="2091397" y="1580756"/>
                  <a:pt x="2173458" y="141161"/>
                  <a:pt x="2278966" y="16897"/>
                </a:cubicBezTo>
                <a:cubicBezTo>
                  <a:pt x="2384474" y="-107367"/>
                  <a:pt x="2507566" y="475270"/>
                  <a:pt x="2630659" y="10579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3370A8-291A-3763-4F05-0727591C5A16}"/>
              </a:ext>
            </a:extLst>
          </p:cNvPr>
          <p:cNvSpPr>
            <a:spLocks noChangeAspect="1"/>
          </p:cNvSpPr>
          <p:nvPr/>
        </p:nvSpPr>
        <p:spPr>
          <a:xfrm>
            <a:off x="8325912" y="4366425"/>
            <a:ext cx="137160" cy="137160"/>
          </a:xfrm>
          <a:prstGeom prst="ellipse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89221C-8D7A-C86A-8B17-65B8CB12D18D}"/>
              </a:ext>
            </a:extLst>
          </p:cNvPr>
          <p:cNvSpPr>
            <a:spLocks noChangeAspect="1"/>
          </p:cNvSpPr>
          <p:nvPr/>
        </p:nvSpPr>
        <p:spPr>
          <a:xfrm>
            <a:off x="8486822" y="4675969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358624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725-D6EF-8A85-173E-DFD3E9D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squared error for linear regression is convex (but not strictly convex)!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F42-A7FE-EB0D-3F8F-C34B3394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Gradient descent is a local optimization algorithm – it will converge to a local minimum (if it converges)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Works great if the objective function is convex!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787B-6A01-0FC7-7A91-C92DE1F6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D3340A-46AD-B456-976E-3AE13426062B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2798710"/>
            <a:ext cx="3657600" cy="2247893"/>
            <a:chOff x="4087805" y="935529"/>
            <a:chExt cx="4434728" cy="27254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DAB34E-AB86-2917-E0FE-35756763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088046" y="3661028"/>
              <a:ext cx="4434487" cy="0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CEB8DC-E9F6-1197-9107-97A4BE4B559B}"/>
                </a:ext>
              </a:extLst>
            </p:cNvPr>
            <p:cNvCxnSpPr/>
            <p:nvPr/>
          </p:nvCxnSpPr>
          <p:spPr>
            <a:xfrm flipV="1">
              <a:off x="4087805" y="935529"/>
              <a:ext cx="0" cy="2725499"/>
            </a:xfrm>
            <a:prstGeom prst="line">
              <a:avLst/>
            </a:prstGeom>
            <a:ln w="12700">
              <a:tailEnd type="triangle" w="lg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91709B-ED26-B878-C5EF-50EBBBB50585}"/>
              </a:ext>
            </a:extLst>
          </p:cNvPr>
          <p:cNvCxnSpPr>
            <a:cxnSpLocks/>
          </p:cNvCxnSpPr>
          <p:nvPr/>
        </p:nvCxnSpPr>
        <p:spPr>
          <a:xfrm flipV="1">
            <a:off x="6958776" y="4584616"/>
            <a:ext cx="1413933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B5FFF-E13F-E450-23C1-6A84695F530B}"/>
              </a:ext>
            </a:extLst>
          </p:cNvPr>
          <p:cNvCxnSpPr>
            <a:cxnSpLocks/>
          </p:cNvCxnSpPr>
          <p:nvPr/>
        </p:nvCxnSpPr>
        <p:spPr>
          <a:xfrm flipH="1" flipV="1">
            <a:off x="6242786" y="3672232"/>
            <a:ext cx="715990" cy="91570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92193-7680-C3CC-9D21-DE8EE667E284}"/>
              </a:ext>
            </a:extLst>
          </p:cNvPr>
          <p:cNvCxnSpPr>
            <a:cxnSpLocks/>
          </p:cNvCxnSpPr>
          <p:nvPr/>
        </p:nvCxnSpPr>
        <p:spPr>
          <a:xfrm flipV="1">
            <a:off x="8372709" y="3034799"/>
            <a:ext cx="900435" cy="154981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ECDB6B2-72B0-66BE-B095-A2A0E026F114}"/>
              </a:ext>
            </a:extLst>
          </p:cNvPr>
          <p:cNvSpPr>
            <a:spLocks noChangeAspect="1"/>
          </p:cNvSpPr>
          <p:nvPr/>
        </p:nvSpPr>
        <p:spPr>
          <a:xfrm>
            <a:off x="8754346" y="3741127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464BB6-2013-BB0A-70BB-E3D00100699A}"/>
                  </a:ext>
                </a:extLst>
              </p:cNvPr>
              <p:cNvSpPr txBox="1"/>
              <p:nvPr/>
            </p:nvSpPr>
            <p:spPr>
              <a:xfrm>
                <a:off x="3869268" y="5268966"/>
                <a:ext cx="425574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40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464BB6-2013-BB0A-70BB-E3D001006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68" y="5268966"/>
                <a:ext cx="4255745" cy="369332"/>
              </a:xfrm>
              <a:prstGeom prst="rect">
                <a:avLst/>
              </a:prstGeom>
              <a:blipFill>
                <a:blip r:embed="rId3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496C89-723C-17CE-25E6-8AF3BF53AA02}"/>
                  </a:ext>
                </a:extLst>
              </p:cNvPr>
              <p:cNvSpPr txBox="1"/>
              <p:nvPr/>
            </p:nvSpPr>
            <p:spPr>
              <a:xfrm>
                <a:off x="4032656" y="5809226"/>
                <a:ext cx="665820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which is positive </a:t>
                </a:r>
                <a:r>
                  <a:rPr lang="en-US" sz="2400" i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semi-</a:t>
                </a:r>
                <a:r>
                  <a:rPr lang="en-US" sz="2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definite</a:t>
                </a:r>
                <a:endParaRPr lang="en-US" sz="240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496C89-723C-17CE-25E6-8AF3BF53A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656" y="5809226"/>
                <a:ext cx="6658204" cy="369332"/>
              </a:xfrm>
              <a:prstGeom prst="rect">
                <a:avLst/>
              </a:prstGeom>
              <a:blipFill>
                <a:blip r:embed="rId4"/>
                <a:stretch>
                  <a:fillRect l="-1648" t="-26230" b="-47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135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7" y="864108"/>
            <a:ext cx="7449521" cy="512064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/>
              <a:t>Closed form solution for linear regression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Setting the gradient equal to 0 and solving for critical points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Potential issues: invertibility and computational costs</a:t>
            </a:r>
          </a:p>
          <a:p>
            <a:pPr>
              <a:lnSpc>
                <a:spcPct val="130000"/>
              </a:lnSpc>
            </a:pPr>
            <a:r>
              <a:rPr lang="en-US"/>
              <a:t>Gradient descent</a:t>
            </a:r>
          </a:p>
          <a:p>
            <a:pPr lvl="1">
              <a:lnSpc>
                <a:spcPct val="130000"/>
              </a:lnSpc>
            </a:pPr>
            <a:r>
              <a:rPr lang="en-US" sz="2400" b="0">
                <a:effectLst/>
              </a:rPr>
              <a:t>Effect of step size</a:t>
            </a:r>
          </a:p>
          <a:p>
            <a:pPr lvl="1">
              <a:lnSpc>
                <a:spcPct val="130000"/>
              </a:lnSpc>
            </a:pPr>
            <a:r>
              <a:rPr lang="en-US" sz="2400" b="0">
                <a:effectLst/>
              </a:rPr>
              <a:t>T</a:t>
            </a:r>
            <a:r>
              <a:rPr lang="en-US" sz="2400"/>
              <a:t>ermination criteria</a:t>
            </a:r>
          </a:p>
          <a:p>
            <a:pPr>
              <a:lnSpc>
                <a:spcPct val="130000"/>
              </a:lnSpc>
            </a:pPr>
            <a:r>
              <a:rPr lang="en-US"/>
              <a:t>Convexity vs. non-convexity 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Strong vs. weak convexity 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Implications for local, global and unique optima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9436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4 - Linear Regression" id="{996A60BC-E754-E84F-93FE-A8DDE3FA3BF6}" vid="{71A94B99-3CCE-7E47-B127-CB47FEEB7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1547</TotalTime>
  <Words>2312</Words>
  <Application>Microsoft Office PowerPoint</Application>
  <PresentationFormat>Widescreen</PresentationFormat>
  <Paragraphs>528</Paragraphs>
  <Slides>49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Cambria Math</vt:lpstr>
      <vt:lpstr>Corbel</vt:lpstr>
      <vt:lpstr>Times New Roman</vt:lpstr>
      <vt:lpstr>Wingdings 2</vt:lpstr>
      <vt:lpstr>Frame</vt:lpstr>
      <vt:lpstr> CS 522: Machine Learning Lecture 4 – Linear Regression</vt:lpstr>
      <vt:lpstr>Recall:  Regression</vt:lpstr>
      <vt:lpstr>Decision Tree Regression</vt:lpstr>
      <vt:lpstr>1-NN Regression</vt:lpstr>
      <vt:lpstr>Linear Regression</vt:lpstr>
      <vt:lpstr>Linear Regression</vt:lpstr>
      <vt:lpstr>General  Recipe  for  Machine Learning</vt:lpstr>
      <vt:lpstr>  Recipe  for  Linear Regression </vt:lpstr>
      <vt:lpstr>Minimizing the Squared Error</vt:lpstr>
      <vt:lpstr>Minimizing the Squared Error</vt:lpstr>
      <vt:lpstr>Closed Form Solution</vt:lpstr>
      <vt:lpstr>Linear Regression: Uniqueness</vt:lpstr>
      <vt:lpstr>Linear Regression: Uniqueness</vt:lpstr>
      <vt:lpstr>Linear Regression: Uniqueness</vt:lpstr>
      <vt:lpstr>Linear Regression: Uniqueness</vt:lpstr>
      <vt:lpstr>Linear Regression: Uniqueness</vt:lpstr>
      <vt:lpstr>Linear Regression: Uniqueness</vt:lpstr>
      <vt:lpstr>Closed Form Solution</vt:lpstr>
      <vt:lpstr>Gradient Descent: Intuition</vt:lpstr>
      <vt:lpstr>Gradient Descent: Intuition</vt:lpstr>
      <vt:lpstr>Gradient Descent: Intuition</vt:lpstr>
      <vt:lpstr>Gradient Descent </vt:lpstr>
      <vt:lpstr>Gradient Descent: Step Direction</vt:lpstr>
      <vt:lpstr>Gradient Descent:  Step Size</vt:lpstr>
      <vt:lpstr>Gradient Descent:  Step Size</vt:lpstr>
      <vt:lpstr>Gradient Descent:  Step Size</vt:lpstr>
      <vt:lpstr>Gradient Descent:  Step Size</vt:lpstr>
      <vt:lpstr>Gradient Descent </vt:lpstr>
      <vt:lpstr> Gradient Descent</vt:lpstr>
      <vt:lpstr> Gradient Descent</vt:lpstr>
      <vt:lpstr> Gradient Descent</vt:lpstr>
      <vt:lpstr>  Why Gradient Descent for linear regression?</vt:lpstr>
      <vt:lpstr>Convexity</vt:lpstr>
      <vt:lpstr>Convexity</vt:lpstr>
      <vt:lpstr>Convexity</vt:lpstr>
      <vt:lpstr>Convexity</vt:lpstr>
      <vt:lpstr>Convexity</vt:lpstr>
      <vt:lpstr>Convexity</vt:lpstr>
      <vt:lpstr>Convexity</vt:lpstr>
      <vt:lpstr>Gradient Descent &amp; Convexity  </vt:lpstr>
      <vt:lpstr>Gradient Descent &amp; Convexity  </vt:lpstr>
      <vt:lpstr>Gradient Descent &amp; Convexity  </vt:lpstr>
      <vt:lpstr>Gradient Descent &amp; Convexity  </vt:lpstr>
      <vt:lpstr>Gradient Descent &amp; Convexity  </vt:lpstr>
      <vt:lpstr>Gradient Descent &amp; Convexity  </vt:lpstr>
      <vt:lpstr>Gradient Descent &amp; Convexity  </vt:lpstr>
      <vt:lpstr>Gradient Descent &amp; Convexity  </vt:lpstr>
      <vt:lpstr>The squared error for linear regression is convex (but not strictly convex)!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417T: Introduction to Machine Learning  Lecture 17: Boosting</dc:title>
  <dc:creator>Chai, Henry</dc:creator>
  <cp:lastModifiedBy>Suya, FNU</cp:lastModifiedBy>
  <cp:revision>9</cp:revision>
  <cp:lastPrinted>2022-05-31T12:36:32Z</cp:lastPrinted>
  <dcterms:created xsi:type="dcterms:W3CDTF">2018-10-30T15:16:05Z</dcterms:created>
  <dcterms:modified xsi:type="dcterms:W3CDTF">2026-09-03T15:16:02Z</dcterms:modified>
</cp:coreProperties>
</file>