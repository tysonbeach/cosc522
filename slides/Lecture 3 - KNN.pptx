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64" r:id="rId1"/>
  </p:sldMasterIdLst>
  <p:notesMasterIdLst>
    <p:notesMasterId r:id="rId52"/>
  </p:notesMasterIdLst>
  <p:sldIdLst>
    <p:sldId id="289" r:id="rId2"/>
    <p:sldId id="2141" r:id="rId3"/>
    <p:sldId id="2142" r:id="rId4"/>
    <p:sldId id="2145" r:id="rId5"/>
    <p:sldId id="2144" r:id="rId6"/>
    <p:sldId id="2237" r:id="rId7"/>
    <p:sldId id="258" r:id="rId8"/>
    <p:sldId id="259" r:id="rId9"/>
    <p:sldId id="2219" r:id="rId10"/>
    <p:sldId id="262" r:id="rId11"/>
    <p:sldId id="2198" r:id="rId12"/>
    <p:sldId id="268" r:id="rId13"/>
    <p:sldId id="263" r:id="rId14"/>
    <p:sldId id="2234" r:id="rId15"/>
    <p:sldId id="442" r:id="rId16"/>
    <p:sldId id="2221" r:id="rId17"/>
    <p:sldId id="2220" r:id="rId18"/>
    <p:sldId id="2222" r:id="rId19"/>
    <p:sldId id="269" r:id="rId20"/>
    <p:sldId id="2149" r:id="rId21"/>
    <p:sldId id="2150" r:id="rId22"/>
    <p:sldId id="2151" r:id="rId23"/>
    <p:sldId id="2152" r:id="rId24"/>
    <p:sldId id="2153" r:id="rId25"/>
    <p:sldId id="2154" r:id="rId26"/>
    <p:sldId id="2155" r:id="rId27"/>
    <p:sldId id="2156" r:id="rId28"/>
    <p:sldId id="2157" r:id="rId29"/>
    <p:sldId id="2158" r:id="rId30"/>
    <p:sldId id="2160" r:id="rId31"/>
    <p:sldId id="2200" r:id="rId32"/>
    <p:sldId id="272" r:id="rId33"/>
    <p:sldId id="270" r:id="rId34"/>
    <p:sldId id="2207" r:id="rId35"/>
    <p:sldId id="2211" r:id="rId36"/>
    <p:sldId id="2212" r:id="rId37"/>
    <p:sldId id="411" r:id="rId38"/>
    <p:sldId id="2210" r:id="rId39"/>
    <p:sldId id="2186" r:id="rId40"/>
    <p:sldId id="2187" r:id="rId41"/>
    <p:sldId id="2190" r:id="rId42"/>
    <p:sldId id="2191" r:id="rId43"/>
    <p:sldId id="2216" r:id="rId44"/>
    <p:sldId id="2201" r:id="rId45"/>
    <p:sldId id="2202" r:id="rId46"/>
    <p:sldId id="2203" r:id="rId47"/>
    <p:sldId id="2204" r:id="rId48"/>
    <p:sldId id="2205" r:id="rId49"/>
    <p:sldId id="2189" r:id="rId50"/>
    <p:sldId id="2235" r:id="rId51"/>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1A1B"/>
    <a:srgbClr val="5C6896"/>
    <a:srgbClr val="8323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30"/>
    <p:restoredTop sz="85140"/>
  </p:normalViewPr>
  <p:slideViewPr>
    <p:cSldViewPr snapToGrid="0">
      <p:cViewPr varScale="1">
        <p:scale>
          <a:sx n="122" d="100"/>
          <a:sy n="122" d="100"/>
        </p:scale>
        <p:origin x="16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Chai" userId="1324968a148d377f" providerId="LiveId" clId="{8615CB36-5491-0043-812B-8B5419DF8F85}"/>
    <pc:docChg chg="undo addSld delSld modSld">
      <pc:chgData name="Henry Chai" userId="1324968a148d377f" providerId="LiveId" clId="{8615CB36-5491-0043-812B-8B5419DF8F85}" dt="2024-01-24T19:34:27.211" v="48" actId="729"/>
      <pc:docMkLst>
        <pc:docMk/>
      </pc:docMkLst>
      <pc:sldChg chg="add del mod modShow">
        <pc:chgData name="Henry Chai" userId="1324968a148d377f" providerId="LiveId" clId="{8615CB36-5491-0043-812B-8B5419DF8F85}" dt="2024-01-24T19:34:27.211" v="48" actId="729"/>
        <pc:sldMkLst>
          <pc:docMk/>
          <pc:sldMk cId="2558926416" sldId="411"/>
        </pc:sldMkLst>
      </pc:sldChg>
      <pc:sldChg chg="add del">
        <pc:chgData name="Henry Chai" userId="1324968a148d377f" providerId="LiveId" clId="{8615CB36-5491-0043-812B-8B5419DF8F85}" dt="2024-01-24T19:34:20.305" v="45" actId="2696"/>
        <pc:sldMkLst>
          <pc:docMk/>
          <pc:sldMk cId="2741740285" sldId="837"/>
        </pc:sldMkLst>
      </pc:sldChg>
      <pc:sldChg chg="add del">
        <pc:chgData name="Henry Chai" userId="1324968a148d377f" providerId="LiveId" clId="{8615CB36-5491-0043-812B-8B5419DF8F85}" dt="2024-01-24T19:34:20.132" v="29" actId="2696"/>
        <pc:sldMkLst>
          <pc:docMk/>
          <pc:sldMk cId="3652807383" sldId="838"/>
        </pc:sldMkLst>
      </pc:sldChg>
      <pc:sldChg chg="add del">
        <pc:chgData name="Henry Chai" userId="1324968a148d377f" providerId="LiveId" clId="{8615CB36-5491-0043-812B-8B5419DF8F85}" dt="2024-01-24T19:34:20.230" v="33" actId="2696"/>
        <pc:sldMkLst>
          <pc:docMk/>
          <pc:sldMk cId="4131570552" sldId="839"/>
        </pc:sldMkLst>
      </pc:sldChg>
      <pc:sldChg chg="add del mod modShow">
        <pc:chgData name="Henry Chai" userId="1324968a148d377f" providerId="LiveId" clId="{8615CB36-5491-0043-812B-8B5419DF8F85}" dt="2024-01-24T19:34:27.211" v="48" actId="729"/>
        <pc:sldMkLst>
          <pc:docMk/>
          <pc:sldMk cId="3109901595" sldId="2186"/>
        </pc:sldMkLst>
      </pc:sldChg>
      <pc:sldChg chg="add del mod modShow">
        <pc:chgData name="Henry Chai" userId="1324968a148d377f" providerId="LiveId" clId="{8615CB36-5491-0043-812B-8B5419DF8F85}" dt="2024-01-24T19:34:27.211" v="48" actId="729"/>
        <pc:sldMkLst>
          <pc:docMk/>
          <pc:sldMk cId="3018491238" sldId="2187"/>
        </pc:sldMkLst>
      </pc:sldChg>
      <pc:sldChg chg="add del mod modShow">
        <pc:chgData name="Henry Chai" userId="1324968a148d377f" providerId="LiveId" clId="{8615CB36-5491-0043-812B-8B5419DF8F85}" dt="2024-01-24T19:34:27.211" v="48" actId="729"/>
        <pc:sldMkLst>
          <pc:docMk/>
          <pc:sldMk cId="4002882463" sldId="2189"/>
        </pc:sldMkLst>
      </pc:sldChg>
      <pc:sldChg chg="add del mod modShow">
        <pc:chgData name="Henry Chai" userId="1324968a148d377f" providerId="LiveId" clId="{8615CB36-5491-0043-812B-8B5419DF8F85}" dt="2024-01-24T19:34:27.211" v="48" actId="729"/>
        <pc:sldMkLst>
          <pc:docMk/>
          <pc:sldMk cId="1537769852" sldId="2190"/>
        </pc:sldMkLst>
      </pc:sldChg>
      <pc:sldChg chg="add del">
        <pc:chgData name="Henry Chai" userId="1324968a148d377f" providerId="LiveId" clId="{8615CB36-5491-0043-812B-8B5419DF8F85}" dt="2024-01-24T19:34:20.116" v="26" actId="2696"/>
        <pc:sldMkLst>
          <pc:docMk/>
          <pc:sldMk cId="4069219955" sldId="2191"/>
        </pc:sldMkLst>
      </pc:sldChg>
      <pc:sldChg chg="add del">
        <pc:chgData name="Henry Chai" userId="1324968a148d377f" providerId="LiveId" clId="{8615CB36-5491-0043-812B-8B5419DF8F85}" dt="2024-01-24T19:34:20.126" v="27" actId="2696"/>
        <pc:sldMkLst>
          <pc:docMk/>
          <pc:sldMk cId="1181635118" sldId="2194"/>
        </pc:sldMkLst>
      </pc:sldChg>
      <pc:sldChg chg="add del mod modShow">
        <pc:chgData name="Henry Chai" userId="1324968a148d377f" providerId="LiveId" clId="{8615CB36-5491-0043-812B-8B5419DF8F85}" dt="2024-01-24T19:34:27.211" v="48" actId="729"/>
        <pc:sldMkLst>
          <pc:docMk/>
          <pc:sldMk cId="2127121488" sldId="2199"/>
        </pc:sldMkLst>
      </pc:sldChg>
      <pc:sldChg chg="add del mod modShow">
        <pc:chgData name="Henry Chai" userId="1324968a148d377f" providerId="LiveId" clId="{8615CB36-5491-0043-812B-8B5419DF8F85}" dt="2024-01-24T19:34:27.211" v="48" actId="729"/>
        <pc:sldMkLst>
          <pc:docMk/>
          <pc:sldMk cId="3196729797" sldId="2201"/>
        </pc:sldMkLst>
      </pc:sldChg>
      <pc:sldChg chg="add del mod modShow">
        <pc:chgData name="Henry Chai" userId="1324968a148d377f" providerId="LiveId" clId="{8615CB36-5491-0043-812B-8B5419DF8F85}" dt="2024-01-24T19:34:27.211" v="48" actId="729"/>
        <pc:sldMkLst>
          <pc:docMk/>
          <pc:sldMk cId="4216401679" sldId="2202"/>
        </pc:sldMkLst>
      </pc:sldChg>
      <pc:sldChg chg="add del mod modShow">
        <pc:chgData name="Henry Chai" userId="1324968a148d377f" providerId="LiveId" clId="{8615CB36-5491-0043-812B-8B5419DF8F85}" dt="2024-01-24T19:34:27.211" v="48" actId="729"/>
        <pc:sldMkLst>
          <pc:docMk/>
          <pc:sldMk cId="3259217031" sldId="2203"/>
        </pc:sldMkLst>
      </pc:sldChg>
      <pc:sldChg chg="add del mod modShow">
        <pc:chgData name="Henry Chai" userId="1324968a148d377f" providerId="LiveId" clId="{8615CB36-5491-0043-812B-8B5419DF8F85}" dt="2024-01-24T19:34:27.211" v="48" actId="729"/>
        <pc:sldMkLst>
          <pc:docMk/>
          <pc:sldMk cId="1198342239" sldId="2204"/>
        </pc:sldMkLst>
      </pc:sldChg>
      <pc:sldChg chg="add del mod modShow">
        <pc:chgData name="Henry Chai" userId="1324968a148d377f" providerId="LiveId" clId="{8615CB36-5491-0043-812B-8B5419DF8F85}" dt="2024-01-24T19:34:27.211" v="48" actId="729"/>
        <pc:sldMkLst>
          <pc:docMk/>
          <pc:sldMk cId="3001886418" sldId="2205"/>
        </pc:sldMkLst>
      </pc:sldChg>
      <pc:sldChg chg="add del mod modShow">
        <pc:chgData name="Henry Chai" userId="1324968a148d377f" providerId="LiveId" clId="{8615CB36-5491-0043-812B-8B5419DF8F85}" dt="2024-01-24T19:34:23.207" v="47" actId="729"/>
        <pc:sldMkLst>
          <pc:docMk/>
          <pc:sldMk cId="1093724668" sldId="2207"/>
        </pc:sldMkLst>
      </pc:sldChg>
      <pc:sldChg chg="add del">
        <pc:chgData name="Henry Chai" userId="1324968a148d377f" providerId="LiveId" clId="{8615CB36-5491-0043-812B-8B5419DF8F85}" dt="2024-01-24T19:34:20.163" v="30" actId="2696"/>
        <pc:sldMkLst>
          <pc:docMk/>
          <pc:sldMk cId="2036038040" sldId="2210"/>
        </pc:sldMkLst>
      </pc:sldChg>
      <pc:sldChg chg="add del mod modShow">
        <pc:chgData name="Henry Chai" userId="1324968a148d377f" providerId="LiveId" clId="{8615CB36-5491-0043-812B-8B5419DF8F85}" dt="2024-01-24T19:34:27.211" v="48" actId="729"/>
        <pc:sldMkLst>
          <pc:docMk/>
          <pc:sldMk cId="1142352050" sldId="2211"/>
        </pc:sldMkLst>
      </pc:sldChg>
      <pc:sldChg chg="add del mod modShow">
        <pc:chgData name="Henry Chai" userId="1324968a148d377f" providerId="LiveId" clId="{8615CB36-5491-0043-812B-8B5419DF8F85}" dt="2024-01-24T19:34:27.211" v="48" actId="729"/>
        <pc:sldMkLst>
          <pc:docMk/>
          <pc:sldMk cId="2858815544" sldId="2212"/>
        </pc:sldMkLst>
      </pc:sldChg>
      <pc:sldChg chg="add del mod modShow">
        <pc:chgData name="Henry Chai" userId="1324968a148d377f" providerId="LiveId" clId="{8615CB36-5491-0043-812B-8B5419DF8F85}" dt="2024-01-24T19:34:27.211" v="48" actId="729"/>
        <pc:sldMkLst>
          <pc:docMk/>
          <pc:sldMk cId="4000562865" sldId="2216"/>
        </pc:sldMkLst>
      </pc:sldChg>
      <pc:sldChg chg="add del">
        <pc:chgData name="Henry Chai" userId="1324968a148d377f" providerId="LiveId" clId="{8615CB36-5491-0043-812B-8B5419DF8F85}" dt="2024-01-24T19:34:20.249" v="37" actId="2696"/>
        <pc:sldMkLst>
          <pc:docMk/>
          <pc:sldMk cId="3743404360" sldId="2217"/>
        </pc:sldMkLst>
      </pc:sldChg>
      <pc:sldChg chg="add del">
        <pc:chgData name="Henry Chai" userId="1324968a148d377f" providerId="LiveId" clId="{8615CB36-5491-0043-812B-8B5419DF8F85}" dt="2024-01-24T19:34:20.282" v="40" actId="2696"/>
        <pc:sldMkLst>
          <pc:docMk/>
          <pc:sldMk cId="735351988" sldId="2218"/>
        </pc:sldMkLst>
      </pc:sldChg>
      <pc:sldChg chg="mod modShow">
        <pc:chgData name="Henry Chai" userId="1324968a148d377f" providerId="LiveId" clId="{8615CB36-5491-0043-812B-8B5419DF8F85}" dt="2024-01-24T19:34:07.598" v="0" actId="729"/>
        <pc:sldMkLst>
          <pc:docMk/>
          <pc:sldMk cId="492911001" sldId="2222"/>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8-31T14:35:44.706"/>
    </inkml:context>
    <inkml:brush xml:id="br0">
      <inkml:brushProperty name="width" value="0.5" units="cm"/>
      <inkml:brushProperty name="height" value="1" units="cm"/>
      <inkml:brushProperty name="color" value="#FFFC00"/>
      <inkml:brushProperty name="tip" value="rectangle"/>
      <inkml:brushProperty name="rasterOp" value="maskPen"/>
    </inkml:brush>
  </inkml:definitions>
  <inkml:trace contextRef="#ctx0" brushRef="#br0">0 1,'93'6,"-13"-2,-40-1,-3-2,-3 1,-2-2,-5 1,0 0,-2-1,0 1,8-1,-11 0,7 0,1 0,-8-1,16 1,-18-1,8 0,-2 2,3 0,-4 1,7-1,-8-1,0 1,7-1,-8 0,3 0,3-1,-6 1,7 0,-2 0,-4 0,7 0,-5 1,5-1,-4 1,-1 0,3 0,2-1,-1 1,-6 0,1-1,-3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8-31T14:35:54.872"/>
    </inkml:context>
    <inkml:brush xml:id="br0">
      <inkml:brushProperty name="width" value="0.5" units="cm"/>
      <inkml:brushProperty name="height" value="1" units="cm"/>
      <inkml:brushProperty name="color" value="#FFFC00"/>
      <inkml:brushProperty name="tip" value="rectangle"/>
      <inkml:brushProperty name="rasterOp" value="maskPen"/>
    </inkml:brush>
  </inkml:definitions>
  <inkml:trace contextRef="#ctx0" brushRef="#br0">1 0,'80'5,"-4"0,-30 0,-5 1,-7-4,-7 1,-3-2,1 1,12 0,-7 0,8 0,-12 0,-3-1,15 1,-12-2,8 1,-7-1,-7 0,22-1,-14 0,13 0,-14 0,4 1,-4 1,2 0,0-1,-3 0,-1 0,5 0,-9 0,16 0,-15 0,4 0,2 2,-5-1,3 2,-2-1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8-31T14:35:58.838"/>
    </inkml:context>
    <inkml:brush xml:id="br0">
      <inkml:brushProperty name="width" value="0.5" units="cm"/>
      <inkml:brushProperty name="height" value="1" units="cm"/>
      <inkml:brushProperty name="color" value="#FFFC00"/>
      <inkml:brushProperty name="tip" value="rectangle"/>
      <inkml:brushProperty name="rasterOp" value="maskPen"/>
    </inkml:brush>
  </inkml:definitions>
  <inkml:trace contextRef="#ctx0" brushRef="#br0">0 1,'88'7,"-4"0,-21 0,-2-1,-4-3,-7 1,-9-3,2 0,-7-1,3 0,-4 0,1 0,4 0,-7-1,4 0,-3 1,-7 2,-3 0,9 1,-9-3,14 0,-14-1,3 1,0 0,1 0,2 0,0 0,1 0,5 0,0-1,6 0,-1 0,0 0,0-1,-7 2,0-1,0 1,-2 0,3 1,2 0,3 2,-1-1,9-1,3 0,15-2,5 0,-11 0,-11-1,-15 1,14-2,0 1,12 0,-10 2,3 0,-5 0,5 0,-6 0,1 0,-1 1,-1 1,9 0,-1-1,10 1,-7-1,6 1,-2-1,4 1,3-2,-1 1,-3-1,-5 0,-1 0,-7 0,-4 0,-4 0,-2-1,-2 2,-1-2,-3 2,1-1,2 0,3-1,20-1,0-1,20-2,-4 1,5 0,-7 1,1 2,-13 1,7 0,-14 0,-7-1,-1 1,-10 0,6 0,-5 1,-5 0,-3-1,-5 1,0-1,1 0,0 0,7 0,0 0,2 0,14 0,-2 1,11-1,-14 4,-1-4,-13 3,-6-2,-1 0,1 0,3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8-31T14:36:17.189"/>
    </inkml:context>
    <inkml:brush xml:id="br0">
      <inkml:brushProperty name="width" value="0.5" units="cm"/>
      <inkml:brushProperty name="height" value="1" units="cm"/>
      <inkml:brushProperty name="color" value="#FFFC00"/>
      <inkml:brushProperty name="tip" value="rectangle"/>
      <inkml:brushProperty name="rasterOp" value="maskPen"/>
    </inkml:brush>
  </inkml:definitions>
  <inkml:trace contextRef="#ctx0" brushRef="#br0">1 109,'89'-4,"-10"1,-31 3,-4-1,-2 0,3 0,-1 0,2 0,-8 0,-1-1,-4 2,5 0,2-1,9 0,2-2,8 1,-10 0,0 0,-9 0,0 1,-1-2,-3 2,-2 0,-4-1,-1 1,3-1,0-1,3 1,1-1,-6 1,-4 0,-2 1,1-1,1 2,8-1,-12 1,6 0,-4-1,2 1,1 0,5 0,-9 0,5-1,2 0,-7 1,9-1,-9 0,1 1,2-1,2 1,6-1,1 0,2 0,-2 1,1 0,-1 0,6 0,1 0,4 0,-1-1,4 0,-8-1,4-1,-8 2,5-1,-5 1,-1 0,-1 0,-3 0,2-1,2 0,3 2,3 0,-3 1,2-1,-3-2,2 0,-1-1,0 2,-1 0,-1 1,1-1,0-1,1 2,6-2,0 2,12-3,-1 1,2 0,1 1,-5 0,2 2,-7-1,-2 1,-6-1,0 0,2 0,-2 1,-1 0,-6 0,2 0,-2 0,3 0,0 2,-2-1,0-1,-1 1,1 0,0-2,-1 2,3-2,-2 2,3-2,1 2,-1-1,1 1,-5-1,2 0,-7 0,-3-1,-1 0,-1 0,2 0,2 0,-1 0,-1 0,-19 35,-40-18,-15 24,-28-28,6-8,-3 1,-6-4,17 0,6 0,1 0,-6-2,-24-1,13-1,0-2,13 2,5 0,5-1,0 1,10-1,-2 1,5 1,0 0,-1 0,-1 1,2 0,-3 0,2 0,-4-1,3 0,-2-1,5 1,-3 1,3-1,-2 1,-1-2,-1 2,-1-2,1 1,0 0,0 1,-5 0,2 0,-3 0,6 0,-1 0,-1 0,2 1,-1 0,0 0,0 0,-3 0,-9-1,0 0,-1 1,1-1,5 2,3-1,0 1,6 0,-1 0,-1-1,3 2,1-2,2 0,1-1,5 0,-1 1,6 0,-4-1,-1 0,-4 1,-2-1,-3 2,0-2,1 1,-1-2,6 0,1-1,1 1,2 0,-4 0,4 1,-3 0,2-1,-5 0,0 1,-4-1,2 1,-1-2,-4 0,-4-2,-2 0,-3 0,5 2,-3 1,8-1,0 2,6-1,2 1,5 0,0 0,0-1,-4 0,-1-1,-1 1,2 0,0 2,0-2,-5 1,2 0,0-1,5 1,1 0,0 0,3 0,-7 0,10 0,-8-7,13-20,3 10,7-17,46 23,-10 2,41 7,-28 4,3 0,-9-3,5 1,-3-1,-1 1,-2 0,-6 0,-5-1,7 1,-9-2,14 2,-8-1,4 1,1 0,-4-1,0 1,-4-1,0 1,2 0,1 0,5 1,0-1,0 1,4-1,-5 0,1 0,-5 0,-5 1,-3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8-31T14:36:25.843"/>
    </inkml:context>
    <inkml:brush xml:id="br0">
      <inkml:brushProperty name="width" value="0.5" units="cm"/>
      <inkml:brushProperty name="height" value="1" units="cm"/>
      <inkml:brushProperty name="color" value="#00FDFF"/>
      <inkml:brushProperty name="tip" value="rectangle"/>
      <inkml:brushProperty name="rasterOp" value="maskPen"/>
    </inkml:brush>
  </inkml:definitions>
  <inkml:trace contextRef="#ctx0" brushRef="#br0">0 0,'96'11,"-7"-2,-34-5,5-2,2 1,4-1,-8-1,-6 2,-10-2,-6 0,-1 1,-6-2,-2 1,-3-1,8 2,-6-1,8 2,-7-3,0 1,4-1,3 0,7 2,0-1,7 3,-6-4,-1 4,-9-4,-4 1,-5 0,10-1,-8 1,5-1,-3 0,-8-1,13 2,-9-4,6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8-31T14:36:31.188"/>
    </inkml:context>
    <inkml:brush xml:id="br0">
      <inkml:brushProperty name="width" value="0.5" units="cm"/>
      <inkml:brushProperty name="height" value="1" units="cm"/>
      <inkml:brushProperty name="color" value="#00FDFF"/>
      <inkml:brushProperty name="tip" value="rectangle"/>
      <inkml:brushProperty name="rasterOp" value="maskPen"/>
    </inkml:brush>
  </inkml:definitions>
  <inkml:trace contextRef="#ctx0" brushRef="#br0">0 84,'88'-8,"-11"4,-34 6,-2 1,-2 0,-1-1,-1-1,-4-1,-1 2,-4-2,-1 1,0-1,2 0,2 0,0-1,2 0,-2-1,1 2,-2-1,-1 1,-3-1,1 1,0-2,5 0,0 1,3-1,0 0,-2 0,3 0,-3 1,-1 0,-1 0,-4 0,5 1,0-1,1 1,0-2,-3 1,4 0,0-1,5 1,-2-2,2 2,-3 0,2 0,0-2,1 1,1-2,-5 1,-3 0,15-1,-11 2,16-1,-12 0,0 2,-1-2,-2 1,3-1,-2 0,1 1,-5 1,1-1,-2 1,3 0,-2 1,-3 0,-3 0,3 0,2 0,2 0,-1 0,1 0,-3 0,3 0,-3-1,4 0,0 0,3 1,-3 0,0 0,0 0,3 0,-3 1,4 1,0 0,11-1,-1 2,4-2,-6 1,11 2,3-2,20 2,-6-4,1 2,-4-1,-24-1,0 1,-10 0,-4-1,20 0,0 2,7-1,-3 1,-8-2,-7 0,-2 0,-2 0,5 0,1 0,1 0,-2 0,-4 0,0 0,-6 0,1 0,-4 0,-2 0,4 0,-11-1,6 1,-5-1,0 2,1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110D55A9-3A7F-D74E-916F-4D86EE728B75}" type="datetimeFigureOut">
              <a:rPr lang="en-US" smtClean="0"/>
              <a:t>8/26/26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A91DDA5-E8A4-664E-9D2F-20BB38FCFE1F}" type="slidenum">
              <a:rPr lang="en-US" smtClean="0"/>
              <a:t>‹#›</a:t>
            </a:fld>
            <a:endParaRPr lang="en-US"/>
          </a:p>
        </p:txBody>
      </p:sp>
    </p:spTree>
    <p:extLst>
      <p:ext uri="{BB962C8B-B14F-4D97-AF65-F5344CB8AC3E}">
        <p14:creationId xmlns:p14="http://schemas.microsoft.com/office/powerpoint/2010/main" val="224763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a:t>
            </a:fld>
            <a:endParaRPr lang="en-US"/>
          </a:p>
        </p:txBody>
      </p:sp>
    </p:spTree>
    <p:extLst>
      <p:ext uri="{BB962C8B-B14F-4D97-AF65-F5344CB8AC3E}">
        <p14:creationId xmlns:p14="http://schemas.microsoft.com/office/powerpoint/2010/main" val="335896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0A8895-A308-DC44-9938-C42D876EE231}" type="slidenum">
              <a:rPr lang="en-US" smtClean="0"/>
              <a:t>3</a:t>
            </a:fld>
            <a:endParaRPr lang="en-US"/>
          </a:p>
        </p:txBody>
      </p:sp>
    </p:spTree>
    <p:extLst>
      <p:ext uri="{BB962C8B-B14F-4D97-AF65-F5344CB8AC3E}">
        <p14:creationId xmlns:p14="http://schemas.microsoft.com/office/powerpoint/2010/main" val="3635243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try to visualize it, and so only look at sepal length and width. </a:t>
            </a:r>
          </a:p>
        </p:txBody>
      </p:sp>
      <p:sp>
        <p:nvSpPr>
          <p:cNvPr id="4" name="Slide Number Placeholder 3"/>
          <p:cNvSpPr>
            <a:spLocks noGrp="1"/>
          </p:cNvSpPr>
          <p:nvPr>
            <p:ph type="sldNum" sz="quarter" idx="5"/>
          </p:nvPr>
        </p:nvSpPr>
        <p:spPr/>
        <p:txBody>
          <a:bodyPr/>
          <a:lstStyle/>
          <a:p>
            <a:fld id="{CB0A8895-A308-DC44-9938-C42D876EE231}" type="slidenum">
              <a:rPr lang="en-US" smtClean="0"/>
              <a:t>4</a:t>
            </a:fld>
            <a:endParaRPr lang="en-US"/>
          </a:p>
        </p:txBody>
      </p:sp>
    </p:spTree>
    <p:extLst>
      <p:ext uri="{BB962C8B-B14F-4D97-AF65-F5344CB8AC3E}">
        <p14:creationId xmlns:p14="http://schemas.microsoft.com/office/powerpoint/2010/main" val="3158824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B0A8895-A308-DC44-9938-C42D876EE231}" type="slidenum">
              <a:rPr lang="en-US" smtClean="0"/>
              <a:t>5</a:t>
            </a:fld>
            <a:endParaRPr lang="en-US"/>
          </a:p>
        </p:txBody>
      </p:sp>
    </p:spTree>
    <p:extLst>
      <p:ext uri="{BB962C8B-B14F-4D97-AF65-F5344CB8AC3E}">
        <p14:creationId xmlns:p14="http://schemas.microsoft.com/office/powerpoint/2010/main" val="4232586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62B5D-E3B1-37F8-4BE6-5F5FC83C4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B1781-40F2-3DF9-0BB8-B5C388830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607FEE-09BA-2EFD-4A84-8A4E91A5EC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9ED000-2FD1-8729-C5C3-9CB028707C8C}"/>
              </a:ext>
            </a:extLst>
          </p:cNvPr>
          <p:cNvSpPr>
            <a:spLocks noGrp="1"/>
          </p:cNvSpPr>
          <p:nvPr>
            <p:ph type="sldNum" sz="quarter" idx="5"/>
          </p:nvPr>
        </p:nvSpPr>
        <p:spPr/>
        <p:txBody>
          <a:bodyPr/>
          <a:lstStyle/>
          <a:p>
            <a:fld id="{CB0A8895-A308-DC44-9938-C42D876EE231}" type="slidenum">
              <a:rPr lang="en-US" smtClean="0"/>
              <a:t>6</a:t>
            </a:fld>
            <a:endParaRPr lang="en-US"/>
          </a:p>
        </p:txBody>
      </p:sp>
    </p:spTree>
    <p:extLst>
      <p:ext uri="{BB962C8B-B14F-4D97-AF65-F5344CB8AC3E}">
        <p14:creationId xmlns:p14="http://schemas.microsoft.com/office/powerpoint/2010/main" val="1502070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you make the </a:t>
            </a:r>
            <a:r>
              <a:rPr lang="en-US" sz="1200" b="1" i="0" u="none" strike="noStrike" kern="1200" dirty="0">
                <a:solidFill>
                  <a:schemeClr val="tx1"/>
                </a:solidFill>
                <a:effectLst/>
                <a:latin typeface="+mn-lt"/>
                <a:ea typeface="+mn-ea"/>
                <a:cs typeface="+mn-cs"/>
              </a:rPr>
              <a:t>most plausible guess</a:t>
            </a:r>
            <a:r>
              <a:rPr lang="en-US" sz="1200" b="0" i="0" u="none" strike="noStrike" kern="1200" dirty="0">
                <a:solidFill>
                  <a:schemeClr val="tx1"/>
                </a:solidFill>
                <a:effectLst/>
                <a:latin typeface="+mn-lt"/>
                <a:ea typeface="+mn-ea"/>
                <a:cs typeface="+mn-cs"/>
              </a:rPr>
              <a:t> given the available evidence → that’s abductive reasoning</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A form of common sense reasoning. </a:t>
            </a:r>
          </a:p>
          <a:p>
            <a:endParaRPr lang="en-US" dirty="0"/>
          </a:p>
          <a:p>
            <a:r>
              <a:rPr lang="en-US" sz="1200" b="0" i="0" u="none" strike="noStrike" kern="1200" dirty="0">
                <a:solidFill>
                  <a:schemeClr val="tx1"/>
                </a:solidFill>
                <a:effectLst/>
                <a:latin typeface="+mn-lt"/>
                <a:ea typeface="+mn-ea"/>
                <a:cs typeface="+mn-cs"/>
              </a:rPr>
              <a:t>Inductive reasoning moves from specific observations to broad generalizations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abductive reasoning takes incomplete observations and jumps to the most likely explanation</a:t>
            </a:r>
          </a:p>
        </p:txBody>
      </p:sp>
      <p:sp>
        <p:nvSpPr>
          <p:cNvPr id="4" name="Slide Number Placeholder 3"/>
          <p:cNvSpPr>
            <a:spLocks noGrp="1"/>
          </p:cNvSpPr>
          <p:nvPr>
            <p:ph type="sldNum" sz="quarter" idx="5"/>
          </p:nvPr>
        </p:nvSpPr>
        <p:spPr/>
        <p:txBody>
          <a:bodyPr/>
          <a:lstStyle/>
          <a:p>
            <a:fld id="{0A91DDA5-E8A4-664E-9D2F-20BB38FCFE1F}" type="slidenum">
              <a:rPr lang="en-US" smtClean="0"/>
              <a:t>7</a:t>
            </a:fld>
            <a:endParaRPr lang="en-US"/>
          </a:p>
        </p:txBody>
      </p:sp>
    </p:spTree>
    <p:extLst>
      <p:ext uri="{BB962C8B-B14F-4D97-AF65-F5344CB8AC3E}">
        <p14:creationId xmlns:p14="http://schemas.microsoft.com/office/powerpoint/2010/main" val="1081830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it memorization?</a:t>
            </a:r>
          </a:p>
        </p:txBody>
      </p:sp>
      <p:sp>
        <p:nvSpPr>
          <p:cNvPr id="4" name="Slide Number Placeholder 3"/>
          <p:cNvSpPr>
            <a:spLocks noGrp="1"/>
          </p:cNvSpPr>
          <p:nvPr>
            <p:ph type="sldNum" sz="quarter" idx="5"/>
          </p:nvPr>
        </p:nvSpPr>
        <p:spPr/>
        <p:txBody>
          <a:bodyPr/>
          <a:lstStyle/>
          <a:p>
            <a:fld id="{0A91DDA5-E8A4-664E-9D2F-20BB38FCFE1F}" type="slidenum">
              <a:rPr lang="en-US" smtClean="0"/>
              <a:t>8</a:t>
            </a:fld>
            <a:endParaRPr lang="en-US"/>
          </a:p>
        </p:txBody>
      </p:sp>
    </p:spTree>
    <p:extLst>
      <p:ext uri="{BB962C8B-B14F-4D97-AF65-F5344CB8AC3E}">
        <p14:creationId xmlns:p14="http://schemas.microsoft.com/office/powerpoint/2010/main" val="3156550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2BF22-0ACD-2304-2164-B09D78065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EAE86-588E-189C-B24A-D1F7A8E40F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AE44F-E12C-E143-56CA-470CA0D4EC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C10624-4248-E87B-8549-00C8B3EEE8C6}"/>
              </a:ext>
            </a:extLst>
          </p:cNvPr>
          <p:cNvSpPr>
            <a:spLocks noGrp="1"/>
          </p:cNvSpPr>
          <p:nvPr>
            <p:ph type="sldNum" sz="quarter" idx="5"/>
          </p:nvPr>
        </p:nvSpPr>
        <p:spPr/>
        <p:txBody>
          <a:bodyPr/>
          <a:lstStyle/>
          <a:p>
            <a:fld id="{0A91DDA5-E8A4-664E-9D2F-20BB38FCFE1F}" type="slidenum">
              <a:rPr lang="en-US" smtClean="0"/>
              <a:t>9</a:t>
            </a:fld>
            <a:endParaRPr lang="en-US"/>
          </a:p>
        </p:txBody>
      </p:sp>
    </p:spTree>
    <p:extLst>
      <p:ext uri="{BB962C8B-B14F-4D97-AF65-F5344CB8AC3E}">
        <p14:creationId xmlns:p14="http://schemas.microsoft.com/office/powerpoint/2010/main" val="3063135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10</a:t>
            </a:fld>
            <a:endParaRPr lang="en-US"/>
          </a:p>
        </p:txBody>
      </p:sp>
    </p:spTree>
    <p:extLst>
      <p:ext uri="{BB962C8B-B14F-4D97-AF65-F5344CB8AC3E}">
        <p14:creationId xmlns:p14="http://schemas.microsoft.com/office/powerpoint/2010/main" val="381210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1NN=</a:t>
            </a:r>
            <a:r>
              <a:rPr lang="en-US" sz="1200" b="0" i="0" u="none" strike="noStrike" kern="1200" dirty="0">
                <a:solidFill>
                  <a:schemeClr val="tx1"/>
                </a:solidFill>
                <a:effectLst/>
                <a:latin typeface="+mn-lt"/>
                <a:ea typeface="+mn-ea"/>
                <a:cs typeface="+mn-cs"/>
              </a:rPr>
              <a:t>Voronoi diagram</a:t>
            </a:r>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11</a:t>
            </a:fld>
            <a:endParaRPr lang="en-US"/>
          </a:p>
        </p:txBody>
      </p:sp>
    </p:spTree>
    <p:extLst>
      <p:ext uri="{BB962C8B-B14F-4D97-AF65-F5344CB8AC3E}">
        <p14:creationId xmlns:p14="http://schemas.microsoft.com/office/powerpoint/2010/main" val="1914010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12</a:t>
            </a:fld>
            <a:endParaRPr lang="en-US"/>
          </a:p>
        </p:txBody>
      </p:sp>
    </p:spTree>
    <p:extLst>
      <p:ext uri="{BB962C8B-B14F-4D97-AF65-F5344CB8AC3E}">
        <p14:creationId xmlns:p14="http://schemas.microsoft.com/office/powerpoint/2010/main" val="3355307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13</a:t>
            </a:fld>
            <a:endParaRPr lang="en-US"/>
          </a:p>
        </p:txBody>
      </p:sp>
    </p:spTree>
    <p:extLst>
      <p:ext uri="{BB962C8B-B14F-4D97-AF65-F5344CB8AC3E}">
        <p14:creationId xmlns:p14="http://schemas.microsoft.com/office/powerpoint/2010/main" val="2273030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it uses the bayes rule to compute the probability of each class label given a input data. Selects the highest probability. </a:t>
            </a:r>
          </a:p>
        </p:txBody>
      </p:sp>
      <p:sp>
        <p:nvSpPr>
          <p:cNvPr id="4" name="Slide Number Placeholder 3"/>
          <p:cNvSpPr>
            <a:spLocks noGrp="1"/>
          </p:cNvSpPr>
          <p:nvPr>
            <p:ph type="sldNum" sz="quarter" idx="5"/>
          </p:nvPr>
        </p:nvSpPr>
        <p:spPr/>
        <p:txBody>
          <a:bodyPr/>
          <a:lstStyle/>
          <a:p>
            <a:fld id="{0A91DDA5-E8A4-664E-9D2F-20BB38FCFE1F}" type="slidenum">
              <a:rPr lang="en-US" smtClean="0"/>
              <a:t>14</a:t>
            </a:fld>
            <a:endParaRPr lang="en-US"/>
          </a:p>
        </p:txBody>
      </p:sp>
    </p:spTree>
    <p:extLst>
      <p:ext uri="{BB962C8B-B14F-4D97-AF65-F5344CB8AC3E}">
        <p14:creationId xmlns:p14="http://schemas.microsoft.com/office/powerpoint/2010/main" val="24648437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15</a:t>
            </a:fld>
            <a:endParaRPr lang="en-US"/>
          </a:p>
        </p:txBody>
      </p:sp>
    </p:spTree>
    <p:extLst>
      <p:ext uri="{BB962C8B-B14F-4D97-AF65-F5344CB8AC3E}">
        <p14:creationId xmlns:p14="http://schemas.microsoft.com/office/powerpoint/2010/main" val="4078358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7159B-5FF6-1E47-74CD-29860D70F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5E08D-26F8-13C6-7C65-EC6FB9B9D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9F45E-1930-DBD9-3C5A-797E7F2DF5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225589-4FCF-C389-6BBE-5BBC88E8F507}"/>
              </a:ext>
            </a:extLst>
          </p:cNvPr>
          <p:cNvSpPr>
            <a:spLocks noGrp="1"/>
          </p:cNvSpPr>
          <p:nvPr>
            <p:ph type="sldNum" sz="quarter" idx="5"/>
          </p:nvPr>
        </p:nvSpPr>
        <p:spPr/>
        <p:txBody>
          <a:bodyPr/>
          <a:lstStyle/>
          <a:p>
            <a:fld id="{0A91DDA5-E8A4-664E-9D2F-20BB38FCFE1F}" type="slidenum">
              <a:rPr lang="en-US" smtClean="0"/>
              <a:t>16</a:t>
            </a:fld>
            <a:endParaRPr lang="en-US"/>
          </a:p>
        </p:txBody>
      </p:sp>
    </p:spTree>
    <p:extLst>
      <p:ext uri="{BB962C8B-B14F-4D97-AF65-F5344CB8AC3E}">
        <p14:creationId xmlns:p14="http://schemas.microsoft.com/office/powerpoint/2010/main" val="2047389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9B654-7704-3C2C-B828-E250487D8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F51D8-DE4E-36FE-D9AB-0914F0A52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8C6DB-A0BD-1218-EC07-EFE354DE6E52}"/>
              </a:ext>
            </a:extLst>
          </p:cNvPr>
          <p:cNvSpPr>
            <a:spLocks noGrp="1"/>
          </p:cNvSpPr>
          <p:nvPr>
            <p:ph type="body" idx="1"/>
          </p:nvPr>
        </p:nvSpPr>
        <p:spPr/>
        <p:txBody>
          <a:bodyPr/>
          <a:lstStyle/>
          <a:p>
            <a:r>
              <a:rPr lang="en-US" altLang="zh-CN" dirty="0"/>
              <a:t>Another</a:t>
            </a:r>
            <a:r>
              <a:rPr lang="zh-CN" altLang="en-US" dirty="0"/>
              <a:t> </a:t>
            </a:r>
            <a:r>
              <a:rPr lang="en-US" altLang="zh-CN" dirty="0"/>
              <a:t>condition</a:t>
            </a:r>
            <a:r>
              <a:rPr lang="zh-CN" altLang="en-US" dirty="0"/>
              <a:t> </a:t>
            </a:r>
            <a:r>
              <a:rPr lang="en-US" altLang="zh-CN" dirty="0"/>
              <a:t>is,</a:t>
            </a:r>
            <a:r>
              <a:rPr lang="zh-CN" altLang="en-US" dirty="0"/>
              <a:t> </a:t>
            </a:r>
            <a:r>
              <a:rPr lang="en-US" altLang="zh-CN" dirty="0"/>
              <a:t>the</a:t>
            </a:r>
            <a:r>
              <a:rPr lang="zh-CN" altLang="en-US" dirty="0"/>
              <a:t> </a:t>
            </a:r>
            <a:r>
              <a:rPr lang="en-US" altLang="zh-CN" dirty="0"/>
              <a:t>probability</a:t>
            </a:r>
            <a:r>
              <a:rPr lang="zh-CN" altLang="en-US" dirty="0"/>
              <a:t> </a:t>
            </a:r>
            <a:r>
              <a:rPr lang="en-US" altLang="zh-CN" dirty="0"/>
              <a:t>distribution</a:t>
            </a:r>
            <a:r>
              <a:rPr lang="zh-CN" altLang="en-US" dirty="0"/>
              <a:t> </a:t>
            </a:r>
            <a:r>
              <a:rPr lang="en-US" altLang="zh-CN" dirty="0"/>
              <a:t>of</a:t>
            </a:r>
            <a:r>
              <a:rPr lang="zh-CN" altLang="en-US" dirty="0"/>
              <a:t> </a:t>
            </a:r>
            <a:r>
              <a:rPr lang="en-US" altLang="zh-CN" dirty="0"/>
              <a:t>classes</a:t>
            </a:r>
            <a:r>
              <a:rPr lang="zh-CN" altLang="en-US" dirty="0"/>
              <a:t> </a:t>
            </a:r>
            <a:r>
              <a:rPr lang="en-US" altLang="zh-CN" dirty="0"/>
              <a:t>condition</a:t>
            </a:r>
            <a:r>
              <a:rPr lang="zh-CN" altLang="en-US" dirty="0"/>
              <a:t> </a:t>
            </a:r>
            <a:r>
              <a:rPr lang="en-US" altLang="zh-CN" dirty="0"/>
              <a:t>on</a:t>
            </a:r>
            <a:r>
              <a:rPr lang="zh-CN" altLang="en-US" dirty="0"/>
              <a:t> </a:t>
            </a:r>
            <a:r>
              <a:rPr lang="en-US" altLang="zh-CN" dirty="0"/>
              <a:t>input</a:t>
            </a:r>
            <a:r>
              <a:rPr lang="zh-CN" altLang="en-US" dirty="0"/>
              <a:t> </a:t>
            </a:r>
            <a:r>
              <a:rPr lang="en-US" altLang="zh-CN" dirty="0"/>
              <a:t>feature,</a:t>
            </a:r>
            <a:r>
              <a:rPr lang="zh-CN" altLang="en-US" dirty="0"/>
              <a:t> </a:t>
            </a:r>
            <a:r>
              <a:rPr lang="en-US" altLang="zh-CN" dirty="0"/>
              <a:t>is</a:t>
            </a:r>
            <a:r>
              <a:rPr lang="zh-CN" altLang="en-US" dirty="0"/>
              <a:t> </a:t>
            </a:r>
            <a:r>
              <a:rPr lang="en-US" altLang="zh-CN" dirty="0"/>
              <a:t>continuous</a:t>
            </a:r>
            <a:r>
              <a:rPr lang="zh-CN" altLang="en-US" dirty="0"/>
              <a:t> </a:t>
            </a:r>
            <a:r>
              <a:rPr lang="en-US" altLang="zh-CN" dirty="0"/>
              <a:t>and</a:t>
            </a:r>
            <a:r>
              <a:rPr lang="zh-CN" altLang="en-US" dirty="0"/>
              <a:t> </a:t>
            </a:r>
            <a:r>
              <a:rPr lang="en-US" altLang="zh-CN" dirty="0"/>
              <a:t>smooth.</a:t>
            </a:r>
            <a:r>
              <a:rPr lang="zh-CN" altLang="en-US" dirty="0"/>
              <a:t> </a:t>
            </a:r>
            <a:r>
              <a:rPr lang="en-US" altLang="zh-CN" dirty="0"/>
              <a:t>Therefore,</a:t>
            </a:r>
            <a:r>
              <a:rPr lang="zh-CN" altLang="en-US" dirty="0"/>
              <a:t> </a:t>
            </a:r>
            <a:r>
              <a:rPr lang="en-US" altLang="zh-CN" dirty="0"/>
              <a:t>when</a:t>
            </a:r>
            <a:r>
              <a:rPr lang="zh-CN" altLang="en-US" dirty="0"/>
              <a:t> </a:t>
            </a:r>
            <a:r>
              <a:rPr lang="en-US" altLang="zh-CN" dirty="0"/>
              <a:t>two</a:t>
            </a:r>
            <a:r>
              <a:rPr lang="zh-CN" altLang="en-US" dirty="0"/>
              <a:t> </a:t>
            </a:r>
            <a:r>
              <a:rPr lang="en-US" altLang="zh-CN" dirty="0"/>
              <a:t>points</a:t>
            </a:r>
            <a:r>
              <a:rPr lang="zh-CN" altLang="en-US" dirty="0"/>
              <a:t> </a:t>
            </a:r>
            <a:r>
              <a:rPr lang="en-US" altLang="zh-CN" dirty="0"/>
              <a:t>are</a:t>
            </a:r>
            <a:r>
              <a:rPr lang="zh-CN" altLang="en-US" dirty="0"/>
              <a:t> </a:t>
            </a:r>
            <a:r>
              <a:rPr lang="en-US" altLang="zh-CN" dirty="0"/>
              <a:t>extremely</a:t>
            </a:r>
            <a:r>
              <a:rPr lang="zh-CN" altLang="en-US" dirty="0"/>
              <a:t> </a:t>
            </a:r>
            <a:r>
              <a:rPr lang="en-US" altLang="zh-CN" dirty="0"/>
              <a:t>close,</a:t>
            </a:r>
            <a:r>
              <a:rPr lang="zh-CN" altLang="en-US" dirty="0"/>
              <a:t> </a:t>
            </a:r>
            <a:r>
              <a:rPr lang="en-US" altLang="zh-CN" dirty="0"/>
              <a:t>their</a:t>
            </a:r>
            <a:r>
              <a:rPr lang="zh-CN" altLang="en-US" dirty="0"/>
              <a:t> </a:t>
            </a:r>
            <a:r>
              <a:rPr lang="en-US" altLang="zh-CN" dirty="0"/>
              <a:t>labels</a:t>
            </a:r>
            <a:r>
              <a:rPr lang="zh-CN" altLang="en-US" dirty="0"/>
              <a:t> </a:t>
            </a:r>
            <a:r>
              <a:rPr lang="en-US" altLang="zh-CN" dirty="0"/>
              <a:t>should</a:t>
            </a:r>
            <a:r>
              <a:rPr lang="zh-CN" altLang="en-US" dirty="0"/>
              <a:t> </a:t>
            </a:r>
            <a:r>
              <a:rPr lang="en-US" altLang="zh-CN" dirty="0"/>
              <a:t>also</a:t>
            </a:r>
            <a:r>
              <a:rPr lang="zh-CN" altLang="en-US" dirty="0"/>
              <a:t> </a:t>
            </a:r>
            <a:r>
              <a:rPr lang="en-US" altLang="zh-CN" dirty="0"/>
              <a:t>be</a:t>
            </a:r>
            <a:r>
              <a:rPr lang="zh-CN" altLang="en-US" dirty="0"/>
              <a:t> </a:t>
            </a:r>
            <a:r>
              <a:rPr lang="en-US" altLang="zh-CN" dirty="0"/>
              <a:t>similar.</a:t>
            </a:r>
            <a:r>
              <a:rPr lang="zh-CN" altLang="en-US" dirty="0"/>
              <a:t> </a:t>
            </a:r>
            <a:endParaRPr lang="en-US" altLang="zh-CN" dirty="0"/>
          </a:p>
          <a:p>
            <a:endParaRPr lang="en-US" dirty="0"/>
          </a:p>
          <a:p>
            <a:r>
              <a:rPr lang="en-US" altLang="zh-CN" dirty="0"/>
              <a:t>P(x)</a:t>
            </a:r>
            <a:r>
              <a:rPr lang="zh-CN" altLang="en-US" dirty="0"/>
              <a:t> </a:t>
            </a:r>
            <a:r>
              <a:rPr lang="en-US" altLang="zh-CN" dirty="0"/>
              <a:t>also</a:t>
            </a:r>
            <a:r>
              <a:rPr lang="zh-CN" altLang="en-US" dirty="0"/>
              <a:t> </a:t>
            </a:r>
            <a:r>
              <a:rPr lang="en-US" altLang="zh-CN" dirty="0"/>
              <a:t>needs</a:t>
            </a:r>
            <a:r>
              <a:rPr lang="zh-CN" altLang="en-US" dirty="0"/>
              <a:t> </a:t>
            </a:r>
            <a:r>
              <a:rPr lang="en-US" altLang="zh-CN" dirty="0"/>
              <a:t>to</a:t>
            </a:r>
            <a:r>
              <a:rPr lang="zh-CN" altLang="en-US" dirty="0"/>
              <a:t> </a:t>
            </a:r>
            <a:r>
              <a:rPr lang="en-US" altLang="zh-CN" dirty="0"/>
              <a:t>be</a:t>
            </a:r>
            <a:r>
              <a:rPr lang="zh-CN" altLang="en-US" dirty="0"/>
              <a:t> </a:t>
            </a:r>
            <a:r>
              <a:rPr lang="en-US" altLang="zh-CN" dirty="0"/>
              <a:t>somewhat</a:t>
            </a:r>
            <a:r>
              <a:rPr lang="zh-CN" altLang="en-US" dirty="0"/>
              <a:t> </a:t>
            </a:r>
            <a:r>
              <a:rPr lang="en-US" altLang="zh-CN" dirty="0"/>
              <a:t>continuous.</a:t>
            </a:r>
            <a:r>
              <a:rPr lang="zh-CN" altLang="en-US" dirty="0"/>
              <a:t> </a:t>
            </a:r>
            <a:endParaRPr lang="en-US" dirty="0"/>
          </a:p>
        </p:txBody>
      </p:sp>
      <p:sp>
        <p:nvSpPr>
          <p:cNvPr id="4" name="Slide Number Placeholder 3">
            <a:extLst>
              <a:ext uri="{FF2B5EF4-FFF2-40B4-BE49-F238E27FC236}">
                <a16:creationId xmlns:a16="http://schemas.microsoft.com/office/drawing/2014/main" id="{63106FF9-BB2E-164B-C258-B0B9589DABA4}"/>
              </a:ext>
            </a:extLst>
          </p:cNvPr>
          <p:cNvSpPr>
            <a:spLocks noGrp="1"/>
          </p:cNvSpPr>
          <p:nvPr>
            <p:ph type="sldNum" sz="quarter" idx="5"/>
          </p:nvPr>
        </p:nvSpPr>
        <p:spPr/>
        <p:txBody>
          <a:bodyPr/>
          <a:lstStyle/>
          <a:p>
            <a:fld id="{0A91DDA5-E8A4-664E-9D2F-20BB38FCFE1F}" type="slidenum">
              <a:rPr lang="en-US" smtClean="0"/>
              <a:t>17</a:t>
            </a:fld>
            <a:endParaRPr lang="en-US"/>
          </a:p>
        </p:txBody>
      </p:sp>
    </p:spTree>
    <p:extLst>
      <p:ext uri="{BB962C8B-B14F-4D97-AF65-F5344CB8AC3E}">
        <p14:creationId xmlns:p14="http://schemas.microsoft.com/office/powerpoint/2010/main" val="2803978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1DC43-35B8-90BD-25A9-F4E38DEF6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F8838-8D85-92D4-19C6-5CD713F8C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A87C8-6AAA-8BD4-553F-EBEFA33FB7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6BBB83-E9AC-D53B-CE75-478B99B184D2}"/>
              </a:ext>
            </a:extLst>
          </p:cNvPr>
          <p:cNvSpPr>
            <a:spLocks noGrp="1"/>
          </p:cNvSpPr>
          <p:nvPr>
            <p:ph type="sldNum" sz="quarter" idx="5"/>
          </p:nvPr>
        </p:nvSpPr>
        <p:spPr/>
        <p:txBody>
          <a:bodyPr/>
          <a:lstStyle/>
          <a:p>
            <a:fld id="{0A91DDA5-E8A4-664E-9D2F-20BB38FCFE1F}" type="slidenum">
              <a:rPr lang="en-US" smtClean="0"/>
              <a:t>18</a:t>
            </a:fld>
            <a:endParaRPr lang="en-US"/>
          </a:p>
        </p:txBody>
      </p:sp>
    </p:spTree>
    <p:extLst>
      <p:ext uri="{BB962C8B-B14F-4D97-AF65-F5344CB8AC3E}">
        <p14:creationId xmlns:p14="http://schemas.microsoft.com/office/powerpoint/2010/main" val="38228555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19</a:t>
            </a:fld>
            <a:endParaRPr lang="en-US"/>
          </a:p>
        </p:txBody>
      </p:sp>
    </p:spTree>
    <p:extLst>
      <p:ext uri="{BB962C8B-B14F-4D97-AF65-F5344CB8AC3E}">
        <p14:creationId xmlns:p14="http://schemas.microsoft.com/office/powerpoint/2010/main" val="3853810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29</a:t>
            </a:fld>
            <a:endParaRPr lang="en-US"/>
          </a:p>
        </p:txBody>
      </p:sp>
    </p:spTree>
    <p:extLst>
      <p:ext uri="{BB962C8B-B14F-4D97-AF65-F5344CB8AC3E}">
        <p14:creationId xmlns:p14="http://schemas.microsoft.com/office/powerpoint/2010/main" val="676195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32</a:t>
            </a:fld>
            <a:endParaRPr lang="en-US"/>
          </a:p>
        </p:txBody>
      </p:sp>
    </p:spTree>
    <p:extLst>
      <p:ext uri="{BB962C8B-B14F-4D97-AF65-F5344CB8AC3E}">
        <p14:creationId xmlns:p14="http://schemas.microsoft.com/office/powerpoint/2010/main" val="1499976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33</a:t>
            </a:fld>
            <a:endParaRPr lang="en-US"/>
          </a:p>
        </p:txBody>
      </p:sp>
    </p:spTree>
    <p:extLst>
      <p:ext uri="{BB962C8B-B14F-4D97-AF65-F5344CB8AC3E}">
        <p14:creationId xmlns:p14="http://schemas.microsoft.com/office/powerpoint/2010/main" val="9849148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k</a:t>
            </a:r>
            <a:r>
              <a:rPr lang="zh-CN" altLang="en-US" sz="1200" dirty="0"/>
              <a:t> </a:t>
            </a:r>
            <a:r>
              <a:rPr lang="en-US" altLang="zh-CN" sz="1200" dirty="0"/>
              <a:t>large</a:t>
            </a:r>
            <a:r>
              <a:rPr lang="zh-CN" altLang="en-US" sz="1200" dirty="0"/>
              <a:t> </a:t>
            </a:r>
            <a:r>
              <a:rPr lang="en-US" altLang="zh-CN" sz="1200" dirty="0"/>
              <a:t>enough</a:t>
            </a:r>
            <a:r>
              <a:rPr lang="zh-CN" altLang="en-US" sz="1200" dirty="0"/>
              <a:t> </a:t>
            </a:r>
            <a:r>
              <a:rPr lang="en-US" altLang="zh-CN" sz="1200" dirty="0"/>
              <a:t>for</a:t>
            </a:r>
            <a:r>
              <a:rPr lang="zh-CN" altLang="en-US" sz="1200" dirty="0"/>
              <a:t> </a:t>
            </a:r>
            <a:r>
              <a:rPr lang="en-US" altLang="zh-CN" sz="1200" dirty="0"/>
              <a:t>statistical</a:t>
            </a:r>
            <a:r>
              <a:rPr lang="zh-CN" altLang="en-US" sz="1200" dirty="0"/>
              <a:t> </a:t>
            </a:r>
            <a:r>
              <a:rPr lang="en-US" altLang="zh-CN" sz="1200" dirty="0"/>
              <a:t>estimation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K</a:t>
            </a:r>
            <a:r>
              <a:rPr lang="zh-CN" altLang="en-US" sz="1200" dirty="0"/>
              <a:t> </a:t>
            </a:r>
            <a:r>
              <a:rPr lang="en-US" altLang="zh-CN" sz="1200" dirty="0"/>
              <a:t>is</a:t>
            </a:r>
            <a:r>
              <a:rPr lang="zh-CN" altLang="en-US" sz="1200" dirty="0"/>
              <a:t> </a:t>
            </a:r>
            <a:r>
              <a:rPr lang="en-US" altLang="zh-CN" sz="1200" dirty="0"/>
              <a:t>also</a:t>
            </a:r>
            <a:r>
              <a:rPr lang="zh-CN" altLang="en-US" sz="1200" dirty="0"/>
              <a:t> </a:t>
            </a:r>
            <a:r>
              <a:rPr lang="en-US" altLang="zh-CN" sz="1200" dirty="0"/>
              <a:t>small</a:t>
            </a:r>
            <a:r>
              <a:rPr lang="zh-CN" altLang="en-US" sz="1200" dirty="0"/>
              <a:t> </a:t>
            </a:r>
            <a:r>
              <a:rPr lang="en-US" altLang="zh-CN" sz="1200" dirty="0"/>
              <a:t>enough</a:t>
            </a:r>
            <a:r>
              <a:rPr lang="zh-CN" altLang="en-US" sz="1200" dirty="0"/>
              <a:t> </a:t>
            </a:r>
            <a:r>
              <a:rPr lang="en-US" altLang="zh-CN" sz="1200" dirty="0"/>
              <a:t>that</a:t>
            </a:r>
            <a:r>
              <a:rPr lang="zh-CN" altLang="en-US" sz="1200" dirty="0"/>
              <a:t> </a:t>
            </a:r>
            <a:r>
              <a:rPr lang="en-US" altLang="zh-CN" sz="1200" dirty="0"/>
              <a:t>it</a:t>
            </a:r>
            <a:r>
              <a:rPr lang="zh-CN" altLang="en-US" sz="1200" dirty="0"/>
              <a:t> </a:t>
            </a:r>
            <a:r>
              <a:rPr lang="en-US" altLang="zh-CN" sz="1200" dirty="0"/>
              <a:t>is</a:t>
            </a:r>
            <a:r>
              <a:rPr lang="zh-CN" altLang="en-US" sz="1200" dirty="0"/>
              <a:t> </a:t>
            </a:r>
            <a:r>
              <a:rPr lang="en-US" altLang="zh-CN" sz="1200" dirty="0"/>
              <a:t>a</a:t>
            </a:r>
            <a:r>
              <a:rPr lang="zh-CN" altLang="en-US" sz="1200" dirty="0"/>
              <a:t> </a:t>
            </a:r>
            <a:r>
              <a:rPr lang="en-US" altLang="zh-CN" sz="1200" dirty="0"/>
              <a:t>local</a:t>
            </a:r>
            <a:r>
              <a:rPr lang="zh-CN" altLang="en-US" sz="1200" dirty="0"/>
              <a:t> </a:t>
            </a:r>
            <a:r>
              <a:rPr lang="en-US" altLang="zh-CN" sz="1200" dirty="0"/>
              <a:t>vote,</a:t>
            </a:r>
            <a:r>
              <a:rPr lang="zh-CN" altLang="en-US" sz="1200" dirty="0"/>
              <a:t> </a:t>
            </a:r>
            <a:r>
              <a:rPr lang="en-US" altLang="zh-CN" sz="1200" dirty="0"/>
              <a:t>otherwise,</a:t>
            </a:r>
            <a:r>
              <a:rPr lang="zh-CN" altLang="en-US" sz="1200" dirty="0"/>
              <a:t> </a:t>
            </a:r>
            <a:r>
              <a:rPr lang="en-US" altLang="zh-CN" sz="1200" dirty="0"/>
              <a:t>it</a:t>
            </a:r>
            <a:r>
              <a:rPr lang="zh-CN" altLang="en-US" sz="1200" dirty="0"/>
              <a:t> </a:t>
            </a:r>
            <a:r>
              <a:rPr lang="en-US" altLang="zh-CN" sz="1200" dirty="0"/>
              <a:t>becomes</a:t>
            </a:r>
            <a:r>
              <a:rPr lang="zh-CN" altLang="en-US" sz="1200" dirty="0"/>
              <a:t> </a:t>
            </a:r>
            <a:r>
              <a:rPr lang="en-US" altLang="zh-CN" sz="1200" dirty="0"/>
              <a:t>a</a:t>
            </a:r>
            <a:r>
              <a:rPr lang="zh-CN" altLang="en-US" sz="1200" dirty="0"/>
              <a:t> </a:t>
            </a:r>
            <a:r>
              <a:rPr lang="en-US" altLang="zh-CN" sz="1200" dirty="0"/>
              <a:t>majority</a:t>
            </a:r>
            <a:r>
              <a:rPr lang="zh-CN" altLang="en-US" sz="1200" dirty="0"/>
              <a:t> </a:t>
            </a:r>
            <a:r>
              <a:rPr lang="en-US" altLang="zh-CN" sz="1200" dirty="0"/>
              <a:t>vote.</a:t>
            </a:r>
            <a:r>
              <a:rPr lang="zh-CN" altLang="en-US" sz="1200" dirty="0"/>
              <a:t> </a:t>
            </a:r>
            <a:endParaRPr lang="en-US" sz="1200" dirty="0"/>
          </a:p>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34</a:t>
            </a:fld>
            <a:endParaRPr lang="en-US"/>
          </a:p>
        </p:txBody>
      </p:sp>
    </p:spTree>
    <p:extLst>
      <p:ext uri="{BB962C8B-B14F-4D97-AF65-F5344CB8AC3E}">
        <p14:creationId xmlns:p14="http://schemas.microsoft.com/office/powerpoint/2010/main" val="3688948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37</a:t>
            </a:fld>
            <a:endParaRPr lang="en-US"/>
          </a:p>
        </p:txBody>
      </p:sp>
    </p:spTree>
    <p:extLst>
      <p:ext uri="{BB962C8B-B14F-4D97-AF65-F5344CB8AC3E}">
        <p14:creationId xmlns:p14="http://schemas.microsoft.com/office/powerpoint/2010/main" val="7988611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38</a:t>
            </a:fld>
            <a:endParaRPr lang="en-US"/>
          </a:p>
        </p:txBody>
      </p:sp>
    </p:spTree>
    <p:extLst>
      <p:ext uri="{BB962C8B-B14F-4D97-AF65-F5344CB8AC3E}">
        <p14:creationId xmlns:p14="http://schemas.microsoft.com/office/powerpoint/2010/main" val="33085860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39</a:t>
            </a:fld>
            <a:endParaRPr lang="en-US"/>
          </a:p>
        </p:txBody>
      </p:sp>
    </p:spTree>
    <p:extLst>
      <p:ext uri="{BB962C8B-B14F-4D97-AF65-F5344CB8AC3E}">
        <p14:creationId xmlns:p14="http://schemas.microsoft.com/office/powerpoint/2010/main" val="1678380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40</a:t>
            </a:fld>
            <a:endParaRPr lang="en-US"/>
          </a:p>
        </p:txBody>
      </p:sp>
    </p:spTree>
    <p:extLst>
      <p:ext uri="{BB962C8B-B14F-4D97-AF65-F5344CB8AC3E}">
        <p14:creationId xmlns:p14="http://schemas.microsoft.com/office/powerpoint/2010/main" val="16070391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91DDA5-E8A4-664E-9D2F-20BB38FCFE1F}" type="slidenum">
              <a:rPr lang="en-US" smtClean="0"/>
              <a:t>41</a:t>
            </a:fld>
            <a:endParaRPr lang="en-US"/>
          </a:p>
        </p:txBody>
      </p:sp>
    </p:spTree>
    <p:extLst>
      <p:ext uri="{BB962C8B-B14F-4D97-AF65-F5344CB8AC3E}">
        <p14:creationId xmlns:p14="http://schemas.microsoft.com/office/powerpoint/2010/main" val="19387259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we excluded the query point, and empirically it is a better metric. </a:t>
            </a:r>
            <a:r>
              <a:rPr lang="en-US" dirty="0" err="1"/>
              <a:t>Otgerwise</a:t>
            </a:r>
            <a:r>
              <a:rPr lang="en-US" dirty="0"/>
              <a:t>, it becomes pure memorization. </a:t>
            </a:r>
          </a:p>
        </p:txBody>
      </p:sp>
      <p:sp>
        <p:nvSpPr>
          <p:cNvPr id="4" name="Slide Number Placeholder 3"/>
          <p:cNvSpPr>
            <a:spLocks noGrp="1"/>
          </p:cNvSpPr>
          <p:nvPr>
            <p:ph type="sldNum" sz="quarter" idx="5"/>
          </p:nvPr>
        </p:nvSpPr>
        <p:spPr/>
        <p:txBody>
          <a:bodyPr/>
          <a:lstStyle/>
          <a:p>
            <a:fld id="{0A91DDA5-E8A4-664E-9D2F-20BB38FCFE1F}" type="slidenum">
              <a:rPr lang="en-US" smtClean="0"/>
              <a:t>42</a:t>
            </a:fld>
            <a:endParaRPr lang="en-US"/>
          </a:p>
        </p:txBody>
      </p:sp>
    </p:spTree>
    <p:extLst>
      <p:ext uri="{BB962C8B-B14F-4D97-AF65-F5344CB8AC3E}">
        <p14:creationId xmlns:p14="http://schemas.microsoft.com/office/powerpoint/2010/main" val="8961099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Ultimately, even though these techniques have some theoretical foundations, their use is not mathematically justified; same thing with regularization (where did the sum of squares constraint even come from) where we have some idea of the practical task or information we want to get at so we just use a heuristic or creative idea and verify or confirm that it works well empirically, across a wide range of ML settings. </a:t>
            </a:r>
          </a:p>
          <a:p>
            <a:endParaRPr lang="en-US" dirty="0"/>
          </a:p>
          <a:p>
            <a:r>
              <a:rPr lang="en-US" dirty="0"/>
              <a:t>This is the kind of stuff that makes ML really exciting: once you get past the theory, you just to get try things and see what works. You get to think creatively about your problem, come up with solutions, test them out and see what works. </a:t>
            </a:r>
          </a:p>
          <a:p>
            <a:endParaRPr lang="en-US" dirty="0"/>
          </a:p>
          <a:p>
            <a:r>
              <a:rPr lang="en-US" dirty="0"/>
              <a:t>Let me give you an example</a:t>
            </a:r>
          </a:p>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43</a:t>
            </a:fld>
            <a:endParaRPr lang="en-US"/>
          </a:p>
        </p:txBody>
      </p:sp>
    </p:spTree>
    <p:extLst>
      <p:ext uri="{BB962C8B-B14F-4D97-AF65-F5344CB8AC3E}">
        <p14:creationId xmlns:p14="http://schemas.microsoft.com/office/powerpoint/2010/main" val="20266603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Ultimately, even though these techniques have some theoretical foundations, their use is not mathematically justified; same thing with regularization (where did the sum of squares constraint even come from) where we have some idea of the practical task or information we want to get at so we just use a heuristic or creative idea and verify or confirm that it works well empirically, across a wide range of ML settings. </a:t>
            </a:r>
          </a:p>
          <a:p>
            <a:endParaRPr lang="en-US" dirty="0"/>
          </a:p>
          <a:p>
            <a:r>
              <a:rPr lang="en-US" dirty="0"/>
              <a:t>This is the kind of stuff that makes ML really exciting: once you get past the theory, you just to get try things and see what works. You get to think creatively about your problem, come up with solutions, test them out and see what works. </a:t>
            </a:r>
          </a:p>
          <a:p>
            <a:endParaRPr lang="en-US" dirty="0"/>
          </a:p>
          <a:p>
            <a:r>
              <a:rPr lang="en-US" dirty="0"/>
              <a:t>Let me give you an example</a:t>
            </a:r>
          </a:p>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44</a:t>
            </a:fld>
            <a:endParaRPr lang="en-US"/>
          </a:p>
        </p:txBody>
      </p:sp>
    </p:spTree>
    <p:extLst>
      <p:ext uri="{BB962C8B-B14F-4D97-AF65-F5344CB8AC3E}">
        <p14:creationId xmlns:p14="http://schemas.microsoft.com/office/powerpoint/2010/main" val="7963763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Ultimately, even though these techniques have some theoretical foundations, their use is not mathematically justified; same thing with regularization (where did the sum of squares constraint even come from) where we have some idea of the practical task or information we want to get at so we just use a heuristic or creative idea and verify or confirm that it works well empirically, across a wide range of ML settings. </a:t>
            </a:r>
          </a:p>
          <a:p>
            <a:endParaRPr lang="en-US" dirty="0"/>
          </a:p>
          <a:p>
            <a:r>
              <a:rPr lang="en-US" dirty="0"/>
              <a:t>This is the kind of stuff that makes ML really exciting: once you get past the theory, you just to get try things and see what works. You get to think creatively about your problem, come up with solutions, test them out and see what works. </a:t>
            </a:r>
          </a:p>
          <a:p>
            <a:endParaRPr lang="en-US" dirty="0"/>
          </a:p>
          <a:p>
            <a:r>
              <a:rPr lang="en-US" dirty="0"/>
              <a:t>Let me give you an example</a:t>
            </a:r>
          </a:p>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45</a:t>
            </a:fld>
            <a:endParaRPr lang="en-US"/>
          </a:p>
        </p:txBody>
      </p:sp>
    </p:spTree>
    <p:extLst>
      <p:ext uri="{BB962C8B-B14F-4D97-AF65-F5344CB8AC3E}">
        <p14:creationId xmlns:p14="http://schemas.microsoft.com/office/powerpoint/2010/main" val="17040579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Ultimately, even though these techniques have some theoretical foundations, their use is not mathematically justified; same thing with regularization (where did the sum of squares constraint even come from) where we have some idea of the practical task or information we want to get at so we just use a heuristic or creative idea and verify or confirm that it works well empirically, across a wide range of ML settings. </a:t>
            </a:r>
          </a:p>
          <a:p>
            <a:endParaRPr lang="en-US" dirty="0"/>
          </a:p>
          <a:p>
            <a:r>
              <a:rPr lang="en-US" dirty="0"/>
              <a:t>This is the kind of stuff that makes ML really exciting: once you get past the theory, you just to get try things and see what works. You get to think creatively about your problem, come up with solutions, test them out and see what works. </a:t>
            </a:r>
          </a:p>
          <a:p>
            <a:endParaRPr lang="en-US" dirty="0"/>
          </a:p>
          <a:p>
            <a:r>
              <a:rPr lang="en-US" dirty="0"/>
              <a:t>Let me give you an example</a:t>
            </a:r>
          </a:p>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46</a:t>
            </a:fld>
            <a:endParaRPr lang="en-US"/>
          </a:p>
        </p:txBody>
      </p:sp>
    </p:spTree>
    <p:extLst>
      <p:ext uri="{BB962C8B-B14F-4D97-AF65-F5344CB8AC3E}">
        <p14:creationId xmlns:p14="http://schemas.microsoft.com/office/powerpoint/2010/main" val="13856101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Ultimately, even though these techniques have some theoretical foundations, their use is not mathematically justified; same thing with regularization (where did the sum of squares constraint even come from) where we have some idea of the practical task or information we want to get at so we just use a heuristic or creative idea and verify or confirm that it works well empirically, across a wide range of ML settings. </a:t>
            </a:r>
          </a:p>
          <a:p>
            <a:endParaRPr lang="en-US" dirty="0"/>
          </a:p>
          <a:p>
            <a:r>
              <a:rPr lang="en-US" dirty="0"/>
              <a:t>This is the kind of stuff that makes ML really exciting: once you get past the theory, you just to get try things and see what works. You get to think creatively about your problem, come up with solutions, test them out and see what works. </a:t>
            </a:r>
          </a:p>
          <a:p>
            <a:endParaRPr lang="en-US" dirty="0"/>
          </a:p>
          <a:p>
            <a:r>
              <a:rPr lang="en-US" dirty="0"/>
              <a:t>Let me give you an example</a:t>
            </a:r>
          </a:p>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47</a:t>
            </a:fld>
            <a:endParaRPr lang="en-US"/>
          </a:p>
        </p:txBody>
      </p:sp>
    </p:spTree>
    <p:extLst>
      <p:ext uri="{BB962C8B-B14F-4D97-AF65-F5344CB8AC3E}">
        <p14:creationId xmlns:p14="http://schemas.microsoft.com/office/powerpoint/2010/main" val="24323704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Ultimately, even though these techniques have some theoretical foundations, their use is not mathematically justified; same thing with regularization (where did the sum of squares constraint even come from) where we have some idea of the practical task or information we want to get at so we just use a heuristic or creative idea and verify or confirm that it works well empirically, across a wide range of ML settings. </a:t>
            </a:r>
          </a:p>
          <a:p>
            <a:endParaRPr lang="en-US" dirty="0"/>
          </a:p>
          <a:p>
            <a:r>
              <a:rPr lang="en-US" dirty="0"/>
              <a:t>This is the kind of stuff that makes ML really exciting: once you get past the theory, you just to get try things and see what works. You get to think creatively about your problem, come up with solutions, test them out and see what works. </a:t>
            </a:r>
          </a:p>
          <a:p>
            <a:endParaRPr lang="en-US" dirty="0"/>
          </a:p>
          <a:p>
            <a:r>
              <a:rPr lang="en-US" dirty="0"/>
              <a:t>Let me give you an example</a:t>
            </a:r>
          </a:p>
          <a:p>
            <a:endParaRPr lang="en-US" dirty="0"/>
          </a:p>
        </p:txBody>
      </p:sp>
      <p:sp>
        <p:nvSpPr>
          <p:cNvPr id="4" name="Slide Number Placeholder 3"/>
          <p:cNvSpPr>
            <a:spLocks noGrp="1"/>
          </p:cNvSpPr>
          <p:nvPr>
            <p:ph type="sldNum" sz="quarter" idx="5"/>
          </p:nvPr>
        </p:nvSpPr>
        <p:spPr/>
        <p:txBody>
          <a:bodyPr/>
          <a:lstStyle/>
          <a:p>
            <a:fld id="{0A91DDA5-E8A4-664E-9D2F-20BB38FCFE1F}" type="slidenum">
              <a:rPr lang="en-US" smtClean="0"/>
              <a:t>48</a:t>
            </a:fld>
            <a:endParaRPr lang="en-US"/>
          </a:p>
        </p:txBody>
      </p:sp>
    </p:spTree>
    <p:extLst>
      <p:ext uri="{BB962C8B-B14F-4D97-AF65-F5344CB8AC3E}">
        <p14:creationId xmlns:p14="http://schemas.microsoft.com/office/powerpoint/2010/main" val="1251977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361003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1283868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1919876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1189300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002159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4157434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2750851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2515647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2998965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816353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1978993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latin typeface="Calibri" panose="020F0502020204030204" pitchFamily="34" charset="0"/>
                <a:cs typeface="Calibri" panose="020F0502020204030204" pitchFamily="34" charset="0"/>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latin typeface="Calibri" panose="020F0502020204030204" pitchFamily="34" charset="0"/>
                <a:cs typeface="Calibri" panose="020F0502020204030204" pitchFamily="34" charset="0"/>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1422098076"/>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hdr="0" ftr="0"/>
  <p:txStyles>
    <p:title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Iris_flower_data_se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Iris_flower_data_se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en.wikipedia.org/wiki/Duck_test"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hyperlink" Target="https://ieeexplore.ieee.org/stamp/stamp.jsp?tp=&amp;arnumber=105396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ieeexplore.ieee.org/stamp/stamp.jsp?tp=&amp;arnumber=1053964"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ieeexplore.ieee.org/stamp/stamp.jsp?tp=&amp;arnumber=1053964"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hyperlink" Target="https://ieeexplore.ieee.org/stamp/stamp.jsp?tp=&amp;arnumber=1053964"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31.png"/></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50.png"/></Relationships>
</file>

<file path=ppt/slides/_rels/slide30.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70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900.png"/><Relationship Id="rId3" Type="http://schemas.openxmlformats.org/officeDocument/2006/relationships/image" Target="../media/image85.png"/><Relationship Id="rId7" Type="http://schemas.openxmlformats.org/officeDocument/2006/relationships/image" Target="../media/image87.png"/><Relationship Id="rId12" Type="http://schemas.openxmlformats.org/officeDocument/2006/relationships/customXml" Target="../ink/ink5.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89.png"/><Relationship Id="rId5" Type="http://schemas.openxmlformats.org/officeDocument/2006/relationships/image" Target="../media/image86.png"/><Relationship Id="rId15" Type="http://schemas.openxmlformats.org/officeDocument/2006/relationships/image" Target="../media/image91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88.png"/><Relationship Id="rId14" Type="http://schemas.openxmlformats.org/officeDocument/2006/relationships/customXml" Target="../ink/ink6.xml"/></Relationships>
</file>

<file path=ppt/slides/_rels/slide4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22.emf"/></Relationships>
</file>

<file path=ppt/slides/_rels/slide4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00.png"/></Relationships>
</file>

<file path=ppt/slides/_rels/slide4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00.png"/></Relationships>
</file>

<file path=ppt/slides/_rels/slide4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00.png"/></Relationships>
</file>

<file path=ppt/slides/_rels/slide4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00.png"/></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00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69D1-06B2-8340-A68B-FCD71E81ED5F}"/>
              </a:ext>
            </a:extLst>
          </p:cNvPr>
          <p:cNvSpPr>
            <a:spLocks noGrp="1"/>
          </p:cNvSpPr>
          <p:nvPr>
            <p:ph type="ctrTitle"/>
          </p:nvPr>
        </p:nvSpPr>
        <p:spPr>
          <a:xfrm>
            <a:off x="1069848" y="1298448"/>
            <a:ext cx="7769352" cy="3255264"/>
          </a:xfrm>
        </p:spPr>
        <p:txBody>
          <a:bodyPr>
            <a:noAutofit/>
          </a:bodyPr>
          <a:lstStyle/>
          <a:p>
            <a:br>
              <a:rPr lang="en-US" sz="6000" dirty="0"/>
            </a:br>
            <a:br>
              <a:rPr lang="en-US" sz="6000" dirty="0"/>
            </a:br>
            <a:r>
              <a:rPr lang="en-US" sz="6000" dirty="0"/>
              <a:t>Lecture 3 –KNNs</a:t>
            </a:r>
            <a:br>
              <a:rPr lang="en-US" sz="6000" dirty="0"/>
            </a:br>
            <a:endParaRPr lang="en-US" sz="6000" dirty="0"/>
          </a:p>
        </p:txBody>
      </p:sp>
      <p:sp>
        <p:nvSpPr>
          <p:cNvPr id="5" name="Subtitle 4">
            <a:extLst>
              <a:ext uri="{FF2B5EF4-FFF2-40B4-BE49-F238E27FC236}">
                <a16:creationId xmlns:a16="http://schemas.microsoft.com/office/drawing/2014/main" id="{FC138090-D1FD-E6FE-F056-28312BD4811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530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85EDFDA-B8FF-A870-668E-577A8BAF1403}"/>
              </a:ext>
            </a:extLst>
          </p:cNvPr>
          <p:cNvGrpSpPr/>
          <p:nvPr/>
        </p:nvGrpSpPr>
        <p:grpSpPr>
          <a:xfrm>
            <a:off x="4323748" y="2829546"/>
            <a:ext cx="7337174" cy="3257003"/>
            <a:chOff x="2734323" y="133986"/>
            <a:chExt cx="7337174" cy="3257003"/>
          </a:xfrm>
        </p:grpSpPr>
        <p:sp>
          <p:nvSpPr>
            <p:cNvPr id="11" name="TextBox 10">
              <a:extLst>
                <a:ext uri="{FF2B5EF4-FFF2-40B4-BE49-F238E27FC236}">
                  <a16:creationId xmlns:a16="http://schemas.microsoft.com/office/drawing/2014/main" id="{99480FD3-69D5-4BBA-5C9E-42F50A660C01}"/>
                </a:ext>
              </a:extLst>
            </p:cNvPr>
            <p:cNvSpPr txBox="1"/>
            <p:nvPr/>
          </p:nvSpPr>
          <p:spPr>
            <a:xfrm>
              <a:off x="2734323" y="2182412"/>
              <a:ext cx="1207363" cy="372862"/>
            </a:xfrm>
            <a:prstGeom prst="rect">
              <a:avLst/>
            </a:prstGeom>
            <a:noFill/>
          </p:spPr>
          <p:txBody>
            <a:bodyPr wrap="square" rtlCol="0" anchor="ctr">
              <a:noAutofit/>
            </a:bodyPr>
            <a:lstStyle/>
            <a:p>
              <a:pPr algn="ctr"/>
              <a:r>
                <a:rPr lang="en-US" b="1">
                  <a:solidFill>
                    <a:schemeClr val="bg1"/>
                  </a:solidFill>
                </a:rPr>
                <a:t>petal</a:t>
              </a:r>
            </a:p>
          </p:txBody>
        </p:sp>
        <p:pic>
          <p:nvPicPr>
            <p:cNvPr id="13" name="Picture 12">
              <a:extLst>
                <a:ext uri="{FF2B5EF4-FFF2-40B4-BE49-F238E27FC236}">
                  <a16:creationId xmlns:a16="http://schemas.microsoft.com/office/drawing/2014/main" id="{ECB634C3-9F39-A80D-5653-546952101E66}"/>
                </a:ext>
              </a:extLst>
            </p:cNvPr>
            <p:cNvPicPr>
              <a:picLocks noChangeAspect="1"/>
            </p:cNvPicPr>
            <p:nvPr/>
          </p:nvPicPr>
          <p:blipFill>
            <a:blip r:embed="rId2"/>
            <a:stretch>
              <a:fillRect/>
            </a:stretch>
          </p:blipFill>
          <p:spPr>
            <a:xfrm>
              <a:off x="5205151" y="133986"/>
              <a:ext cx="4866346" cy="3257003"/>
            </a:xfrm>
            <a:prstGeom prst="rect">
              <a:avLst/>
            </a:prstGeom>
          </p:spPr>
        </p:pic>
      </p:grpSp>
      <p:sp>
        <p:nvSpPr>
          <p:cNvPr id="2" name="Title 1">
            <a:extLst>
              <a:ext uri="{FF2B5EF4-FFF2-40B4-BE49-F238E27FC236}">
                <a16:creationId xmlns:a16="http://schemas.microsoft.com/office/drawing/2014/main" id="{C772D495-D2AF-9780-0D1A-02F32FD77E46}"/>
              </a:ext>
            </a:extLst>
          </p:cNvPr>
          <p:cNvSpPr>
            <a:spLocks noGrp="1"/>
          </p:cNvSpPr>
          <p:nvPr>
            <p:ph type="title"/>
          </p:nvPr>
        </p:nvSpPr>
        <p:spPr/>
        <p:txBody>
          <a:bodyPr/>
          <a:lstStyle/>
          <a:p>
            <a:r>
              <a:rPr lang="en-US"/>
              <a:t>Real-valued Features</a:t>
            </a:r>
          </a:p>
        </p:txBody>
      </p:sp>
      <p:sp>
        <p:nvSpPr>
          <p:cNvPr id="5" name="Slide Number Placeholder 4">
            <a:extLst>
              <a:ext uri="{FF2B5EF4-FFF2-40B4-BE49-F238E27FC236}">
                <a16:creationId xmlns:a16="http://schemas.microsoft.com/office/drawing/2014/main" id="{1C77849A-341B-7E0D-F66F-8F318DA42FBE}"/>
              </a:ext>
            </a:extLst>
          </p:cNvPr>
          <p:cNvSpPr>
            <a:spLocks noGrp="1"/>
          </p:cNvSpPr>
          <p:nvPr>
            <p:ph type="sldNum" sz="quarter" idx="12"/>
          </p:nvPr>
        </p:nvSpPr>
        <p:spPr/>
        <p:txBody>
          <a:bodyPr/>
          <a:lstStyle/>
          <a:p>
            <a:fld id="{4FAB73BC-B049-4115-A692-8D63A059BFB8}" type="slidenum">
              <a:rPr lang="en-US" smtClean="0"/>
              <a:pPr/>
              <a:t>2</a:t>
            </a:fld>
            <a:endParaRPr lang="en-US"/>
          </a:p>
        </p:txBody>
      </p:sp>
      <p:pic>
        <p:nvPicPr>
          <p:cNvPr id="7" name="Picture 6">
            <a:extLst>
              <a:ext uri="{FF2B5EF4-FFF2-40B4-BE49-F238E27FC236}">
                <a16:creationId xmlns:a16="http://schemas.microsoft.com/office/drawing/2014/main" id="{5046B631-DB4E-0DF1-A35F-E0F52BB7A0F2}"/>
              </a:ext>
            </a:extLst>
          </p:cNvPr>
          <p:cNvPicPr>
            <a:picLocks noChangeAspect="1"/>
          </p:cNvPicPr>
          <p:nvPr/>
        </p:nvPicPr>
        <p:blipFill>
          <a:blip r:embed="rId3"/>
          <a:stretch>
            <a:fillRect/>
          </a:stretch>
        </p:blipFill>
        <p:spPr>
          <a:xfrm>
            <a:off x="3696974" y="771451"/>
            <a:ext cx="4931740" cy="3257003"/>
          </a:xfrm>
          <a:prstGeom prst="rect">
            <a:avLst/>
          </a:prstGeom>
        </p:spPr>
      </p:pic>
      <p:sp>
        <p:nvSpPr>
          <p:cNvPr id="8" name="TextBox 7">
            <a:extLst>
              <a:ext uri="{FF2B5EF4-FFF2-40B4-BE49-F238E27FC236}">
                <a16:creationId xmlns:a16="http://schemas.microsoft.com/office/drawing/2014/main" id="{385592C1-44A9-58B8-6779-CAB0BE463D86}"/>
              </a:ext>
            </a:extLst>
          </p:cNvPr>
          <p:cNvSpPr txBox="1"/>
          <p:nvPr/>
        </p:nvSpPr>
        <p:spPr>
          <a:xfrm>
            <a:off x="6258377" y="2819876"/>
            <a:ext cx="1207363" cy="372862"/>
          </a:xfrm>
          <a:prstGeom prst="rect">
            <a:avLst/>
          </a:prstGeom>
          <a:noFill/>
        </p:spPr>
        <p:txBody>
          <a:bodyPr wrap="square" rtlCol="0" anchor="ctr">
            <a:noAutofit/>
          </a:bodyPr>
          <a:lstStyle/>
          <a:p>
            <a:pPr algn="ctr"/>
            <a:r>
              <a:rPr lang="en-US" b="1">
                <a:solidFill>
                  <a:schemeClr val="bg1"/>
                </a:solidFill>
              </a:rPr>
              <a:t>petal</a:t>
            </a:r>
          </a:p>
        </p:txBody>
      </p:sp>
      <p:sp>
        <p:nvSpPr>
          <p:cNvPr id="9" name="TextBox 8">
            <a:extLst>
              <a:ext uri="{FF2B5EF4-FFF2-40B4-BE49-F238E27FC236}">
                <a16:creationId xmlns:a16="http://schemas.microsoft.com/office/drawing/2014/main" id="{880A5260-733D-3A3C-5135-74E565669D92}"/>
              </a:ext>
            </a:extLst>
          </p:cNvPr>
          <p:cNvSpPr txBox="1"/>
          <p:nvPr/>
        </p:nvSpPr>
        <p:spPr>
          <a:xfrm>
            <a:off x="6011282" y="1288142"/>
            <a:ext cx="1207363" cy="372862"/>
          </a:xfrm>
          <a:prstGeom prst="rect">
            <a:avLst/>
          </a:prstGeom>
          <a:noFill/>
        </p:spPr>
        <p:txBody>
          <a:bodyPr wrap="square" rtlCol="0" anchor="ctr">
            <a:noAutofit/>
          </a:bodyPr>
          <a:lstStyle/>
          <a:p>
            <a:pPr algn="ctr"/>
            <a:r>
              <a:rPr lang="en-US" b="1">
                <a:solidFill>
                  <a:schemeClr val="bg1"/>
                </a:solidFill>
              </a:rPr>
              <a:t>sepal</a:t>
            </a:r>
          </a:p>
        </p:txBody>
      </p:sp>
    </p:spTree>
    <p:extLst>
      <p:ext uri="{BB962C8B-B14F-4D97-AF65-F5344CB8AC3E}">
        <p14:creationId xmlns:p14="http://schemas.microsoft.com/office/powerpoint/2010/main" val="63776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250"/>
                                        <p:tgtEl>
                                          <p:spTgt spid="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a:t>Fisher Iris Dataset</a:t>
            </a:r>
          </a:p>
        </p:txBody>
      </p:sp>
      <p:sp>
        <p:nvSpPr>
          <p:cNvPr id="8" name="Content Placeholder 7"/>
          <p:cNvSpPr>
            <a:spLocks noGrp="1"/>
          </p:cNvSpPr>
          <p:nvPr>
            <p:ph idx="1"/>
          </p:nvPr>
        </p:nvSpPr>
        <p:spPr>
          <a:xfrm>
            <a:off x="4145604" y="885401"/>
            <a:ext cx="6762527" cy="1603659"/>
          </a:xfrm>
        </p:spPr>
        <p:txBody>
          <a:bodyPr>
            <a:normAutofit/>
          </a:bodyPr>
          <a:lstStyle/>
          <a:p>
            <a:pPr marL="0" indent="0">
              <a:lnSpc>
                <a:spcPct val="130000"/>
              </a:lnSpc>
              <a:buNone/>
            </a:pPr>
            <a:r>
              <a:rPr lang="en-US"/>
              <a:t>Fisher (1936) used 150 measurements of flowers from 3 different species: Iris </a:t>
            </a:r>
            <a:r>
              <a:rPr lang="en-US" err="1"/>
              <a:t>setosa</a:t>
            </a:r>
            <a:r>
              <a:rPr lang="en-US"/>
              <a:t> (0), Iris virginica (1), Iris versicolor (2) collected by Anderson (1936)</a:t>
            </a:r>
          </a:p>
        </p:txBody>
      </p:sp>
      <p:sp>
        <p:nvSpPr>
          <p:cNvPr id="2" name="Slide Number Placeholder 1"/>
          <p:cNvSpPr>
            <a:spLocks noGrp="1"/>
          </p:cNvSpPr>
          <p:nvPr>
            <p:ph type="sldNum" sz="quarter" idx="12"/>
          </p:nvPr>
        </p:nvSpPr>
        <p:spPr/>
        <p:txBody>
          <a:bodyPr/>
          <a:lstStyle/>
          <a:p>
            <a:fld id="{E5445004-F4FB-5345-992E-498B4C43F562}" type="slidenum">
              <a:rPr lang="en-US" smtClean="0"/>
              <a:t>3</a:t>
            </a:fld>
            <a:endParaRPr lang="en-US"/>
          </a:p>
        </p:txBody>
      </p:sp>
      <p:graphicFrame>
        <p:nvGraphicFramePr>
          <p:cNvPr id="5" name="Table 4">
            <a:extLst>
              <a:ext uri="{FF2B5EF4-FFF2-40B4-BE49-F238E27FC236}">
                <a16:creationId xmlns:a16="http://schemas.microsoft.com/office/drawing/2014/main" id="{14CE3AB9-687B-53BD-CD0F-8293FBDB5FBF}"/>
              </a:ext>
            </a:extLst>
          </p:cNvPr>
          <p:cNvGraphicFramePr>
            <a:graphicFrameLocks noGrp="1"/>
          </p:cNvGraphicFramePr>
          <p:nvPr>
            <p:extLst>
              <p:ext uri="{D42A27DB-BD31-4B8C-83A1-F6EECF244321}">
                <p14:modId xmlns:p14="http://schemas.microsoft.com/office/powerpoint/2010/main" val="3750822409"/>
              </p:ext>
            </p:extLst>
          </p:nvPr>
        </p:nvGraphicFramePr>
        <p:xfrm>
          <a:off x="4478868" y="2489060"/>
          <a:ext cx="6096000" cy="32359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r>
                        <a:rPr lang="en-US">
                          <a:latin typeface="Calibri" panose="020F0502020204030204" pitchFamily="34" charset="0"/>
                          <a:cs typeface="Calibri" panose="020F0502020204030204" pitchFamily="34" charset="0"/>
                        </a:rPr>
                        <a:t>Species</a:t>
                      </a:r>
                    </a:p>
                  </a:txBody>
                  <a:tcPr/>
                </a:tc>
                <a:tc>
                  <a:txBody>
                    <a:bodyPr/>
                    <a:lstStyle/>
                    <a:p>
                      <a:r>
                        <a:rPr lang="en-US">
                          <a:latin typeface="Calibri" panose="020F0502020204030204" pitchFamily="34" charset="0"/>
                          <a:cs typeface="Calibri" panose="020F0502020204030204" pitchFamily="34" charset="0"/>
                        </a:rPr>
                        <a:t>Sepal Length</a:t>
                      </a:r>
                    </a:p>
                  </a:txBody>
                  <a:tcPr/>
                </a:tc>
                <a:tc>
                  <a:txBody>
                    <a:bodyPr/>
                    <a:lstStyle/>
                    <a:p>
                      <a:r>
                        <a:rPr lang="en-US">
                          <a:latin typeface="Calibri" panose="020F0502020204030204" pitchFamily="34" charset="0"/>
                          <a:cs typeface="Calibri" panose="020F0502020204030204" pitchFamily="34" charset="0"/>
                        </a:rPr>
                        <a:t>Sepal Width</a:t>
                      </a:r>
                    </a:p>
                  </a:txBody>
                  <a:tcPr/>
                </a:tc>
                <a:tc>
                  <a:txBody>
                    <a:bodyPr/>
                    <a:lstStyle/>
                    <a:p>
                      <a:r>
                        <a:rPr lang="en-US">
                          <a:latin typeface="Calibri" panose="020F0502020204030204" pitchFamily="34" charset="0"/>
                          <a:cs typeface="Calibri" panose="020F0502020204030204" pitchFamily="34" charset="0"/>
                        </a:rPr>
                        <a:t>Petal Length</a:t>
                      </a:r>
                    </a:p>
                  </a:txBody>
                  <a:tcPr/>
                </a:tc>
                <a:tc>
                  <a:txBody>
                    <a:bodyPr/>
                    <a:lstStyle/>
                    <a:p>
                      <a:r>
                        <a:rPr lang="en-US">
                          <a:latin typeface="Calibri" panose="020F0502020204030204" pitchFamily="34" charset="0"/>
                          <a:cs typeface="Calibri" panose="020F0502020204030204" pitchFamily="34" charset="0"/>
                        </a:rPr>
                        <a:t>Petal Width</a:t>
                      </a:r>
                    </a:p>
                  </a:txBody>
                  <a:tcPr/>
                </a:tc>
                <a:extLst>
                  <a:ext uri="{0D108BD9-81ED-4DB2-BD59-A6C34878D82A}">
                    <a16:rowId xmlns:a16="http://schemas.microsoft.com/office/drawing/2014/main" val="10000"/>
                  </a:ext>
                </a:extLst>
              </a:tr>
              <a:tr h="370840">
                <a:tc>
                  <a:txBody>
                    <a:bodyPr/>
                    <a:lstStyle/>
                    <a:p>
                      <a:r>
                        <a:rPr lang="en-US">
                          <a:latin typeface="Calibri" panose="020F0502020204030204" pitchFamily="34" charset="0"/>
                          <a:cs typeface="Calibri" panose="020F0502020204030204" pitchFamily="34" charset="0"/>
                        </a:rPr>
                        <a:t>0</a:t>
                      </a:r>
                    </a:p>
                  </a:txBody>
                  <a:tcPr/>
                </a:tc>
                <a:tc>
                  <a:txBody>
                    <a:bodyPr/>
                    <a:lstStyle/>
                    <a:p>
                      <a:r>
                        <a:rPr lang="en-US">
                          <a:latin typeface="Calibri" panose="020F0502020204030204" pitchFamily="34" charset="0"/>
                          <a:cs typeface="Calibri" panose="020F0502020204030204" pitchFamily="34" charset="0"/>
                        </a:rPr>
                        <a:t>4.3</a:t>
                      </a:r>
                    </a:p>
                  </a:txBody>
                  <a:tcPr/>
                </a:tc>
                <a:tc>
                  <a:txBody>
                    <a:bodyPr/>
                    <a:lstStyle/>
                    <a:p>
                      <a:r>
                        <a:rPr lang="en-US">
                          <a:latin typeface="Calibri" panose="020F0502020204030204" pitchFamily="34" charset="0"/>
                          <a:cs typeface="Calibri" panose="020F0502020204030204" pitchFamily="34" charset="0"/>
                        </a:rPr>
                        <a:t>3.0</a:t>
                      </a:r>
                    </a:p>
                  </a:txBody>
                  <a:tcPr/>
                </a:tc>
                <a:tc>
                  <a:txBody>
                    <a:bodyPr/>
                    <a:lstStyle/>
                    <a:p>
                      <a:r>
                        <a:rPr lang="en-US">
                          <a:latin typeface="Calibri" panose="020F0502020204030204" pitchFamily="34" charset="0"/>
                          <a:cs typeface="Calibri" panose="020F0502020204030204" pitchFamily="34" charset="0"/>
                        </a:rPr>
                        <a:t>1.1</a:t>
                      </a:r>
                    </a:p>
                  </a:txBody>
                  <a:tcPr/>
                </a:tc>
                <a:tc>
                  <a:txBody>
                    <a:bodyPr/>
                    <a:lstStyle/>
                    <a:p>
                      <a:r>
                        <a:rPr lang="en-US">
                          <a:latin typeface="Calibri" panose="020F0502020204030204" pitchFamily="34" charset="0"/>
                          <a:cs typeface="Calibri" panose="020F0502020204030204" pitchFamily="34" charset="0"/>
                        </a:rPr>
                        <a:t>0.1</a:t>
                      </a:r>
                    </a:p>
                  </a:txBody>
                  <a:tcPr/>
                </a:tc>
                <a:extLst>
                  <a:ext uri="{0D108BD9-81ED-4DB2-BD59-A6C34878D82A}">
                    <a16:rowId xmlns:a16="http://schemas.microsoft.com/office/drawing/2014/main" val="10001"/>
                  </a:ext>
                </a:extLst>
              </a:tr>
              <a:tr h="370840">
                <a:tc>
                  <a:txBody>
                    <a:bodyPr/>
                    <a:lstStyle/>
                    <a:p>
                      <a:r>
                        <a:rPr lang="en-US">
                          <a:latin typeface="Calibri" panose="020F0502020204030204" pitchFamily="34" charset="0"/>
                          <a:cs typeface="Calibri" panose="020F0502020204030204" pitchFamily="34" charset="0"/>
                        </a:rPr>
                        <a:t>0</a:t>
                      </a:r>
                    </a:p>
                  </a:txBody>
                  <a:tcPr/>
                </a:tc>
                <a:tc>
                  <a:txBody>
                    <a:bodyPr/>
                    <a:lstStyle/>
                    <a:p>
                      <a:r>
                        <a:rPr lang="en-US">
                          <a:latin typeface="Calibri" panose="020F0502020204030204" pitchFamily="34" charset="0"/>
                          <a:cs typeface="Calibri" panose="020F0502020204030204" pitchFamily="34" charset="0"/>
                        </a:rPr>
                        <a:t>4.9</a:t>
                      </a:r>
                    </a:p>
                  </a:txBody>
                  <a:tcPr/>
                </a:tc>
                <a:tc>
                  <a:txBody>
                    <a:bodyPr/>
                    <a:lstStyle/>
                    <a:p>
                      <a:r>
                        <a:rPr lang="en-US">
                          <a:latin typeface="Calibri" panose="020F0502020204030204" pitchFamily="34" charset="0"/>
                          <a:cs typeface="Calibri" panose="020F0502020204030204" pitchFamily="34" charset="0"/>
                        </a:rPr>
                        <a:t>3.6</a:t>
                      </a:r>
                    </a:p>
                  </a:txBody>
                  <a:tcPr/>
                </a:tc>
                <a:tc>
                  <a:txBody>
                    <a:bodyPr/>
                    <a:lstStyle/>
                    <a:p>
                      <a:r>
                        <a:rPr lang="en-US">
                          <a:latin typeface="Calibri" panose="020F0502020204030204" pitchFamily="34" charset="0"/>
                          <a:cs typeface="Calibri" panose="020F0502020204030204" pitchFamily="34" charset="0"/>
                        </a:rPr>
                        <a:t>1.4</a:t>
                      </a:r>
                    </a:p>
                  </a:txBody>
                  <a:tcPr/>
                </a:tc>
                <a:tc>
                  <a:txBody>
                    <a:bodyPr/>
                    <a:lstStyle/>
                    <a:p>
                      <a:r>
                        <a:rPr lang="en-US">
                          <a:latin typeface="Calibri" panose="020F0502020204030204" pitchFamily="34" charset="0"/>
                          <a:cs typeface="Calibri" panose="020F0502020204030204" pitchFamily="34" charset="0"/>
                        </a:rPr>
                        <a:t>0.1</a:t>
                      </a:r>
                    </a:p>
                  </a:txBody>
                  <a:tcPr/>
                </a:tc>
                <a:extLst>
                  <a:ext uri="{0D108BD9-81ED-4DB2-BD59-A6C34878D82A}">
                    <a16:rowId xmlns:a16="http://schemas.microsoft.com/office/drawing/2014/main" val="10002"/>
                  </a:ext>
                </a:extLst>
              </a:tr>
              <a:tr h="370840">
                <a:tc>
                  <a:txBody>
                    <a:bodyPr/>
                    <a:lstStyle/>
                    <a:p>
                      <a:r>
                        <a:rPr lang="en-US">
                          <a:latin typeface="Calibri" panose="020F0502020204030204" pitchFamily="34" charset="0"/>
                          <a:cs typeface="Calibri" panose="020F0502020204030204" pitchFamily="34" charset="0"/>
                        </a:rPr>
                        <a:t>0</a:t>
                      </a:r>
                    </a:p>
                  </a:txBody>
                  <a:tcPr/>
                </a:tc>
                <a:tc>
                  <a:txBody>
                    <a:bodyPr/>
                    <a:lstStyle/>
                    <a:p>
                      <a:r>
                        <a:rPr lang="en-US">
                          <a:latin typeface="Calibri" panose="020F0502020204030204" pitchFamily="34" charset="0"/>
                          <a:cs typeface="Calibri" panose="020F0502020204030204" pitchFamily="34" charset="0"/>
                        </a:rPr>
                        <a:t>5.3</a:t>
                      </a:r>
                    </a:p>
                  </a:txBody>
                  <a:tcPr/>
                </a:tc>
                <a:tc>
                  <a:txBody>
                    <a:bodyPr/>
                    <a:lstStyle/>
                    <a:p>
                      <a:r>
                        <a:rPr lang="en-US">
                          <a:latin typeface="Calibri" panose="020F0502020204030204" pitchFamily="34" charset="0"/>
                          <a:cs typeface="Calibri" panose="020F0502020204030204" pitchFamily="34" charset="0"/>
                        </a:rPr>
                        <a:t>3.7</a:t>
                      </a:r>
                    </a:p>
                  </a:txBody>
                  <a:tcPr/>
                </a:tc>
                <a:tc>
                  <a:txBody>
                    <a:bodyPr/>
                    <a:lstStyle/>
                    <a:p>
                      <a:r>
                        <a:rPr lang="en-US">
                          <a:latin typeface="Calibri" panose="020F0502020204030204" pitchFamily="34" charset="0"/>
                          <a:cs typeface="Calibri" panose="020F0502020204030204" pitchFamily="34" charset="0"/>
                        </a:rPr>
                        <a:t>1.5</a:t>
                      </a:r>
                    </a:p>
                  </a:txBody>
                  <a:tcPr/>
                </a:tc>
                <a:tc>
                  <a:txBody>
                    <a:bodyPr/>
                    <a:lstStyle/>
                    <a:p>
                      <a:r>
                        <a:rPr lang="en-US">
                          <a:latin typeface="Calibri" panose="020F0502020204030204" pitchFamily="34" charset="0"/>
                          <a:cs typeface="Calibri" panose="020F0502020204030204" pitchFamily="34" charset="0"/>
                        </a:rPr>
                        <a:t>0.2</a:t>
                      </a:r>
                    </a:p>
                  </a:txBody>
                  <a:tcPr/>
                </a:tc>
                <a:extLst>
                  <a:ext uri="{0D108BD9-81ED-4DB2-BD59-A6C34878D82A}">
                    <a16:rowId xmlns:a16="http://schemas.microsoft.com/office/drawing/2014/main" val="10003"/>
                  </a:ext>
                </a:extLst>
              </a:tr>
              <a:tr h="370840">
                <a:tc>
                  <a:txBody>
                    <a:bodyPr/>
                    <a:lstStyle/>
                    <a:p>
                      <a:r>
                        <a:rPr lang="en-US">
                          <a:latin typeface="Calibri" panose="020F0502020204030204" pitchFamily="34" charset="0"/>
                          <a:cs typeface="Calibri" panose="020F0502020204030204" pitchFamily="34" charset="0"/>
                        </a:rPr>
                        <a:t>1</a:t>
                      </a:r>
                    </a:p>
                  </a:txBody>
                  <a:tcPr/>
                </a:tc>
                <a:tc>
                  <a:txBody>
                    <a:bodyPr/>
                    <a:lstStyle/>
                    <a:p>
                      <a:r>
                        <a:rPr lang="en-US">
                          <a:latin typeface="Calibri" panose="020F0502020204030204" pitchFamily="34" charset="0"/>
                          <a:cs typeface="Calibri" panose="020F0502020204030204" pitchFamily="34" charset="0"/>
                        </a:rPr>
                        <a:t>4.9</a:t>
                      </a:r>
                    </a:p>
                  </a:txBody>
                  <a:tcPr/>
                </a:tc>
                <a:tc>
                  <a:txBody>
                    <a:bodyPr/>
                    <a:lstStyle/>
                    <a:p>
                      <a:r>
                        <a:rPr lang="en-US">
                          <a:latin typeface="Calibri" panose="020F0502020204030204" pitchFamily="34" charset="0"/>
                          <a:cs typeface="Calibri" panose="020F0502020204030204" pitchFamily="34" charset="0"/>
                        </a:rPr>
                        <a:t>2.4</a:t>
                      </a:r>
                    </a:p>
                  </a:txBody>
                  <a:tcPr/>
                </a:tc>
                <a:tc>
                  <a:txBody>
                    <a:bodyPr/>
                    <a:lstStyle/>
                    <a:p>
                      <a:r>
                        <a:rPr lang="en-US">
                          <a:latin typeface="Calibri" panose="020F0502020204030204" pitchFamily="34" charset="0"/>
                          <a:cs typeface="Calibri" panose="020F0502020204030204" pitchFamily="34" charset="0"/>
                        </a:rPr>
                        <a:t>3.3</a:t>
                      </a:r>
                    </a:p>
                  </a:txBody>
                  <a:tcPr/>
                </a:tc>
                <a:tc>
                  <a:txBody>
                    <a:bodyPr/>
                    <a:lstStyle/>
                    <a:p>
                      <a:r>
                        <a:rPr lang="en-US">
                          <a:latin typeface="Calibri" panose="020F0502020204030204" pitchFamily="34" charset="0"/>
                          <a:cs typeface="Calibri" panose="020F0502020204030204" pitchFamily="34" charset="0"/>
                        </a:rPr>
                        <a:t>1.0</a:t>
                      </a:r>
                    </a:p>
                  </a:txBody>
                  <a:tcPr/>
                </a:tc>
                <a:extLst>
                  <a:ext uri="{0D108BD9-81ED-4DB2-BD59-A6C34878D82A}">
                    <a16:rowId xmlns:a16="http://schemas.microsoft.com/office/drawing/2014/main" val="10004"/>
                  </a:ext>
                </a:extLst>
              </a:tr>
              <a:tr h="370840">
                <a:tc>
                  <a:txBody>
                    <a:bodyPr/>
                    <a:lstStyle/>
                    <a:p>
                      <a:r>
                        <a:rPr lang="en-US">
                          <a:latin typeface="Calibri" panose="020F0502020204030204" pitchFamily="34" charset="0"/>
                          <a:cs typeface="Calibri" panose="020F0502020204030204" pitchFamily="34" charset="0"/>
                        </a:rPr>
                        <a:t>1</a:t>
                      </a:r>
                    </a:p>
                  </a:txBody>
                  <a:tcPr/>
                </a:tc>
                <a:tc>
                  <a:txBody>
                    <a:bodyPr/>
                    <a:lstStyle/>
                    <a:p>
                      <a:r>
                        <a:rPr lang="en-US">
                          <a:latin typeface="Calibri" panose="020F0502020204030204" pitchFamily="34" charset="0"/>
                          <a:cs typeface="Calibri" panose="020F0502020204030204" pitchFamily="34" charset="0"/>
                        </a:rPr>
                        <a:t>5.7</a:t>
                      </a:r>
                    </a:p>
                  </a:txBody>
                  <a:tcPr/>
                </a:tc>
                <a:tc>
                  <a:txBody>
                    <a:bodyPr/>
                    <a:lstStyle/>
                    <a:p>
                      <a:r>
                        <a:rPr lang="en-US">
                          <a:latin typeface="Calibri" panose="020F0502020204030204" pitchFamily="34" charset="0"/>
                          <a:cs typeface="Calibri" panose="020F0502020204030204" pitchFamily="34" charset="0"/>
                        </a:rPr>
                        <a:t>2.8</a:t>
                      </a:r>
                    </a:p>
                  </a:txBody>
                  <a:tcPr/>
                </a:tc>
                <a:tc>
                  <a:txBody>
                    <a:bodyPr/>
                    <a:lstStyle/>
                    <a:p>
                      <a:r>
                        <a:rPr lang="en-US">
                          <a:latin typeface="Calibri" panose="020F0502020204030204" pitchFamily="34" charset="0"/>
                          <a:cs typeface="Calibri" panose="020F0502020204030204" pitchFamily="34" charset="0"/>
                        </a:rPr>
                        <a:t>4.1</a:t>
                      </a:r>
                    </a:p>
                  </a:txBody>
                  <a:tcPr/>
                </a:tc>
                <a:tc>
                  <a:txBody>
                    <a:bodyPr/>
                    <a:lstStyle/>
                    <a:p>
                      <a:r>
                        <a:rPr lang="en-US">
                          <a:latin typeface="Calibri" panose="020F0502020204030204" pitchFamily="34" charset="0"/>
                          <a:cs typeface="Calibri" panose="020F0502020204030204" pitchFamily="34" charset="0"/>
                        </a:rPr>
                        <a:t>1.3</a:t>
                      </a:r>
                    </a:p>
                  </a:txBody>
                  <a:tcPr/>
                </a:tc>
                <a:extLst>
                  <a:ext uri="{0D108BD9-81ED-4DB2-BD59-A6C34878D82A}">
                    <a16:rowId xmlns:a16="http://schemas.microsoft.com/office/drawing/2014/main" val="10005"/>
                  </a:ext>
                </a:extLst>
              </a:tr>
              <a:tr h="370840">
                <a:tc>
                  <a:txBody>
                    <a:bodyPr/>
                    <a:lstStyle/>
                    <a:p>
                      <a:r>
                        <a:rPr lang="en-US">
                          <a:latin typeface="Calibri" panose="020F0502020204030204" pitchFamily="34" charset="0"/>
                          <a:cs typeface="Calibri" panose="020F0502020204030204" pitchFamily="34" charset="0"/>
                        </a:rPr>
                        <a:t>1</a:t>
                      </a:r>
                    </a:p>
                  </a:txBody>
                  <a:tcPr/>
                </a:tc>
                <a:tc>
                  <a:txBody>
                    <a:bodyPr/>
                    <a:lstStyle/>
                    <a:p>
                      <a:r>
                        <a:rPr lang="en-US">
                          <a:latin typeface="Calibri" panose="020F0502020204030204" pitchFamily="34" charset="0"/>
                          <a:cs typeface="Calibri" panose="020F0502020204030204" pitchFamily="34" charset="0"/>
                        </a:rPr>
                        <a:t>6.3</a:t>
                      </a:r>
                    </a:p>
                  </a:txBody>
                  <a:tcPr/>
                </a:tc>
                <a:tc>
                  <a:txBody>
                    <a:bodyPr/>
                    <a:lstStyle/>
                    <a:p>
                      <a:r>
                        <a:rPr lang="en-US">
                          <a:latin typeface="Calibri" panose="020F0502020204030204" pitchFamily="34" charset="0"/>
                          <a:cs typeface="Calibri" panose="020F0502020204030204" pitchFamily="34" charset="0"/>
                        </a:rPr>
                        <a:t>3.3</a:t>
                      </a:r>
                    </a:p>
                  </a:txBody>
                  <a:tcPr/>
                </a:tc>
                <a:tc>
                  <a:txBody>
                    <a:bodyPr/>
                    <a:lstStyle/>
                    <a:p>
                      <a:r>
                        <a:rPr lang="en-US">
                          <a:latin typeface="Calibri" panose="020F0502020204030204" pitchFamily="34" charset="0"/>
                          <a:cs typeface="Calibri" panose="020F0502020204030204" pitchFamily="34" charset="0"/>
                        </a:rPr>
                        <a:t>4.7</a:t>
                      </a:r>
                    </a:p>
                  </a:txBody>
                  <a:tcPr/>
                </a:tc>
                <a:tc>
                  <a:txBody>
                    <a:bodyPr/>
                    <a:lstStyle/>
                    <a:p>
                      <a:r>
                        <a:rPr lang="en-US">
                          <a:latin typeface="Calibri" panose="020F0502020204030204" pitchFamily="34" charset="0"/>
                          <a:cs typeface="Calibri" panose="020F0502020204030204" pitchFamily="34" charset="0"/>
                        </a:rPr>
                        <a:t>1.6</a:t>
                      </a:r>
                    </a:p>
                  </a:txBody>
                  <a:tcPr/>
                </a:tc>
                <a:extLst>
                  <a:ext uri="{0D108BD9-81ED-4DB2-BD59-A6C34878D82A}">
                    <a16:rowId xmlns:a16="http://schemas.microsoft.com/office/drawing/2014/main" val="10006"/>
                  </a:ext>
                </a:extLst>
              </a:tr>
              <a:tr h="370840">
                <a:tc>
                  <a:txBody>
                    <a:bodyPr/>
                    <a:lstStyle/>
                    <a:p>
                      <a:r>
                        <a:rPr lang="en-US">
                          <a:latin typeface="Calibri" panose="020F0502020204030204" pitchFamily="34" charset="0"/>
                          <a:cs typeface="Calibri" panose="020F0502020204030204" pitchFamily="34" charset="0"/>
                        </a:rPr>
                        <a:t>1</a:t>
                      </a:r>
                    </a:p>
                  </a:txBody>
                  <a:tcPr/>
                </a:tc>
                <a:tc>
                  <a:txBody>
                    <a:bodyPr/>
                    <a:lstStyle/>
                    <a:p>
                      <a:r>
                        <a:rPr lang="en-US">
                          <a:latin typeface="Calibri" panose="020F0502020204030204" pitchFamily="34" charset="0"/>
                          <a:cs typeface="Calibri" panose="020F0502020204030204" pitchFamily="34" charset="0"/>
                        </a:rPr>
                        <a:t>6.7</a:t>
                      </a:r>
                    </a:p>
                  </a:txBody>
                  <a:tcPr/>
                </a:tc>
                <a:tc>
                  <a:txBody>
                    <a:bodyPr/>
                    <a:lstStyle/>
                    <a:p>
                      <a:r>
                        <a:rPr lang="en-US">
                          <a:latin typeface="Calibri" panose="020F0502020204030204" pitchFamily="34" charset="0"/>
                          <a:cs typeface="Calibri" panose="020F0502020204030204" pitchFamily="34" charset="0"/>
                        </a:rPr>
                        <a:t>3.0</a:t>
                      </a:r>
                    </a:p>
                  </a:txBody>
                  <a:tcPr/>
                </a:tc>
                <a:tc>
                  <a:txBody>
                    <a:bodyPr/>
                    <a:lstStyle/>
                    <a:p>
                      <a:r>
                        <a:rPr lang="en-US">
                          <a:latin typeface="Calibri" panose="020F0502020204030204" pitchFamily="34" charset="0"/>
                          <a:cs typeface="Calibri" panose="020F0502020204030204" pitchFamily="34" charset="0"/>
                        </a:rPr>
                        <a:t>5.0</a:t>
                      </a:r>
                    </a:p>
                  </a:txBody>
                  <a:tcPr/>
                </a:tc>
                <a:tc>
                  <a:txBody>
                    <a:bodyPr/>
                    <a:lstStyle/>
                    <a:p>
                      <a:r>
                        <a:rPr lang="en-US">
                          <a:latin typeface="Calibri" panose="020F0502020204030204" pitchFamily="34" charset="0"/>
                          <a:cs typeface="Calibri" panose="020F0502020204030204" pitchFamily="34" charset="0"/>
                        </a:rPr>
                        <a:t>1.7</a:t>
                      </a:r>
                    </a:p>
                  </a:txBody>
                  <a:tcPr/>
                </a:tc>
                <a:extLst>
                  <a:ext uri="{0D108BD9-81ED-4DB2-BD59-A6C34878D82A}">
                    <a16:rowId xmlns:a16="http://schemas.microsoft.com/office/drawing/2014/main" val="10007"/>
                  </a:ext>
                </a:extLst>
              </a:tr>
            </a:tbl>
          </a:graphicData>
        </a:graphic>
      </p:graphicFrame>
      <p:sp>
        <p:nvSpPr>
          <p:cNvPr id="10" name="Date Placeholder 3">
            <a:extLst>
              <a:ext uri="{FF2B5EF4-FFF2-40B4-BE49-F238E27FC236}">
                <a16:creationId xmlns:a16="http://schemas.microsoft.com/office/drawing/2014/main" id="{AA826CFC-D96A-5DCA-E85C-DD79621DF344}"/>
              </a:ext>
            </a:extLst>
          </p:cNvPr>
          <p:cNvSpPr txBox="1">
            <a:spLocks/>
          </p:cNvSpPr>
          <p:nvPr/>
        </p:nvSpPr>
        <p:spPr>
          <a:xfrm>
            <a:off x="3609762" y="6356349"/>
            <a:ext cx="502871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Source: </a:t>
            </a:r>
            <a:r>
              <a:rPr lang="en-US">
                <a:hlinkClick r:id="rId3"/>
              </a:rPr>
              <a:t>https://en.wikipedia.org/wiki/Iris_flower_data_set</a:t>
            </a:r>
            <a:r>
              <a:rPr lang="en-US"/>
              <a:t>  </a:t>
            </a:r>
          </a:p>
        </p:txBody>
      </p:sp>
    </p:spTree>
    <p:extLst>
      <p:ext uri="{BB962C8B-B14F-4D97-AF65-F5344CB8AC3E}">
        <p14:creationId xmlns:p14="http://schemas.microsoft.com/office/powerpoint/2010/main" val="2506912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a:t>Fisher Iris Dataset</a:t>
            </a:r>
          </a:p>
        </p:txBody>
      </p:sp>
      <p:sp>
        <p:nvSpPr>
          <p:cNvPr id="8" name="Content Placeholder 7"/>
          <p:cNvSpPr>
            <a:spLocks noGrp="1"/>
          </p:cNvSpPr>
          <p:nvPr>
            <p:ph idx="1"/>
          </p:nvPr>
        </p:nvSpPr>
        <p:spPr>
          <a:xfrm>
            <a:off x="4145604" y="885401"/>
            <a:ext cx="6762527" cy="1603659"/>
          </a:xfrm>
        </p:spPr>
        <p:txBody>
          <a:bodyPr>
            <a:normAutofit/>
          </a:bodyPr>
          <a:lstStyle/>
          <a:p>
            <a:pPr marL="0" indent="0">
              <a:lnSpc>
                <a:spcPct val="130000"/>
              </a:lnSpc>
              <a:buNone/>
            </a:pPr>
            <a:r>
              <a:rPr lang="en-US"/>
              <a:t>Fisher (1936) used 150 measurements of flowers from 3 different species: Iris </a:t>
            </a:r>
            <a:r>
              <a:rPr lang="en-US" err="1"/>
              <a:t>setosa</a:t>
            </a:r>
            <a:r>
              <a:rPr lang="en-US"/>
              <a:t> (0), Iris virginica (1), Iris versicolor (2) collected by Anderson (1936)</a:t>
            </a:r>
          </a:p>
        </p:txBody>
      </p:sp>
      <p:sp>
        <p:nvSpPr>
          <p:cNvPr id="2" name="Slide Number Placeholder 1"/>
          <p:cNvSpPr>
            <a:spLocks noGrp="1"/>
          </p:cNvSpPr>
          <p:nvPr>
            <p:ph type="sldNum" sz="quarter" idx="12"/>
          </p:nvPr>
        </p:nvSpPr>
        <p:spPr/>
        <p:txBody>
          <a:bodyPr/>
          <a:lstStyle/>
          <a:p>
            <a:fld id="{E5445004-F4FB-5345-992E-498B4C43F562}" type="slidenum">
              <a:rPr lang="en-US" smtClean="0"/>
              <a:t>4</a:t>
            </a:fld>
            <a:endParaRPr lang="en-US"/>
          </a:p>
        </p:txBody>
      </p:sp>
      <p:graphicFrame>
        <p:nvGraphicFramePr>
          <p:cNvPr id="5" name="Table 4">
            <a:extLst>
              <a:ext uri="{FF2B5EF4-FFF2-40B4-BE49-F238E27FC236}">
                <a16:creationId xmlns:a16="http://schemas.microsoft.com/office/drawing/2014/main" id="{14CE3AB9-687B-53BD-CD0F-8293FBDB5FBF}"/>
              </a:ext>
            </a:extLst>
          </p:cNvPr>
          <p:cNvGraphicFramePr>
            <a:graphicFrameLocks noGrp="1"/>
          </p:cNvGraphicFramePr>
          <p:nvPr>
            <p:extLst>
              <p:ext uri="{D42A27DB-BD31-4B8C-83A1-F6EECF244321}">
                <p14:modId xmlns:p14="http://schemas.microsoft.com/office/powerpoint/2010/main" val="3582929457"/>
              </p:ext>
            </p:extLst>
          </p:nvPr>
        </p:nvGraphicFramePr>
        <p:xfrm>
          <a:off x="4478868" y="2489060"/>
          <a:ext cx="3657600" cy="32359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70840">
                <a:tc>
                  <a:txBody>
                    <a:bodyPr/>
                    <a:lstStyle/>
                    <a:p>
                      <a:r>
                        <a:rPr lang="en-US">
                          <a:latin typeface="Calibri" panose="020F0502020204030204" pitchFamily="34" charset="0"/>
                          <a:cs typeface="Calibri" panose="020F0502020204030204" pitchFamily="34" charset="0"/>
                        </a:rPr>
                        <a:t>Species</a:t>
                      </a:r>
                    </a:p>
                  </a:txBody>
                  <a:tcPr/>
                </a:tc>
                <a:tc>
                  <a:txBody>
                    <a:bodyPr/>
                    <a:lstStyle/>
                    <a:p>
                      <a:r>
                        <a:rPr lang="en-US">
                          <a:latin typeface="Calibri" panose="020F0502020204030204" pitchFamily="34" charset="0"/>
                          <a:cs typeface="Calibri" panose="020F0502020204030204" pitchFamily="34" charset="0"/>
                        </a:rPr>
                        <a:t>Sepal Length</a:t>
                      </a:r>
                    </a:p>
                  </a:txBody>
                  <a:tcPr/>
                </a:tc>
                <a:tc>
                  <a:txBody>
                    <a:bodyPr/>
                    <a:lstStyle/>
                    <a:p>
                      <a:r>
                        <a:rPr lang="en-US">
                          <a:latin typeface="Calibri" panose="020F0502020204030204" pitchFamily="34" charset="0"/>
                          <a:cs typeface="Calibri" panose="020F0502020204030204" pitchFamily="34" charset="0"/>
                        </a:rPr>
                        <a:t>Sepal Width</a:t>
                      </a:r>
                    </a:p>
                  </a:txBody>
                  <a:tcPr/>
                </a:tc>
                <a:extLst>
                  <a:ext uri="{0D108BD9-81ED-4DB2-BD59-A6C34878D82A}">
                    <a16:rowId xmlns:a16="http://schemas.microsoft.com/office/drawing/2014/main" val="10000"/>
                  </a:ext>
                </a:extLst>
              </a:tr>
              <a:tr h="370840">
                <a:tc>
                  <a:txBody>
                    <a:bodyPr/>
                    <a:lstStyle/>
                    <a:p>
                      <a:r>
                        <a:rPr lang="en-US">
                          <a:latin typeface="Calibri" panose="020F0502020204030204" pitchFamily="34" charset="0"/>
                          <a:cs typeface="Calibri" panose="020F0502020204030204" pitchFamily="34" charset="0"/>
                        </a:rPr>
                        <a:t>0</a:t>
                      </a:r>
                    </a:p>
                  </a:txBody>
                  <a:tcPr/>
                </a:tc>
                <a:tc>
                  <a:txBody>
                    <a:bodyPr/>
                    <a:lstStyle/>
                    <a:p>
                      <a:r>
                        <a:rPr lang="en-US">
                          <a:latin typeface="Calibri" panose="020F0502020204030204" pitchFamily="34" charset="0"/>
                          <a:cs typeface="Calibri" panose="020F0502020204030204" pitchFamily="34" charset="0"/>
                        </a:rPr>
                        <a:t>4.3</a:t>
                      </a:r>
                    </a:p>
                  </a:txBody>
                  <a:tcPr/>
                </a:tc>
                <a:tc>
                  <a:txBody>
                    <a:bodyPr/>
                    <a:lstStyle/>
                    <a:p>
                      <a:r>
                        <a:rPr lang="en-US">
                          <a:latin typeface="Calibri" panose="020F0502020204030204" pitchFamily="34" charset="0"/>
                          <a:cs typeface="Calibri" panose="020F0502020204030204" pitchFamily="34" charset="0"/>
                        </a:rPr>
                        <a:t>3.0</a:t>
                      </a:r>
                    </a:p>
                  </a:txBody>
                  <a:tcPr/>
                </a:tc>
                <a:extLst>
                  <a:ext uri="{0D108BD9-81ED-4DB2-BD59-A6C34878D82A}">
                    <a16:rowId xmlns:a16="http://schemas.microsoft.com/office/drawing/2014/main" val="10001"/>
                  </a:ext>
                </a:extLst>
              </a:tr>
              <a:tr h="370840">
                <a:tc>
                  <a:txBody>
                    <a:bodyPr/>
                    <a:lstStyle/>
                    <a:p>
                      <a:r>
                        <a:rPr lang="en-US">
                          <a:latin typeface="Calibri" panose="020F0502020204030204" pitchFamily="34" charset="0"/>
                          <a:cs typeface="Calibri" panose="020F0502020204030204" pitchFamily="34" charset="0"/>
                        </a:rPr>
                        <a:t>0</a:t>
                      </a:r>
                    </a:p>
                  </a:txBody>
                  <a:tcPr/>
                </a:tc>
                <a:tc>
                  <a:txBody>
                    <a:bodyPr/>
                    <a:lstStyle/>
                    <a:p>
                      <a:r>
                        <a:rPr lang="en-US">
                          <a:latin typeface="Calibri" panose="020F0502020204030204" pitchFamily="34" charset="0"/>
                          <a:cs typeface="Calibri" panose="020F0502020204030204" pitchFamily="34" charset="0"/>
                        </a:rPr>
                        <a:t>4.9</a:t>
                      </a:r>
                    </a:p>
                  </a:txBody>
                  <a:tcPr/>
                </a:tc>
                <a:tc>
                  <a:txBody>
                    <a:bodyPr/>
                    <a:lstStyle/>
                    <a:p>
                      <a:r>
                        <a:rPr lang="en-US">
                          <a:latin typeface="Calibri" panose="020F0502020204030204" pitchFamily="34" charset="0"/>
                          <a:cs typeface="Calibri" panose="020F0502020204030204" pitchFamily="34" charset="0"/>
                        </a:rPr>
                        <a:t>3.6</a:t>
                      </a:r>
                    </a:p>
                  </a:txBody>
                  <a:tcPr/>
                </a:tc>
                <a:extLst>
                  <a:ext uri="{0D108BD9-81ED-4DB2-BD59-A6C34878D82A}">
                    <a16:rowId xmlns:a16="http://schemas.microsoft.com/office/drawing/2014/main" val="10002"/>
                  </a:ext>
                </a:extLst>
              </a:tr>
              <a:tr h="370840">
                <a:tc>
                  <a:txBody>
                    <a:bodyPr/>
                    <a:lstStyle/>
                    <a:p>
                      <a:r>
                        <a:rPr lang="en-US">
                          <a:latin typeface="Calibri" panose="020F0502020204030204" pitchFamily="34" charset="0"/>
                          <a:cs typeface="Calibri" panose="020F0502020204030204" pitchFamily="34" charset="0"/>
                        </a:rPr>
                        <a:t>0</a:t>
                      </a:r>
                    </a:p>
                  </a:txBody>
                  <a:tcPr/>
                </a:tc>
                <a:tc>
                  <a:txBody>
                    <a:bodyPr/>
                    <a:lstStyle/>
                    <a:p>
                      <a:r>
                        <a:rPr lang="en-US">
                          <a:latin typeface="Calibri" panose="020F0502020204030204" pitchFamily="34" charset="0"/>
                          <a:cs typeface="Calibri" panose="020F0502020204030204" pitchFamily="34" charset="0"/>
                        </a:rPr>
                        <a:t>5.3</a:t>
                      </a:r>
                    </a:p>
                  </a:txBody>
                  <a:tcPr/>
                </a:tc>
                <a:tc>
                  <a:txBody>
                    <a:bodyPr/>
                    <a:lstStyle/>
                    <a:p>
                      <a:r>
                        <a:rPr lang="en-US">
                          <a:latin typeface="Calibri" panose="020F0502020204030204" pitchFamily="34" charset="0"/>
                          <a:cs typeface="Calibri" panose="020F0502020204030204" pitchFamily="34" charset="0"/>
                        </a:rPr>
                        <a:t>3.7</a:t>
                      </a:r>
                    </a:p>
                  </a:txBody>
                  <a:tcPr/>
                </a:tc>
                <a:extLst>
                  <a:ext uri="{0D108BD9-81ED-4DB2-BD59-A6C34878D82A}">
                    <a16:rowId xmlns:a16="http://schemas.microsoft.com/office/drawing/2014/main" val="10003"/>
                  </a:ext>
                </a:extLst>
              </a:tr>
              <a:tr h="370840">
                <a:tc>
                  <a:txBody>
                    <a:bodyPr/>
                    <a:lstStyle/>
                    <a:p>
                      <a:r>
                        <a:rPr lang="en-US">
                          <a:latin typeface="Calibri" panose="020F0502020204030204" pitchFamily="34" charset="0"/>
                          <a:cs typeface="Calibri" panose="020F0502020204030204" pitchFamily="34" charset="0"/>
                        </a:rPr>
                        <a:t>1</a:t>
                      </a:r>
                    </a:p>
                  </a:txBody>
                  <a:tcPr/>
                </a:tc>
                <a:tc>
                  <a:txBody>
                    <a:bodyPr/>
                    <a:lstStyle/>
                    <a:p>
                      <a:r>
                        <a:rPr lang="en-US">
                          <a:latin typeface="Calibri" panose="020F0502020204030204" pitchFamily="34" charset="0"/>
                          <a:cs typeface="Calibri" panose="020F0502020204030204" pitchFamily="34" charset="0"/>
                        </a:rPr>
                        <a:t>4.9</a:t>
                      </a:r>
                    </a:p>
                  </a:txBody>
                  <a:tcPr/>
                </a:tc>
                <a:tc>
                  <a:txBody>
                    <a:bodyPr/>
                    <a:lstStyle/>
                    <a:p>
                      <a:r>
                        <a:rPr lang="en-US">
                          <a:latin typeface="Calibri" panose="020F0502020204030204" pitchFamily="34" charset="0"/>
                          <a:cs typeface="Calibri" panose="020F0502020204030204" pitchFamily="34" charset="0"/>
                        </a:rPr>
                        <a:t>2.4</a:t>
                      </a:r>
                    </a:p>
                  </a:txBody>
                  <a:tcPr/>
                </a:tc>
                <a:extLst>
                  <a:ext uri="{0D108BD9-81ED-4DB2-BD59-A6C34878D82A}">
                    <a16:rowId xmlns:a16="http://schemas.microsoft.com/office/drawing/2014/main" val="10004"/>
                  </a:ext>
                </a:extLst>
              </a:tr>
              <a:tr h="370840">
                <a:tc>
                  <a:txBody>
                    <a:bodyPr/>
                    <a:lstStyle/>
                    <a:p>
                      <a:r>
                        <a:rPr lang="en-US">
                          <a:latin typeface="Calibri" panose="020F0502020204030204" pitchFamily="34" charset="0"/>
                          <a:cs typeface="Calibri" panose="020F0502020204030204" pitchFamily="34" charset="0"/>
                        </a:rPr>
                        <a:t>1</a:t>
                      </a:r>
                    </a:p>
                  </a:txBody>
                  <a:tcPr/>
                </a:tc>
                <a:tc>
                  <a:txBody>
                    <a:bodyPr/>
                    <a:lstStyle/>
                    <a:p>
                      <a:r>
                        <a:rPr lang="en-US">
                          <a:latin typeface="Calibri" panose="020F0502020204030204" pitchFamily="34" charset="0"/>
                          <a:cs typeface="Calibri" panose="020F0502020204030204" pitchFamily="34" charset="0"/>
                        </a:rPr>
                        <a:t>5.7</a:t>
                      </a:r>
                    </a:p>
                  </a:txBody>
                  <a:tcPr/>
                </a:tc>
                <a:tc>
                  <a:txBody>
                    <a:bodyPr/>
                    <a:lstStyle/>
                    <a:p>
                      <a:r>
                        <a:rPr lang="en-US">
                          <a:latin typeface="Calibri" panose="020F0502020204030204" pitchFamily="34" charset="0"/>
                          <a:cs typeface="Calibri" panose="020F0502020204030204" pitchFamily="34" charset="0"/>
                        </a:rPr>
                        <a:t>2.8</a:t>
                      </a:r>
                    </a:p>
                  </a:txBody>
                  <a:tcPr/>
                </a:tc>
                <a:extLst>
                  <a:ext uri="{0D108BD9-81ED-4DB2-BD59-A6C34878D82A}">
                    <a16:rowId xmlns:a16="http://schemas.microsoft.com/office/drawing/2014/main" val="10005"/>
                  </a:ext>
                </a:extLst>
              </a:tr>
              <a:tr h="370840">
                <a:tc>
                  <a:txBody>
                    <a:bodyPr/>
                    <a:lstStyle/>
                    <a:p>
                      <a:r>
                        <a:rPr lang="en-US">
                          <a:latin typeface="Calibri" panose="020F0502020204030204" pitchFamily="34" charset="0"/>
                          <a:cs typeface="Calibri" panose="020F0502020204030204" pitchFamily="34" charset="0"/>
                        </a:rPr>
                        <a:t>1</a:t>
                      </a:r>
                    </a:p>
                  </a:txBody>
                  <a:tcPr/>
                </a:tc>
                <a:tc>
                  <a:txBody>
                    <a:bodyPr/>
                    <a:lstStyle/>
                    <a:p>
                      <a:r>
                        <a:rPr lang="en-US">
                          <a:latin typeface="Calibri" panose="020F0502020204030204" pitchFamily="34" charset="0"/>
                          <a:cs typeface="Calibri" panose="020F0502020204030204" pitchFamily="34" charset="0"/>
                        </a:rPr>
                        <a:t>6.3</a:t>
                      </a:r>
                    </a:p>
                  </a:txBody>
                  <a:tcPr/>
                </a:tc>
                <a:tc>
                  <a:txBody>
                    <a:bodyPr/>
                    <a:lstStyle/>
                    <a:p>
                      <a:r>
                        <a:rPr lang="en-US">
                          <a:latin typeface="Calibri" panose="020F0502020204030204" pitchFamily="34" charset="0"/>
                          <a:cs typeface="Calibri" panose="020F0502020204030204" pitchFamily="34" charset="0"/>
                        </a:rPr>
                        <a:t>3.3</a:t>
                      </a:r>
                    </a:p>
                  </a:txBody>
                  <a:tcPr/>
                </a:tc>
                <a:extLst>
                  <a:ext uri="{0D108BD9-81ED-4DB2-BD59-A6C34878D82A}">
                    <a16:rowId xmlns:a16="http://schemas.microsoft.com/office/drawing/2014/main" val="10006"/>
                  </a:ext>
                </a:extLst>
              </a:tr>
              <a:tr h="370840">
                <a:tc>
                  <a:txBody>
                    <a:bodyPr/>
                    <a:lstStyle/>
                    <a:p>
                      <a:r>
                        <a:rPr lang="en-US">
                          <a:latin typeface="Calibri" panose="020F0502020204030204" pitchFamily="34" charset="0"/>
                          <a:cs typeface="Calibri" panose="020F0502020204030204" pitchFamily="34" charset="0"/>
                        </a:rPr>
                        <a:t>1</a:t>
                      </a:r>
                    </a:p>
                  </a:txBody>
                  <a:tcPr/>
                </a:tc>
                <a:tc>
                  <a:txBody>
                    <a:bodyPr/>
                    <a:lstStyle/>
                    <a:p>
                      <a:r>
                        <a:rPr lang="en-US">
                          <a:latin typeface="Calibri" panose="020F0502020204030204" pitchFamily="34" charset="0"/>
                          <a:cs typeface="Calibri" panose="020F0502020204030204" pitchFamily="34" charset="0"/>
                        </a:rPr>
                        <a:t>6.7</a:t>
                      </a:r>
                    </a:p>
                  </a:txBody>
                  <a:tcPr/>
                </a:tc>
                <a:tc>
                  <a:txBody>
                    <a:bodyPr/>
                    <a:lstStyle/>
                    <a:p>
                      <a:r>
                        <a:rPr lang="en-US">
                          <a:latin typeface="Calibri" panose="020F0502020204030204" pitchFamily="34" charset="0"/>
                          <a:cs typeface="Calibri" panose="020F0502020204030204" pitchFamily="34" charset="0"/>
                        </a:rPr>
                        <a:t>3.0</a:t>
                      </a:r>
                    </a:p>
                  </a:txBody>
                  <a:tcPr/>
                </a:tc>
                <a:extLst>
                  <a:ext uri="{0D108BD9-81ED-4DB2-BD59-A6C34878D82A}">
                    <a16:rowId xmlns:a16="http://schemas.microsoft.com/office/drawing/2014/main" val="10007"/>
                  </a:ext>
                </a:extLst>
              </a:tr>
            </a:tbl>
          </a:graphicData>
        </a:graphic>
      </p:graphicFrame>
      <p:sp>
        <p:nvSpPr>
          <p:cNvPr id="11" name="Date Placeholder 3">
            <a:extLst>
              <a:ext uri="{FF2B5EF4-FFF2-40B4-BE49-F238E27FC236}">
                <a16:creationId xmlns:a16="http://schemas.microsoft.com/office/drawing/2014/main" id="{A4AD6F7E-8C68-187E-208D-B7C350A94321}"/>
              </a:ext>
            </a:extLst>
          </p:cNvPr>
          <p:cNvSpPr txBox="1">
            <a:spLocks/>
          </p:cNvSpPr>
          <p:nvPr/>
        </p:nvSpPr>
        <p:spPr>
          <a:xfrm>
            <a:off x="3609762" y="6356349"/>
            <a:ext cx="502871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Source: </a:t>
            </a:r>
            <a:r>
              <a:rPr lang="en-US">
                <a:hlinkClick r:id="rId3"/>
              </a:rPr>
              <a:t>https://en.wikipedia.org/wiki/Iris_flower_data_set</a:t>
            </a:r>
            <a:r>
              <a:rPr lang="en-US"/>
              <a:t>  </a:t>
            </a:r>
          </a:p>
        </p:txBody>
      </p:sp>
    </p:spTree>
    <p:extLst>
      <p:ext uri="{BB962C8B-B14F-4D97-AF65-F5344CB8AC3E}">
        <p14:creationId xmlns:p14="http://schemas.microsoft.com/office/powerpoint/2010/main" val="344440889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889DEB1-087D-5966-18FD-AFD0BAAC314B}"/>
              </a:ext>
            </a:extLst>
          </p:cNvPr>
          <p:cNvGrpSpPr/>
          <p:nvPr/>
        </p:nvGrpSpPr>
        <p:grpSpPr>
          <a:xfrm>
            <a:off x="4363772" y="551033"/>
            <a:ext cx="6676008" cy="5183130"/>
            <a:chOff x="4363772" y="551033"/>
            <a:chExt cx="6676008" cy="5183130"/>
          </a:xfrm>
        </p:grpSpPr>
        <p:pic>
          <p:nvPicPr>
            <p:cNvPr id="5" name="Picture 4">
              <a:extLst>
                <a:ext uri="{FF2B5EF4-FFF2-40B4-BE49-F238E27FC236}">
                  <a16:creationId xmlns:a16="http://schemas.microsoft.com/office/drawing/2014/main" id="{00E5771B-C02A-3142-8B8A-1FD3FE3E13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3772" y="551033"/>
              <a:ext cx="6676008" cy="5007006"/>
            </a:xfrm>
            <a:prstGeom prst="rect">
              <a:avLst/>
            </a:prstGeom>
          </p:spPr>
        </p:pic>
        <p:sp>
          <p:nvSpPr>
            <p:cNvPr id="7" name="TextBox 6">
              <a:extLst>
                <a:ext uri="{FF2B5EF4-FFF2-40B4-BE49-F238E27FC236}">
                  <a16:creationId xmlns:a16="http://schemas.microsoft.com/office/drawing/2014/main" id="{5FAABF0A-67CE-A84F-AB86-2C5244B1C006}"/>
                </a:ext>
              </a:extLst>
            </p:cNvPr>
            <p:cNvSpPr txBox="1"/>
            <p:nvPr/>
          </p:nvSpPr>
          <p:spPr>
            <a:xfrm>
              <a:off x="6969368" y="5432323"/>
              <a:ext cx="1464816" cy="301840"/>
            </a:xfrm>
            <a:prstGeom prst="rect">
              <a:avLst/>
            </a:prstGeom>
            <a:noFill/>
          </p:spPr>
          <p:txBody>
            <a:bodyPr wrap="square" rtlCol="0" anchor="ctr">
              <a:noAutofit/>
            </a:bodyPr>
            <a:lstStyle/>
            <a:p>
              <a:pPr algn="ctr"/>
              <a:r>
                <a:rPr lang="en-US">
                  <a:solidFill>
                    <a:schemeClr val="tx1">
                      <a:lumMod val="65000"/>
                      <a:lumOff val="35000"/>
                    </a:schemeClr>
                  </a:solidFill>
                  <a:latin typeface="Calibri" panose="020F0502020204030204" pitchFamily="34" charset="0"/>
                  <a:cs typeface="Calibri" panose="020F0502020204030204" pitchFamily="34" charset="0"/>
                </a:rPr>
                <a:t>sepal width</a:t>
              </a:r>
            </a:p>
          </p:txBody>
        </p:sp>
        <p:sp>
          <p:nvSpPr>
            <p:cNvPr id="8" name="TextBox 7">
              <a:extLst>
                <a:ext uri="{FF2B5EF4-FFF2-40B4-BE49-F238E27FC236}">
                  <a16:creationId xmlns:a16="http://schemas.microsoft.com/office/drawing/2014/main" id="{9501DCE0-86BA-794D-B790-2748EDAF98D7}"/>
                </a:ext>
              </a:extLst>
            </p:cNvPr>
            <p:cNvSpPr txBox="1"/>
            <p:nvPr/>
          </p:nvSpPr>
          <p:spPr>
            <a:xfrm rot="16200000">
              <a:off x="3845908" y="2708308"/>
              <a:ext cx="1464816" cy="301840"/>
            </a:xfrm>
            <a:prstGeom prst="rect">
              <a:avLst/>
            </a:prstGeom>
            <a:noFill/>
          </p:spPr>
          <p:txBody>
            <a:bodyPr wrap="square" rtlCol="0" anchor="ctr">
              <a:noAutofit/>
            </a:bodyPr>
            <a:lstStyle/>
            <a:p>
              <a:pPr algn="ctr"/>
              <a:r>
                <a:rPr lang="en-US">
                  <a:solidFill>
                    <a:schemeClr val="tx1">
                      <a:lumMod val="65000"/>
                      <a:lumOff val="35000"/>
                    </a:schemeClr>
                  </a:solidFill>
                  <a:latin typeface="Calibri" panose="020F0502020204030204" pitchFamily="34" charset="0"/>
                  <a:cs typeface="Calibri" panose="020F0502020204030204" pitchFamily="34" charset="0"/>
                </a:rPr>
                <a:t>sepal length</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258FA62-6CAF-7B4E-9E81-8F12D946E57D}"/>
                    </a:ext>
                  </a:extLst>
                </p:cNvPr>
                <p:cNvSpPr txBox="1"/>
                <p:nvPr/>
              </p:nvSpPr>
              <p:spPr>
                <a:xfrm>
                  <a:off x="5892607" y="2228965"/>
                  <a:ext cx="1464816" cy="301840"/>
                </a:xfrm>
                <a:prstGeom prst="rect">
                  <a:avLst/>
                </a:prstGeom>
                <a:noFill/>
              </p:spPr>
              <p:txBody>
                <a:bodyPr wrap="square" rtlCol="0" anchor="ctr">
                  <a:noAutofit/>
                </a:bodyPr>
                <a:lstStyle/>
                <a:p>
                  <a:pPr algn="ctr"/>
                  <a14:m>
                    <m:oMathPara xmlns:m="http://schemas.openxmlformats.org/officeDocument/2006/math">
                      <m:oMath>
                        <m:r>
                          <a:rPr lang="en-US" i="1" dirty="0" smtClean="0">
                            <a:solidFill>
                              <a:srgbClr val="E41A1B"/>
                            </a:solidFill>
                            <a:latin typeface="Cambria Math" panose="02040503050406030204" pitchFamily="18" charset="0"/>
                            <a:cs typeface="Calibri" panose="020F0502020204030204" pitchFamily="34" charset="0"/>
                          </a:rPr>
                          <m:t>𝑦</m:t>
                        </m:r>
                        <m:r>
                          <a:rPr lang="en-US" i="1" dirty="0" smtClean="0">
                            <a:solidFill>
                              <a:srgbClr val="E41A1B"/>
                            </a:solidFill>
                            <a:latin typeface="Cambria Math" panose="02040503050406030204" pitchFamily="18" charset="0"/>
                            <a:cs typeface="Calibri" panose="020F0502020204030204" pitchFamily="34" charset="0"/>
                          </a:rPr>
                          <m:t>=0</m:t>
                        </m:r>
                      </m:oMath>
                    </m:oMathPara>
                  </a14:m>
                  <a:endParaRPr lang="en-US">
                    <a:solidFill>
                      <a:srgbClr val="E41A1B"/>
                    </a:solidFill>
                    <a:latin typeface="Calibri" panose="020F0502020204030204" pitchFamily="34" charset="0"/>
                    <a:cs typeface="Calibri" panose="020F0502020204030204" pitchFamily="34" charset="0"/>
                  </a:endParaRPr>
                </a:p>
              </p:txBody>
            </p:sp>
          </mc:Choice>
          <mc:Fallback xmlns="">
            <p:sp>
              <p:nvSpPr>
                <p:cNvPr id="11" name="TextBox 10">
                  <a:extLst>
                    <a:ext uri="{FF2B5EF4-FFF2-40B4-BE49-F238E27FC236}">
                      <a16:creationId xmlns:a16="http://schemas.microsoft.com/office/drawing/2014/main" id="{9258FA62-6CAF-7B4E-9E81-8F12D946E57D}"/>
                    </a:ext>
                  </a:extLst>
                </p:cNvPr>
                <p:cNvSpPr txBox="1">
                  <a:spLocks noRot="1" noChangeAspect="1" noMove="1" noResize="1" noEditPoints="1" noAdjustHandles="1" noChangeArrowheads="1" noChangeShapeType="1" noTextEdit="1"/>
                </p:cNvSpPr>
                <p:nvPr/>
              </p:nvSpPr>
              <p:spPr>
                <a:xfrm>
                  <a:off x="5892607" y="2228965"/>
                  <a:ext cx="1464816" cy="301840"/>
                </a:xfrm>
                <a:prstGeom prst="rect">
                  <a:avLst/>
                </a:prstGeom>
                <a:blipFill>
                  <a:blip r:embed="rId4"/>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11D5DB7-AD3A-194A-889F-5F9DFFAC1A30}"/>
                    </a:ext>
                  </a:extLst>
                </p:cNvPr>
                <p:cNvSpPr txBox="1"/>
                <p:nvPr/>
              </p:nvSpPr>
              <p:spPr>
                <a:xfrm>
                  <a:off x="8434184" y="3679724"/>
                  <a:ext cx="1464816" cy="301840"/>
                </a:xfrm>
                <a:prstGeom prst="rect">
                  <a:avLst/>
                </a:prstGeom>
                <a:noFill/>
              </p:spPr>
              <p:txBody>
                <a:bodyPr wrap="square" rtlCol="0" anchor="ctr">
                  <a:noAutofit/>
                </a:bodyPr>
                <a:lstStyle/>
                <a:p>
                  <a:pPr algn="ctr"/>
                  <a14:m>
                    <m:oMathPara xmlns:m="http://schemas.openxmlformats.org/officeDocument/2006/math">
                      <m:oMath>
                        <m:r>
                          <a:rPr lang="en-US" i="1" dirty="0" smtClean="0">
                            <a:solidFill>
                              <a:srgbClr val="5C6896"/>
                            </a:solidFill>
                            <a:latin typeface="Cambria Math" panose="02040503050406030204" pitchFamily="18" charset="0"/>
                            <a:cs typeface="Calibri" panose="020F0502020204030204" pitchFamily="34" charset="0"/>
                          </a:rPr>
                          <m:t>𝑦</m:t>
                        </m:r>
                        <m:r>
                          <a:rPr lang="en-US" i="1" dirty="0" smtClean="0">
                            <a:solidFill>
                              <a:srgbClr val="5C6896"/>
                            </a:solidFill>
                            <a:latin typeface="Cambria Math" panose="02040503050406030204" pitchFamily="18" charset="0"/>
                            <a:cs typeface="Calibri" panose="020F0502020204030204" pitchFamily="34" charset="0"/>
                          </a:rPr>
                          <m:t> = 1</m:t>
                        </m:r>
                      </m:oMath>
                    </m:oMathPara>
                  </a14:m>
                  <a:endParaRPr lang="en-US">
                    <a:solidFill>
                      <a:srgbClr val="5C6896"/>
                    </a:solidFill>
                    <a:latin typeface="Calibri" panose="020F0502020204030204" pitchFamily="34" charset="0"/>
                    <a:cs typeface="Calibri" panose="020F0502020204030204" pitchFamily="34" charset="0"/>
                  </a:endParaRPr>
                </a:p>
              </p:txBody>
            </p:sp>
          </mc:Choice>
          <mc:Fallback xmlns="">
            <p:sp>
              <p:nvSpPr>
                <p:cNvPr id="12" name="TextBox 11">
                  <a:extLst>
                    <a:ext uri="{FF2B5EF4-FFF2-40B4-BE49-F238E27FC236}">
                      <a16:creationId xmlns:a16="http://schemas.microsoft.com/office/drawing/2014/main" id="{111D5DB7-AD3A-194A-889F-5F9DFFAC1A30}"/>
                    </a:ext>
                  </a:extLst>
                </p:cNvPr>
                <p:cNvSpPr txBox="1">
                  <a:spLocks noRot="1" noChangeAspect="1" noMove="1" noResize="1" noEditPoints="1" noAdjustHandles="1" noChangeArrowheads="1" noChangeShapeType="1" noTextEdit="1"/>
                </p:cNvSpPr>
                <p:nvPr/>
              </p:nvSpPr>
              <p:spPr>
                <a:xfrm>
                  <a:off x="8434184" y="3679724"/>
                  <a:ext cx="1464816" cy="301840"/>
                </a:xfrm>
                <a:prstGeom prst="rect">
                  <a:avLst/>
                </a:prstGeom>
                <a:blipFill>
                  <a:blip r:embed="rId5"/>
                  <a:stretch>
                    <a:fillRect t="-4000" b="-32000"/>
                  </a:stretch>
                </a:blipFill>
              </p:spPr>
              <p:txBody>
                <a:bodyPr/>
                <a:lstStyle/>
                <a:p>
                  <a:r>
                    <a:rPr lang="en-US">
                      <a:noFill/>
                    </a:rPr>
                    <a:t> </a:t>
                  </a:r>
                </a:p>
              </p:txBody>
            </p:sp>
          </mc:Fallback>
        </mc:AlternateContent>
      </p:grpSp>
      <p:sp>
        <p:nvSpPr>
          <p:cNvPr id="9" name="Title 8">
            <a:extLst>
              <a:ext uri="{FF2B5EF4-FFF2-40B4-BE49-F238E27FC236}">
                <a16:creationId xmlns:a16="http://schemas.microsoft.com/office/drawing/2014/main" id="{9911F174-596D-76D2-D238-2ADDF7E47220}"/>
              </a:ext>
            </a:extLst>
          </p:cNvPr>
          <p:cNvSpPr>
            <a:spLocks noGrp="1"/>
          </p:cNvSpPr>
          <p:nvPr>
            <p:ph type="title"/>
          </p:nvPr>
        </p:nvSpPr>
        <p:spPr/>
        <p:txBody>
          <a:bodyPr/>
          <a:lstStyle/>
          <a:p>
            <a:r>
              <a:rPr lang="en-US"/>
              <a:t>Fisher Iris Dataset</a:t>
            </a:r>
          </a:p>
        </p:txBody>
      </p:sp>
      <p:sp>
        <p:nvSpPr>
          <p:cNvPr id="13" name="Date Placeholder 3">
            <a:extLst>
              <a:ext uri="{FF2B5EF4-FFF2-40B4-BE49-F238E27FC236}">
                <a16:creationId xmlns:a16="http://schemas.microsoft.com/office/drawing/2014/main" id="{DB0BA753-C030-D5C9-41E9-651D2B237F80}"/>
              </a:ext>
            </a:extLst>
          </p:cNvPr>
          <p:cNvSpPr txBox="1">
            <a:spLocks/>
          </p:cNvSpPr>
          <p:nvPr/>
        </p:nvSpPr>
        <p:spPr>
          <a:xfrm>
            <a:off x="3544507" y="6356349"/>
            <a:ext cx="2743200"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p:sp>
        <p:nvSpPr>
          <p:cNvPr id="15" name="Slide Number Placeholder 14">
            <a:extLst>
              <a:ext uri="{FF2B5EF4-FFF2-40B4-BE49-F238E27FC236}">
                <a16:creationId xmlns:a16="http://schemas.microsoft.com/office/drawing/2014/main" id="{001551FB-A0E6-6392-D68A-47B2F9FD69E0}"/>
              </a:ext>
            </a:extLst>
          </p:cNvPr>
          <p:cNvSpPr>
            <a:spLocks noGrp="1"/>
          </p:cNvSpPr>
          <p:nvPr>
            <p:ph type="sldNum" sz="quarter" idx="12"/>
          </p:nvPr>
        </p:nvSpPr>
        <p:spPr/>
        <p:txBody>
          <a:bodyPr/>
          <a:lstStyle/>
          <a:p>
            <a:fld id="{4FAB73BC-B049-4115-A692-8D63A059BFB8}" type="slidenum">
              <a:rPr lang="en-US" smtClean="0"/>
              <a:pPr/>
              <a:t>5</a:t>
            </a:fld>
            <a:endParaRPr lang="en-US"/>
          </a:p>
        </p:txBody>
      </p:sp>
    </p:spTree>
    <p:extLst>
      <p:ext uri="{BB962C8B-B14F-4D97-AF65-F5344CB8AC3E}">
        <p14:creationId xmlns:p14="http://schemas.microsoft.com/office/powerpoint/2010/main" val="2725720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AD23C-AC4D-8BD8-9221-88A258FAF6C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4982113-DB0D-6FF4-1AA0-925F33BF8954}"/>
              </a:ext>
            </a:extLst>
          </p:cNvPr>
          <p:cNvSpPr>
            <a:spLocks noGrp="1"/>
          </p:cNvSpPr>
          <p:nvPr>
            <p:ph type="title"/>
          </p:nvPr>
        </p:nvSpPr>
        <p:spPr>
          <a:xfrm>
            <a:off x="252919" y="1123837"/>
            <a:ext cx="2617281" cy="4601183"/>
          </a:xfrm>
        </p:spPr>
        <p:txBody>
          <a:bodyPr/>
          <a:lstStyle/>
          <a:p>
            <a:r>
              <a:rPr lang="en-US" dirty="0"/>
              <a:t>Decision Tree on Fisher Iris Dataset</a:t>
            </a:r>
          </a:p>
        </p:txBody>
      </p:sp>
      <p:sp>
        <p:nvSpPr>
          <p:cNvPr id="15" name="Slide Number Placeholder 14">
            <a:extLst>
              <a:ext uri="{FF2B5EF4-FFF2-40B4-BE49-F238E27FC236}">
                <a16:creationId xmlns:a16="http://schemas.microsoft.com/office/drawing/2014/main" id="{0B387FD7-2E63-8931-1336-17FCBF069246}"/>
              </a:ext>
            </a:extLst>
          </p:cNvPr>
          <p:cNvSpPr>
            <a:spLocks noGrp="1"/>
          </p:cNvSpPr>
          <p:nvPr>
            <p:ph type="sldNum" sz="quarter" idx="12"/>
          </p:nvPr>
        </p:nvSpPr>
        <p:spPr/>
        <p:txBody>
          <a:bodyPr/>
          <a:lstStyle/>
          <a:p>
            <a:fld id="{4FAB73BC-B049-4115-A692-8D63A059BFB8}" type="slidenum">
              <a:rPr lang="en-US" smtClean="0"/>
              <a:pPr/>
              <a:t>6</a:t>
            </a:fld>
            <a:endParaRPr lang="en-US"/>
          </a:p>
        </p:txBody>
      </p:sp>
      <p:pic>
        <p:nvPicPr>
          <p:cNvPr id="3" name="Picture 2">
            <a:extLst>
              <a:ext uri="{FF2B5EF4-FFF2-40B4-BE49-F238E27FC236}">
                <a16:creationId xmlns:a16="http://schemas.microsoft.com/office/drawing/2014/main" id="{8A912E8F-B5E0-5524-DBB9-076710D335BA}"/>
              </a:ext>
            </a:extLst>
          </p:cNvPr>
          <p:cNvPicPr>
            <a:picLocks noChangeAspect="1"/>
          </p:cNvPicPr>
          <p:nvPr/>
        </p:nvPicPr>
        <p:blipFill>
          <a:blip r:embed="rId3"/>
          <a:stretch>
            <a:fillRect/>
          </a:stretch>
        </p:blipFill>
        <p:spPr>
          <a:xfrm>
            <a:off x="3552732" y="698059"/>
            <a:ext cx="7496267" cy="5461882"/>
          </a:xfrm>
          <a:prstGeom prst="rect">
            <a:avLst/>
          </a:prstGeom>
        </p:spPr>
      </p:pic>
    </p:spTree>
    <p:extLst>
      <p:ext uri="{BB962C8B-B14F-4D97-AF65-F5344CB8AC3E}">
        <p14:creationId xmlns:p14="http://schemas.microsoft.com/office/powerpoint/2010/main" val="566748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882A6BF-A8EE-4D4D-92B7-E8FF3CFFDAEC}"/>
              </a:ext>
            </a:extLst>
          </p:cNvPr>
          <p:cNvSpPr>
            <a:spLocks noGrp="1"/>
          </p:cNvSpPr>
          <p:nvPr>
            <p:ph type="title"/>
          </p:nvPr>
        </p:nvSpPr>
        <p:spPr>
          <a:xfrm>
            <a:off x="866648" y="4660591"/>
            <a:ext cx="10210862" cy="1065690"/>
          </a:xfrm>
        </p:spPr>
        <p:txBody>
          <a:bodyPr vert="horz" lIns="91440" tIns="45720" rIns="91440" bIns="45720" rtlCol="0" anchor="b">
            <a:normAutofit/>
          </a:bodyPr>
          <a:lstStyle/>
          <a:p>
            <a:r>
              <a:rPr lang="en-US" sz="5900" spc="-100" dirty="0"/>
              <a:t>The Duck Test</a:t>
            </a:r>
          </a:p>
        </p:txBody>
      </p:sp>
      <p:pic>
        <p:nvPicPr>
          <p:cNvPr id="8" name="Content Placeholder 4">
            <a:extLst>
              <a:ext uri="{FF2B5EF4-FFF2-40B4-BE49-F238E27FC236}">
                <a16:creationId xmlns:a16="http://schemas.microsoft.com/office/drawing/2014/main" id="{2612F8CD-FDF9-6F46-B094-E7FCFFF489BC}"/>
              </a:ext>
            </a:extLst>
          </p:cNvPr>
          <p:cNvPicPr>
            <a:picLocks noGrp="1" noChangeAspect="1"/>
          </p:cNvPicPr>
          <p:nvPr>
            <p:ph idx="1"/>
          </p:nvPr>
        </p:nvPicPr>
        <p:blipFill>
          <a:blip r:embed="rId3"/>
          <a:stretch>
            <a:fillRect/>
          </a:stretch>
        </p:blipFill>
        <p:spPr>
          <a:xfrm>
            <a:off x="1270971" y="484632"/>
            <a:ext cx="10235272" cy="3556755"/>
          </a:xfrm>
          <a:prstGeom prst="rect">
            <a:avLst/>
          </a:prstGeom>
        </p:spPr>
      </p:pic>
      <p:sp>
        <p:nvSpPr>
          <p:cNvPr id="6" name="Rectangle 5">
            <a:extLst>
              <a:ext uri="{FF2B5EF4-FFF2-40B4-BE49-F238E27FC236}">
                <a16:creationId xmlns:a16="http://schemas.microsoft.com/office/drawing/2014/main" id="{341978B7-BA65-1A44-BFF4-BD336E778E61}"/>
              </a:ext>
            </a:extLst>
          </p:cNvPr>
          <p:cNvSpPr/>
          <p:nvPr/>
        </p:nvSpPr>
        <p:spPr>
          <a:xfrm>
            <a:off x="4047067" y="3640667"/>
            <a:ext cx="7459176" cy="400720"/>
          </a:xfrm>
          <a:prstGeom prst="rect">
            <a:avLst/>
          </a:prstGeom>
          <a:noFill/>
          <a:ln w="38100">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D04AFFAF-D772-7E44-9A59-BCDA56D1BD40}"/>
              </a:ext>
            </a:extLst>
          </p:cNvPr>
          <p:cNvSpPr>
            <a:spLocks noGrp="1"/>
          </p:cNvSpPr>
          <p:nvPr>
            <p:ph type="sldNum" sz="quarter" idx="12"/>
          </p:nvPr>
        </p:nvSpPr>
        <p:spPr/>
        <p:txBody>
          <a:bodyPr/>
          <a:lstStyle/>
          <a:p>
            <a:fld id="{4FAB73BC-B049-4115-A692-8D63A059BFB8}" type="slidenum">
              <a:rPr lang="en-US" smtClean="0"/>
              <a:pPr/>
              <a:t>7</a:t>
            </a:fld>
            <a:endParaRPr lang="en-US"/>
          </a:p>
        </p:txBody>
      </p:sp>
      <p:sp>
        <p:nvSpPr>
          <p:cNvPr id="14" name="Date Placeholder 3">
            <a:extLst>
              <a:ext uri="{FF2B5EF4-FFF2-40B4-BE49-F238E27FC236}">
                <a16:creationId xmlns:a16="http://schemas.microsoft.com/office/drawing/2014/main" id="{5D4F83C6-3C09-2F4B-AD79-E472004D3A14}"/>
              </a:ext>
            </a:extLst>
          </p:cNvPr>
          <p:cNvSpPr txBox="1">
            <a:spLocks/>
          </p:cNvSpPr>
          <p:nvPr/>
        </p:nvSpPr>
        <p:spPr>
          <a:xfrm>
            <a:off x="3609762"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Source: </a:t>
            </a:r>
            <a:r>
              <a:rPr lang="en-US">
                <a:hlinkClick r:id="rId4"/>
              </a:rPr>
              <a:t>https://en.wikipedia.org/wiki/Duck_test</a:t>
            </a:r>
            <a:r>
              <a:rPr lang="en-US"/>
              <a:t> </a:t>
            </a:r>
          </a:p>
        </p:txBody>
      </p:sp>
    </p:spTree>
    <p:extLst>
      <p:ext uri="{BB962C8B-B14F-4D97-AF65-F5344CB8AC3E}">
        <p14:creationId xmlns:p14="http://schemas.microsoft.com/office/powerpoint/2010/main" val="405929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4B11-4463-0741-96EE-B8849A7EC340}"/>
              </a:ext>
            </a:extLst>
          </p:cNvPr>
          <p:cNvSpPr>
            <a:spLocks noGrp="1"/>
          </p:cNvSpPr>
          <p:nvPr>
            <p:ph type="title"/>
          </p:nvPr>
        </p:nvSpPr>
        <p:spPr/>
        <p:txBody>
          <a:bodyPr/>
          <a:lstStyle/>
          <a:p>
            <a:r>
              <a:rPr lang="en-US" dirty="0"/>
              <a:t>The Duck Test for Machine Learning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9CEA76-ED01-DD41-BD50-C328547DC021}"/>
                  </a:ext>
                </a:extLst>
              </p:cNvPr>
              <p:cNvSpPr>
                <a:spLocks noGrp="1"/>
              </p:cNvSpPr>
              <p:nvPr>
                <p:ph idx="1"/>
              </p:nvPr>
            </p:nvSpPr>
            <p:spPr>
              <a:xfrm>
                <a:off x="3869268" y="864108"/>
                <a:ext cx="7311350" cy="5120640"/>
              </a:xfrm>
            </p:spPr>
            <p:txBody>
              <a:bodyPr>
                <a:noAutofit/>
              </a:bodyPr>
              <a:lstStyle/>
              <a:p>
                <a:pPr>
                  <a:lnSpc>
                    <a:spcPct val="130000"/>
                  </a:lnSpc>
                </a:pPr>
                <a:r>
                  <a:rPr lang="en-US" dirty="0"/>
                  <a:t>Classify a point as the label of the “most similar” training point</a:t>
                </a:r>
                <a:r>
                  <a:rPr lang="zh-CN" altLang="en-US" dirty="0"/>
                  <a:t> </a:t>
                </a:r>
                <a:r>
                  <a:rPr lang="en-US" altLang="zh-CN" dirty="0"/>
                  <a:t>(similarity</a:t>
                </a:r>
                <a:r>
                  <a:rPr lang="zh-CN" altLang="en-US" dirty="0"/>
                  <a:t> </a:t>
                </a:r>
                <a:r>
                  <a:rPr lang="en-US" altLang="zh-CN" dirty="0"/>
                  <a:t>=</a:t>
                </a:r>
                <a:r>
                  <a:rPr lang="zh-CN" altLang="en-US" dirty="0"/>
                  <a:t> </a:t>
                </a:r>
                <a:r>
                  <a:rPr lang="en-US" altLang="zh-CN" dirty="0"/>
                  <a:t>best</a:t>
                </a:r>
                <a:r>
                  <a:rPr lang="zh-CN" altLang="en-US" dirty="0"/>
                  <a:t> </a:t>
                </a:r>
                <a:r>
                  <a:rPr lang="en-US" altLang="zh-CN" dirty="0"/>
                  <a:t>guess</a:t>
                </a:r>
                <a:r>
                  <a:rPr lang="zh-CN" altLang="en-US" dirty="0"/>
                  <a:t> </a:t>
                </a:r>
                <a:r>
                  <a:rPr lang="en-US" altLang="zh-CN" dirty="0"/>
                  <a:t>)</a:t>
                </a:r>
                <a:endParaRPr lang="en-US" dirty="0"/>
              </a:p>
              <a:p>
                <a:pPr>
                  <a:lnSpc>
                    <a:spcPct val="130000"/>
                  </a:lnSpc>
                </a:pPr>
                <a:r>
                  <a:rPr lang="en-US" dirty="0"/>
                  <a:t>Idea: given real-valued features, we can use a distance metric to determine how similar two data points are</a:t>
                </a:r>
              </a:p>
              <a:p>
                <a:pPr>
                  <a:lnSpc>
                    <a:spcPct val="130000"/>
                  </a:lnSpc>
                </a:pPr>
                <a:r>
                  <a:rPr lang="en-US" dirty="0"/>
                  <a:t>A common choice is Euclidean distance: </a:t>
                </a:r>
                <a:endParaRPr lang="en-US" i="1" dirty="0">
                  <a:solidFill>
                    <a:schemeClr val="accent6">
                      <a:lumMod val="75000"/>
                    </a:schemeClr>
                  </a:solidFill>
                  <a:latin typeface="Cambria Math" panose="02040503050406030204" pitchFamily="18" charset="0"/>
                </a:endParaRPr>
              </a:p>
              <a:p>
                <a:pPr marL="0" indent="0">
                  <a:lnSpc>
                    <a:spcPct val="100000"/>
                  </a:lnSpc>
                  <a:buNone/>
                </a:pPr>
                <a14:m>
                  <m:oMathPara xmlns:m="http://schemas.openxmlformats.org/officeDocument/2006/math">
                    <m:oMath>
                      <m:r>
                        <a:rPr lang="en-US" i="1" smtClean="0">
                          <a:solidFill>
                            <a:schemeClr val="accent6">
                              <a:lumMod val="75000"/>
                            </a:schemeClr>
                          </a:solidFill>
                          <a:latin typeface="Cambria Math" panose="02040503050406030204" pitchFamily="18" charset="0"/>
                        </a:rPr>
                        <m:t>𝑑</m:t>
                      </m:r>
                      <m:d>
                        <m:dPr>
                          <m:ctrlPr>
                            <a:rPr lang="en-US" b="1" i="1">
                              <a:solidFill>
                                <a:schemeClr val="accent6">
                                  <a:lumMod val="75000"/>
                                </a:schemeClr>
                              </a:solidFill>
                              <a:latin typeface="Cambria Math" panose="02040503050406030204" pitchFamily="18" charset="0"/>
                            </a:rPr>
                          </m:ctrlPr>
                        </m:dPr>
                        <m:e>
                          <m:r>
                            <a:rPr lang="en-US" b="1" i="1">
                              <a:solidFill>
                                <a:schemeClr val="accent6">
                                  <a:lumMod val="75000"/>
                                </a:schemeClr>
                              </a:solidFill>
                              <a:latin typeface="Cambria Math" panose="02040503050406030204" pitchFamily="18" charset="0"/>
                            </a:rPr>
                            <m:t>𝒙</m:t>
                          </m:r>
                          <m:r>
                            <a:rPr lang="en-US" i="1">
                              <a:solidFill>
                                <a:schemeClr val="accent6">
                                  <a:lumMod val="75000"/>
                                </a:schemeClr>
                              </a:solidFill>
                              <a:latin typeface="Cambria Math" panose="02040503050406030204" pitchFamily="18" charset="0"/>
                            </a:rPr>
                            <m:t>,</m:t>
                          </m:r>
                          <m:r>
                            <a:rPr lang="en-US" b="1" i="1">
                              <a:solidFill>
                                <a:schemeClr val="accent6">
                                  <a:lumMod val="75000"/>
                                </a:schemeClr>
                              </a:solidFill>
                              <a:latin typeface="Cambria Math" panose="02040503050406030204" pitchFamily="18" charset="0"/>
                            </a:rPr>
                            <m:t>𝒙</m:t>
                          </m:r>
                          <m:r>
                            <a:rPr lang="en-US" b="1" i="1">
                              <a:solidFill>
                                <a:schemeClr val="accent6">
                                  <a:lumMod val="75000"/>
                                </a:schemeClr>
                              </a:solidFill>
                              <a:latin typeface="Cambria Math" panose="02040503050406030204" pitchFamily="18" charset="0"/>
                            </a:rPr>
                            <m:t>′</m:t>
                          </m:r>
                        </m:e>
                      </m:d>
                      <m:r>
                        <a:rPr lang="en-US" i="1">
                          <a:solidFill>
                            <a:schemeClr val="accent6">
                              <a:lumMod val="75000"/>
                            </a:schemeClr>
                          </a:solidFill>
                          <a:latin typeface="Cambria Math" panose="02040503050406030204" pitchFamily="18" charset="0"/>
                        </a:rPr>
                        <m:t>=</m:t>
                      </m:r>
                      <m:sSub>
                        <m:sSubPr>
                          <m:ctrlPr>
                            <a:rPr lang="en-US" b="1" i="1">
                              <a:solidFill>
                                <a:schemeClr val="accent6">
                                  <a:lumMod val="75000"/>
                                </a:schemeClr>
                              </a:solidFill>
                              <a:latin typeface="Cambria Math" panose="02040503050406030204" pitchFamily="18" charset="0"/>
                            </a:rPr>
                          </m:ctrlPr>
                        </m:sSubPr>
                        <m:e>
                          <m:d>
                            <m:dPr>
                              <m:begChr m:val="‖"/>
                              <m:endChr m:val="‖"/>
                              <m:ctrlPr>
                                <a:rPr lang="en-US" b="1" i="1">
                                  <a:solidFill>
                                    <a:schemeClr val="accent6">
                                      <a:lumMod val="75000"/>
                                    </a:schemeClr>
                                  </a:solidFill>
                                  <a:latin typeface="Cambria Math" panose="02040503050406030204" pitchFamily="18" charset="0"/>
                                </a:rPr>
                              </m:ctrlPr>
                            </m:dPr>
                            <m:e>
                              <m:r>
                                <a:rPr lang="en-US" b="1" i="1">
                                  <a:solidFill>
                                    <a:schemeClr val="accent6">
                                      <a:lumMod val="75000"/>
                                    </a:schemeClr>
                                  </a:solidFill>
                                  <a:latin typeface="Cambria Math" panose="02040503050406030204" pitchFamily="18" charset="0"/>
                                </a:rPr>
                                <m:t>𝒙</m:t>
                              </m:r>
                              <m:r>
                                <a:rPr lang="en-US" i="1">
                                  <a:solidFill>
                                    <a:schemeClr val="accent6">
                                      <a:lumMod val="75000"/>
                                    </a:schemeClr>
                                  </a:solidFill>
                                  <a:latin typeface="Cambria Math" panose="02040503050406030204" pitchFamily="18" charset="0"/>
                                </a:rPr>
                                <m:t>−</m:t>
                              </m:r>
                              <m:sSup>
                                <m:sSupPr>
                                  <m:ctrlPr>
                                    <a:rPr lang="en-US" b="1" i="1">
                                      <a:solidFill>
                                        <a:schemeClr val="accent6">
                                          <a:lumMod val="75000"/>
                                        </a:schemeClr>
                                      </a:solidFill>
                                      <a:latin typeface="Cambria Math" panose="02040503050406030204" pitchFamily="18" charset="0"/>
                                    </a:rPr>
                                  </m:ctrlPr>
                                </m:sSupPr>
                                <m:e>
                                  <m:r>
                                    <a:rPr lang="en-US" b="1" i="1">
                                      <a:solidFill>
                                        <a:schemeClr val="accent6">
                                          <a:lumMod val="75000"/>
                                        </a:schemeClr>
                                      </a:solidFill>
                                      <a:latin typeface="Cambria Math" panose="02040503050406030204" pitchFamily="18" charset="0"/>
                                    </a:rPr>
                                    <m:t>𝒙</m:t>
                                  </m:r>
                                </m:e>
                                <m:sup>
                                  <m:r>
                                    <a:rPr lang="en-US" b="1" i="1">
                                      <a:solidFill>
                                        <a:schemeClr val="accent6">
                                          <a:lumMod val="75000"/>
                                        </a:schemeClr>
                                      </a:solidFill>
                                      <a:latin typeface="Cambria Math" panose="02040503050406030204" pitchFamily="18" charset="0"/>
                                    </a:rPr>
                                    <m:t>′</m:t>
                                  </m:r>
                                </m:sup>
                              </m:sSup>
                            </m:e>
                          </m:d>
                        </m:e>
                        <m:sub>
                          <m:r>
                            <a:rPr lang="en-US" i="1">
                              <a:solidFill>
                                <a:schemeClr val="accent6">
                                  <a:lumMod val="75000"/>
                                </a:schemeClr>
                              </a:solidFill>
                              <a:latin typeface="Cambria Math" panose="02040503050406030204" pitchFamily="18" charset="0"/>
                            </a:rPr>
                            <m:t>2</m:t>
                          </m:r>
                        </m:sub>
                      </m:sSub>
                      <m:r>
                        <a:rPr lang="en-US" b="0" i="1" smtClean="0">
                          <a:solidFill>
                            <a:schemeClr val="accent6">
                              <a:lumMod val="75000"/>
                            </a:schemeClr>
                          </a:solidFill>
                          <a:latin typeface="Cambria Math" panose="02040503050406030204" pitchFamily="18" charset="0"/>
                        </a:rPr>
                        <m:t>=</m:t>
                      </m:r>
                      <m:rad>
                        <m:radPr>
                          <m:degHide m:val="on"/>
                          <m:ctrlPr>
                            <a:rPr lang="en-US" b="0" i="1" smtClean="0">
                              <a:solidFill>
                                <a:schemeClr val="accent6">
                                  <a:lumMod val="75000"/>
                                </a:schemeClr>
                              </a:solidFill>
                              <a:latin typeface="Cambria Math" panose="02040503050406030204" pitchFamily="18" charset="0"/>
                            </a:rPr>
                          </m:ctrlPr>
                        </m:radPr>
                        <m:deg/>
                        <m:e>
                          <m:nary>
                            <m:naryPr>
                              <m:chr m:val="∑"/>
                              <m:ctrlPr>
                                <a:rPr lang="en-US" b="0" i="1" smtClean="0">
                                  <a:solidFill>
                                    <a:schemeClr val="accent6">
                                      <a:lumMod val="75000"/>
                                    </a:schemeClr>
                                  </a:solidFill>
                                  <a:latin typeface="Cambria Math" panose="02040503050406030204" pitchFamily="18" charset="0"/>
                                </a:rPr>
                              </m:ctrlPr>
                            </m:naryPr>
                            <m:sub>
                              <m:r>
                                <m:rPr>
                                  <m:brk m:alnAt="23"/>
                                </m:rPr>
                                <a:rPr lang="en-US" b="0" i="1" smtClean="0">
                                  <a:solidFill>
                                    <a:schemeClr val="accent6">
                                      <a:lumMod val="75000"/>
                                    </a:schemeClr>
                                  </a:solidFill>
                                  <a:latin typeface="Cambria Math" panose="02040503050406030204" pitchFamily="18" charset="0"/>
                                </a:rPr>
                                <m:t>𝑑</m:t>
                              </m:r>
                              <m:r>
                                <a:rPr lang="en-US" b="0" i="1" smtClean="0">
                                  <a:solidFill>
                                    <a:schemeClr val="accent6">
                                      <a:lumMod val="75000"/>
                                    </a:schemeClr>
                                  </a:solidFill>
                                  <a:latin typeface="Cambria Math" panose="02040503050406030204" pitchFamily="18" charset="0"/>
                                </a:rPr>
                                <m:t>=1</m:t>
                              </m:r>
                            </m:sub>
                            <m:sup>
                              <m:r>
                                <a:rPr lang="en-US" b="0" i="1" smtClean="0">
                                  <a:solidFill>
                                    <a:schemeClr val="accent6">
                                      <a:lumMod val="75000"/>
                                    </a:schemeClr>
                                  </a:solidFill>
                                  <a:latin typeface="Cambria Math" panose="02040503050406030204" pitchFamily="18" charset="0"/>
                                </a:rPr>
                                <m:t>𝐷</m:t>
                              </m:r>
                            </m:sup>
                            <m:e>
                              <m:sSup>
                                <m:sSupPr>
                                  <m:ctrlPr>
                                    <a:rPr lang="en-US" b="0" i="1" smtClean="0">
                                      <a:solidFill>
                                        <a:schemeClr val="accent6">
                                          <a:lumMod val="75000"/>
                                        </a:schemeClr>
                                      </a:solidFill>
                                      <a:latin typeface="Cambria Math" panose="02040503050406030204" pitchFamily="18" charset="0"/>
                                    </a:rPr>
                                  </m:ctrlPr>
                                </m:sSupPr>
                                <m:e>
                                  <m:d>
                                    <m:dPr>
                                      <m:ctrlPr>
                                        <a:rPr lang="en-US" b="0" i="1" smtClean="0">
                                          <a:solidFill>
                                            <a:schemeClr val="accent6">
                                              <a:lumMod val="75000"/>
                                            </a:schemeClr>
                                          </a:solidFill>
                                          <a:latin typeface="Cambria Math" panose="02040503050406030204" pitchFamily="18" charset="0"/>
                                        </a:rPr>
                                      </m:ctrlPr>
                                    </m:dPr>
                                    <m:e>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𝑑</m:t>
                                          </m:r>
                                        </m:sub>
                                      </m:sSub>
                                      <m:r>
                                        <a:rPr lang="en-US" b="0" i="1" smtClean="0">
                                          <a:solidFill>
                                            <a:schemeClr val="accent6">
                                              <a:lumMod val="75000"/>
                                            </a:schemeClr>
                                          </a:solidFill>
                                          <a:latin typeface="Cambria Math" panose="02040503050406030204" pitchFamily="18" charset="0"/>
                                        </a:rPr>
                                        <m:t>−</m:t>
                                      </m:r>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𝑑</m:t>
                                          </m:r>
                                        </m:sub>
                                        <m:sup>
                                          <m:r>
                                            <a:rPr lang="en-US" b="0" i="1" smtClean="0">
                                              <a:solidFill>
                                                <a:schemeClr val="accent6">
                                                  <a:lumMod val="75000"/>
                                                </a:schemeClr>
                                              </a:solidFill>
                                              <a:latin typeface="Cambria Math" panose="02040503050406030204" pitchFamily="18" charset="0"/>
                                            </a:rPr>
                                            <m:t>′</m:t>
                                          </m:r>
                                        </m:sup>
                                      </m:sSubSup>
                                    </m:e>
                                  </m:d>
                                </m:e>
                                <m:sup>
                                  <m:r>
                                    <a:rPr lang="en-US" b="0" i="1" smtClean="0">
                                      <a:solidFill>
                                        <a:schemeClr val="accent6">
                                          <a:lumMod val="75000"/>
                                        </a:schemeClr>
                                      </a:solidFill>
                                      <a:latin typeface="Cambria Math" panose="02040503050406030204" pitchFamily="18" charset="0"/>
                                    </a:rPr>
                                    <m:t>2</m:t>
                                  </m:r>
                                </m:sup>
                              </m:sSup>
                            </m:e>
                          </m:nary>
                        </m:e>
                      </m:rad>
                    </m:oMath>
                  </m:oMathPara>
                </a14:m>
                <a:endParaRPr lang="en-US" dirty="0"/>
              </a:p>
              <a:p>
                <a:pPr>
                  <a:lnSpc>
                    <a:spcPct val="130000"/>
                  </a:lnSpc>
                </a:pPr>
                <a:r>
                  <a:rPr lang="en-US" dirty="0"/>
                  <a:t>An alternative is the Manhattan distance: </a:t>
                </a:r>
                <a:endParaRPr lang="en-US" i="1" dirty="0">
                  <a:solidFill>
                    <a:schemeClr val="accent6">
                      <a:lumMod val="75000"/>
                    </a:schemeClr>
                  </a:solidFill>
                  <a:latin typeface="Cambria Math" panose="02040503050406030204" pitchFamily="18" charset="0"/>
                </a:endParaRPr>
              </a:p>
              <a:p>
                <a:pPr marL="502920" lvl="1" indent="0">
                  <a:lnSpc>
                    <a:spcPct val="100000"/>
                  </a:lnSpc>
                  <a:buNone/>
                </a:pPr>
                <a14:m>
                  <m:oMathPara xmlns:m="http://schemas.openxmlformats.org/officeDocument/2006/math">
                    <m:oMath>
                      <m:r>
                        <a:rPr lang="en-US" sz="2400" i="1" smtClean="0">
                          <a:solidFill>
                            <a:schemeClr val="accent6">
                              <a:lumMod val="75000"/>
                            </a:schemeClr>
                          </a:solidFill>
                          <a:latin typeface="Cambria Math" panose="02040503050406030204" pitchFamily="18" charset="0"/>
                        </a:rPr>
                        <m:t>𝑑</m:t>
                      </m:r>
                      <m:d>
                        <m:dPr>
                          <m:ctrlPr>
                            <a:rPr lang="en-US" sz="2400" b="1" i="1">
                              <a:solidFill>
                                <a:schemeClr val="accent6">
                                  <a:lumMod val="75000"/>
                                </a:schemeClr>
                              </a:solidFill>
                              <a:latin typeface="Cambria Math" panose="02040503050406030204" pitchFamily="18" charset="0"/>
                            </a:rPr>
                          </m:ctrlPr>
                        </m:dPr>
                        <m:e>
                          <m:r>
                            <a:rPr lang="en-US" sz="2400" b="1" i="1">
                              <a:solidFill>
                                <a:schemeClr val="accent6">
                                  <a:lumMod val="75000"/>
                                </a:schemeClr>
                              </a:solidFill>
                              <a:latin typeface="Cambria Math" panose="02040503050406030204" pitchFamily="18" charset="0"/>
                            </a:rPr>
                            <m:t>𝒙</m:t>
                          </m:r>
                          <m:r>
                            <a:rPr lang="en-US" sz="2400" i="1">
                              <a:solidFill>
                                <a:schemeClr val="accent6">
                                  <a:lumMod val="75000"/>
                                </a:schemeClr>
                              </a:solidFill>
                              <a:latin typeface="Cambria Math" panose="02040503050406030204" pitchFamily="18" charset="0"/>
                            </a:rPr>
                            <m:t>,</m:t>
                          </m:r>
                          <m:r>
                            <a:rPr lang="en-US" sz="2400" b="1" i="1">
                              <a:solidFill>
                                <a:schemeClr val="accent6">
                                  <a:lumMod val="75000"/>
                                </a:schemeClr>
                              </a:solidFill>
                              <a:latin typeface="Cambria Math" panose="02040503050406030204" pitchFamily="18" charset="0"/>
                            </a:rPr>
                            <m:t>𝒙</m:t>
                          </m:r>
                          <m:r>
                            <a:rPr lang="en-US" sz="2400" b="1" i="1">
                              <a:solidFill>
                                <a:schemeClr val="accent6">
                                  <a:lumMod val="75000"/>
                                </a:schemeClr>
                              </a:solidFill>
                              <a:latin typeface="Cambria Math" panose="02040503050406030204" pitchFamily="18" charset="0"/>
                            </a:rPr>
                            <m:t>′</m:t>
                          </m:r>
                        </m:e>
                      </m:d>
                      <m:r>
                        <a:rPr lang="en-US" sz="2400" i="1">
                          <a:solidFill>
                            <a:schemeClr val="accent6">
                              <a:lumMod val="75000"/>
                            </a:schemeClr>
                          </a:solidFill>
                          <a:latin typeface="Cambria Math" panose="02040503050406030204" pitchFamily="18" charset="0"/>
                        </a:rPr>
                        <m:t>=</m:t>
                      </m:r>
                      <m:sSub>
                        <m:sSubPr>
                          <m:ctrlPr>
                            <a:rPr lang="en-US" sz="2400" b="1" i="1">
                              <a:solidFill>
                                <a:schemeClr val="accent6">
                                  <a:lumMod val="75000"/>
                                </a:schemeClr>
                              </a:solidFill>
                              <a:latin typeface="Cambria Math" panose="02040503050406030204" pitchFamily="18" charset="0"/>
                            </a:rPr>
                          </m:ctrlPr>
                        </m:sSubPr>
                        <m:e>
                          <m:d>
                            <m:dPr>
                              <m:begChr m:val="‖"/>
                              <m:endChr m:val="‖"/>
                              <m:ctrlPr>
                                <a:rPr lang="en-US" sz="2400" b="1" i="1">
                                  <a:solidFill>
                                    <a:schemeClr val="accent6">
                                      <a:lumMod val="75000"/>
                                    </a:schemeClr>
                                  </a:solidFill>
                                  <a:latin typeface="Cambria Math" panose="02040503050406030204" pitchFamily="18" charset="0"/>
                                </a:rPr>
                              </m:ctrlPr>
                            </m:dPr>
                            <m:e>
                              <m:r>
                                <a:rPr lang="en-US" sz="2400" b="1" i="1">
                                  <a:solidFill>
                                    <a:schemeClr val="accent6">
                                      <a:lumMod val="75000"/>
                                    </a:schemeClr>
                                  </a:solidFill>
                                  <a:latin typeface="Cambria Math" panose="02040503050406030204" pitchFamily="18" charset="0"/>
                                </a:rPr>
                                <m:t>𝒙</m:t>
                              </m:r>
                              <m:r>
                                <a:rPr lang="en-US" sz="2400" i="1">
                                  <a:solidFill>
                                    <a:schemeClr val="accent6">
                                      <a:lumMod val="75000"/>
                                    </a:schemeClr>
                                  </a:solidFill>
                                  <a:latin typeface="Cambria Math" panose="02040503050406030204" pitchFamily="18" charset="0"/>
                                </a:rPr>
                                <m:t>−</m:t>
                              </m:r>
                              <m:sSup>
                                <m:sSupPr>
                                  <m:ctrlPr>
                                    <a:rPr lang="en-US" sz="2400" b="1" i="1">
                                      <a:solidFill>
                                        <a:schemeClr val="accent6">
                                          <a:lumMod val="75000"/>
                                        </a:schemeClr>
                                      </a:solidFill>
                                      <a:latin typeface="Cambria Math" panose="02040503050406030204" pitchFamily="18" charset="0"/>
                                    </a:rPr>
                                  </m:ctrlPr>
                                </m:sSupPr>
                                <m:e>
                                  <m:r>
                                    <a:rPr lang="en-US" sz="2400" b="1" i="1">
                                      <a:solidFill>
                                        <a:schemeClr val="accent6">
                                          <a:lumMod val="75000"/>
                                        </a:schemeClr>
                                      </a:solidFill>
                                      <a:latin typeface="Cambria Math" panose="02040503050406030204" pitchFamily="18" charset="0"/>
                                    </a:rPr>
                                    <m:t>𝒙</m:t>
                                  </m:r>
                                </m:e>
                                <m:sup>
                                  <m:r>
                                    <a:rPr lang="en-US" sz="2400" b="1" i="1">
                                      <a:solidFill>
                                        <a:schemeClr val="accent6">
                                          <a:lumMod val="75000"/>
                                        </a:schemeClr>
                                      </a:solidFill>
                                      <a:latin typeface="Cambria Math" panose="02040503050406030204" pitchFamily="18" charset="0"/>
                                    </a:rPr>
                                    <m:t>′</m:t>
                                  </m:r>
                                </m:sup>
                              </m:sSup>
                            </m:e>
                          </m:d>
                        </m:e>
                        <m:sub>
                          <m:r>
                            <a:rPr lang="en-US" sz="2400" b="0" i="1" smtClean="0">
                              <a:solidFill>
                                <a:schemeClr val="accent6">
                                  <a:lumMod val="75000"/>
                                </a:schemeClr>
                              </a:solidFill>
                              <a:latin typeface="Cambria Math" panose="02040503050406030204" pitchFamily="18" charset="0"/>
                            </a:rPr>
                            <m:t>1</m:t>
                          </m:r>
                        </m:sub>
                      </m:sSub>
                      <m:r>
                        <a:rPr lang="en-US" sz="2400" b="0" i="1" smtClean="0">
                          <a:solidFill>
                            <a:schemeClr val="accent6">
                              <a:lumMod val="75000"/>
                            </a:schemeClr>
                          </a:solidFill>
                          <a:latin typeface="Cambria Math" panose="02040503050406030204" pitchFamily="18" charset="0"/>
                        </a:rPr>
                        <m:t>=</m:t>
                      </m:r>
                      <m:nary>
                        <m:naryPr>
                          <m:chr m:val="∑"/>
                          <m:ctrlPr>
                            <a:rPr lang="en-US" sz="2400" i="1">
                              <a:solidFill>
                                <a:schemeClr val="accent6">
                                  <a:lumMod val="75000"/>
                                </a:schemeClr>
                              </a:solidFill>
                              <a:latin typeface="Cambria Math" panose="02040503050406030204" pitchFamily="18" charset="0"/>
                            </a:rPr>
                          </m:ctrlPr>
                        </m:naryPr>
                        <m:sub>
                          <m:r>
                            <m:rPr>
                              <m:brk m:alnAt="23"/>
                            </m:rPr>
                            <a:rPr lang="en-US" sz="2400" i="1">
                              <a:solidFill>
                                <a:schemeClr val="accent6">
                                  <a:lumMod val="75000"/>
                                </a:schemeClr>
                              </a:solidFill>
                              <a:latin typeface="Cambria Math" panose="02040503050406030204" pitchFamily="18" charset="0"/>
                            </a:rPr>
                            <m:t>𝑑</m:t>
                          </m:r>
                          <m:r>
                            <a:rPr lang="en-US" sz="2400" i="1">
                              <a:solidFill>
                                <a:schemeClr val="accent6">
                                  <a:lumMod val="75000"/>
                                </a:schemeClr>
                              </a:solidFill>
                              <a:latin typeface="Cambria Math" panose="02040503050406030204" pitchFamily="18" charset="0"/>
                            </a:rPr>
                            <m:t>=1</m:t>
                          </m:r>
                        </m:sub>
                        <m:sup>
                          <m:r>
                            <a:rPr lang="en-US" sz="2400" i="1">
                              <a:solidFill>
                                <a:schemeClr val="accent6">
                                  <a:lumMod val="75000"/>
                                </a:schemeClr>
                              </a:solidFill>
                              <a:latin typeface="Cambria Math" panose="02040503050406030204" pitchFamily="18" charset="0"/>
                            </a:rPr>
                            <m:t>𝐷</m:t>
                          </m:r>
                        </m:sup>
                        <m:e>
                          <m:d>
                            <m:dPr>
                              <m:begChr m:val="|"/>
                              <m:endChr m:val="|"/>
                              <m:ctrlPr>
                                <a:rPr lang="en-US" sz="2400" b="0" i="1" smtClean="0">
                                  <a:solidFill>
                                    <a:schemeClr val="accent6">
                                      <a:lumMod val="75000"/>
                                    </a:schemeClr>
                                  </a:solidFill>
                                  <a:latin typeface="Cambria Math" panose="02040503050406030204" pitchFamily="18" charset="0"/>
                                </a:rPr>
                              </m:ctrlPr>
                            </m:dPr>
                            <m:e>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Sub>
                              <m:r>
                                <a:rPr lang="en-US" sz="2400" b="0" i="1" smtClean="0">
                                  <a:solidFill>
                                    <a:schemeClr val="accent6">
                                      <a:lumMod val="75000"/>
                                    </a:schemeClr>
                                  </a:solidFill>
                                  <a:latin typeface="Cambria Math" panose="02040503050406030204" pitchFamily="18" charset="0"/>
                                </a:rPr>
                                <m:t>−</m:t>
                              </m:r>
                              <m:sSubSup>
                                <m:sSubSupPr>
                                  <m:ctrlPr>
                                    <a:rPr lang="en-US" sz="2400" b="0" i="1" smtClean="0">
                                      <a:solidFill>
                                        <a:schemeClr val="accent6">
                                          <a:lumMod val="75000"/>
                                        </a:schemeClr>
                                      </a:solidFill>
                                      <a:latin typeface="Cambria Math" panose="02040503050406030204" pitchFamily="18" charset="0"/>
                                    </a:rPr>
                                  </m:ctrlPr>
                                </m:sSubSupPr>
                                <m:e>
                                  <m:r>
                                    <a:rPr lang="en-US" sz="2400" b="0" i="1" smtClean="0">
                                      <a:solidFill>
                                        <a:schemeClr val="accent6">
                                          <a:lumMod val="75000"/>
                                        </a:schemeClr>
                                      </a:solidFill>
                                      <a:latin typeface="Cambria Math" panose="02040503050406030204" pitchFamily="18" charset="0"/>
                                    </a:rPr>
                                    <m:t>𝑥</m:t>
                                  </m:r>
                                </m:e>
                                <m:sub>
                                  <m:r>
                                    <a:rPr lang="en-US" sz="2400" b="0" i="1" smtClean="0">
                                      <a:solidFill>
                                        <a:schemeClr val="accent6">
                                          <a:lumMod val="75000"/>
                                        </a:schemeClr>
                                      </a:solidFill>
                                      <a:latin typeface="Cambria Math" panose="02040503050406030204" pitchFamily="18" charset="0"/>
                                    </a:rPr>
                                    <m:t>𝑑</m:t>
                                  </m:r>
                                </m:sub>
                                <m:sup>
                                  <m:r>
                                    <a:rPr lang="en-US" sz="2400" b="0" i="1" smtClean="0">
                                      <a:solidFill>
                                        <a:schemeClr val="accent6">
                                          <a:lumMod val="75000"/>
                                        </a:schemeClr>
                                      </a:solidFill>
                                      <a:latin typeface="Cambria Math" panose="02040503050406030204" pitchFamily="18" charset="0"/>
                                    </a:rPr>
                                    <m:t>′</m:t>
                                  </m:r>
                                </m:sup>
                              </m:sSubSup>
                            </m:e>
                          </m:d>
                        </m:e>
                      </m:nary>
                    </m:oMath>
                  </m:oMathPara>
                </a14:m>
                <a:endParaRPr lang="en-US" sz="2400" dirty="0"/>
              </a:p>
            </p:txBody>
          </p:sp>
        </mc:Choice>
        <mc:Fallback xmlns="">
          <p:sp>
            <p:nvSpPr>
              <p:cNvPr id="3" name="Content Placeholder 2">
                <a:extLst>
                  <a:ext uri="{FF2B5EF4-FFF2-40B4-BE49-F238E27FC236}">
                    <a16:creationId xmlns:a16="http://schemas.microsoft.com/office/drawing/2014/main" id="{AD9CEA76-ED01-DD41-BD50-C328547DC021}"/>
                  </a:ext>
                </a:extLst>
              </p:cNvPr>
              <p:cNvSpPr>
                <a:spLocks noGrp="1" noRot="1" noChangeAspect="1" noMove="1" noResize="1" noEditPoints="1" noAdjustHandles="1" noChangeArrowheads="1" noChangeShapeType="1" noTextEdit="1"/>
              </p:cNvSpPr>
              <p:nvPr>
                <p:ph idx="1"/>
              </p:nvPr>
            </p:nvSpPr>
            <p:spPr>
              <a:xfrm>
                <a:off x="3869268" y="864108"/>
                <a:ext cx="7311350" cy="5120640"/>
              </a:xfrm>
              <a:blipFill>
                <a:blip r:embed="rId3"/>
                <a:stretch>
                  <a:fillRect l="-867" t="-7178" b="-42079"/>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8A040425-2F97-1B4F-9AFC-4B21A1E66FF9}"/>
              </a:ext>
            </a:extLst>
          </p:cNvPr>
          <p:cNvSpPr>
            <a:spLocks noGrp="1"/>
          </p:cNvSpPr>
          <p:nvPr>
            <p:ph type="sldNum" sz="quarter" idx="12"/>
          </p:nvPr>
        </p:nvSpPr>
        <p:spPr/>
        <p:txBody>
          <a:bodyPr/>
          <a:lstStyle/>
          <a:p>
            <a:fld id="{4FAB73BC-B049-4115-A692-8D63A059BFB8}" type="slidenum">
              <a:rPr lang="en-US" smtClean="0"/>
              <a:pPr/>
              <a:t>8</a:t>
            </a:fld>
            <a:endParaRPr lang="en-US"/>
          </a:p>
        </p:txBody>
      </p:sp>
    </p:spTree>
    <p:extLst>
      <p:ext uri="{BB962C8B-B14F-4D97-AF65-F5344CB8AC3E}">
        <p14:creationId xmlns:p14="http://schemas.microsoft.com/office/powerpoint/2010/main" val="328578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250"/>
                                        <p:tgtEl>
                                          <p:spTgt spid="3">
                                            <p:txEl>
                                              <p:pRg st="2" end="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dissolve">
                                      <p:cBhvr>
                                        <p:cTn id="15" dur="25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dissolve">
                                      <p:cBhvr>
                                        <p:cTn id="20" dur="250"/>
                                        <p:tgtEl>
                                          <p:spTgt spid="3">
                                            <p:txEl>
                                              <p:pRg st="4" end="4"/>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dissolve">
                                      <p:cBhvr>
                                        <p:cTn id="23" dur="2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0E83D-929D-8772-296E-4C8CE9B98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146BF-0203-C9AE-B32F-653719D184AC}"/>
              </a:ext>
            </a:extLst>
          </p:cNvPr>
          <p:cNvSpPr>
            <a:spLocks noGrp="1"/>
          </p:cNvSpPr>
          <p:nvPr>
            <p:ph type="title"/>
          </p:nvPr>
        </p:nvSpPr>
        <p:spPr/>
        <p:txBody>
          <a:bodyPr/>
          <a:lstStyle/>
          <a:p>
            <a:r>
              <a:rPr lang="en-US" dirty="0"/>
              <a:t>Nearest Neighbor Model</a:t>
            </a:r>
          </a:p>
        </p:txBody>
      </p:sp>
      <p:sp>
        <p:nvSpPr>
          <p:cNvPr id="6" name="Slide Number Placeholder 5">
            <a:extLst>
              <a:ext uri="{FF2B5EF4-FFF2-40B4-BE49-F238E27FC236}">
                <a16:creationId xmlns:a16="http://schemas.microsoft.com/office/drawing/2014/main" id="{A4CD1EDF-73DB-2F38-9FF6-6CC8B3D3F31B}"/>
              </a:ext>
            </a:extLst>
          </p:cNvPr>
          <p:cNvSpPr>
            <a:spLocks noGrp="1"/>
          </p:cNvSpPr>
          <p:nvPr>
            <p:ph type="sldNum" sz="quarter" idx="12"/>
          </p:nvPr>
        </p:nvSpPr>
        <p:spPr/>
        <p:txBody>
          <a:bodyPr/>
          <a:lstStyle/>
          <a:p>
            <a:fld id="{4FAB73BC-B049-4115-A692-8D63A059BFB8}" type="slidenum">
              <a:rPr lang="en-US" smtClean="0"/>
              <a:pPr/>
              <a:t>9</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E252555C-D439-7759-12E3-ED215811D066}"/>
                  </a:ext>
                </a:extLst>
              </p:cNvPr>
              <p:cNvSpPr txBox="1">
                <a:spLocks/>
              </p:cNvSpPr>
              <p:nvPr/>
            </p:nvSpPr>
            <p:spPr>
              <a:xfrm>
                <a:off x="3869268" y="-79170"/>
                <a:ext cx="7315288" cy="512064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lnSpc>
                    <a:spcPct val="130000"/>
                  </a:lnSpc>
                </a:pPr>
                <a:r>
                  <a:rPr lang="en-US" dirty="0"/>
                  <a:t>Classify a point as the label of the “most similar” training point</a:t>
                </a:r>
              </a:p>
              <a:p>
                <a:pPr>
                  <a:lnSpc>
                    <a:spcPct val="130000"/>
                  </a:lnSpc>
                </a:pPr>
                <a:r>
                  <a:rPr lang="en-US" dirty="0"/>
                  <a:t>Given a training dataset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smtClean="0">
                            <a:solidFill>
                              <a:schemeClr val="accent6">
                                <a:lumMod val="75000"/>
                              </a:schemeClr>
                            </a:solidFill>
                            <a:latin typeface="Cambria Math" panose="02040503050406030204" pitchFamily="18" charset="0"/>
                            <a:ea typeface="Cambria Math" panose="02040503050406030204" pitchFamily="18" charset="0"/>
                          </a:rPr>
                          <m:t>𝑡𝑟𝑎𝑖𝑛</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Sup>
                      <m:sSubSupPr>
                        <m:ctrlPr>
                          <a:rPr lang="en-US" i="1">
                            <a:solidFill>
                              <a:schemeClr val="accent6">
                                <a:lumMod val="75000"/>
                              </a:schemeClr>
                            </a:solidFill>
                            <a:latin typeface="Cambria Math" panose="02040503050406030204" pitchFamily="18" charset="0"/>
                            <a:ea typeface="Cambria Math" panose="02040503050406030204" pitchFamily="18" charset="0"/>
                          </a:rPr>
                        </m:ctrlPr>
                      </m:sSubSupPr>
                      <m:e>
                        <m:d>
                          <m:dPr>
                            <m:begChr m:val="{"/>
                            <m:endChr m:val="}"/>
                            <m:ctrlPr>
                              <a:rPr lang="en-US" i="1">
                                <a:solidFill>
                                  <a:schemeClr val="accent6">
                                    <a:lumMod val="75000"/>
                                  </a:schemeClr>
                                </a:solidFill>
                                <a:latin typeface="Cambria Math" panose="02040503050406030204" pitchFamily="18" charset="0"/>
                                <a:ea typeface="Cambria Math" panose="02040503050406030204" pitchFamily="18" charset="0"/>
                              </a:rPr>
                            </m:ctrlPr>
                          </m:dPr>
                          <m:e>
                            <m:d>
                              <m:dPr>
                                <m:ctrlPr>
                                  <a:rPr lang="en-US" b="1" i="1">
                                    <a:solidFill>
                                      <a:schemeClr val="accent6">
                                        <a:lumMod val="75000"/>
                                      </a:schemeClr>
                                    </a:solidFill>
                                    <a:latin typeface="Cambria Math" panose="02040503050406030204" pitchFamily="18" charset="0"/>
                                    <a:ea typeface="Cambria Math" panose="02040503050406030204" pitchFamily="18" charset="0"/>
                                  </a:rPr>
                                </m:ctrlPr>
                              </m:dPr>
                              <m:e>
                                <m:sSup>
                                  <m:sSupPr>
                                    <m:ctrlPr>
                                      <a:rPr lang="en-US" b="1" i="1">
                                        <a:solidFill>
                                          <a:schemeClr val="accent6">
                                            <a:lumMod val="75000"/>
                                          </a:schemeClr>
                                        </a:solidFill>
                                        <a:latin typeface="Cambria Math" panose="02040503050406030204" pitchFamily="18" charset="0"/>
                                        <a:ea typeface="Cambria Math" panose="02040503050406030204" pitchFamily="18" charset="0"/>
                                      </a:rPr>
                                    </m:ctrlPr>
                                  </m:sSupPr>
                                  <m:e>
                                    <m:r>
                                      <a:rPr lang="en-US" b="1" i="1">
                                        <a:solidFill>
                                          <a:schemeClr val="accent6">
                                            <a:lumMod val="75000"/>
                                          </a:schemeClr>
                                        </a:solidFill>
                                        <a:latin typeface="Cambria Math" panose="02040503050406030204" pitchFamily="18" charset="0"/>
                                        <a:ea typeface="Cambria Math" panose="02040503050406030204" pitchFamily="18" charset="0"/>
                                      </a:rPr>
                                      <m:t>𝒙</m:t>
                                    </m:r>
                                  </m:e>
                                  <m:sup>
                                    <m:d>
                                      <m:dPr>
                                        <m:ctrlPr>
                                          <a:rPr lang="en-US" i="1" smtClean="0">
                                            <a:solidFill>
                                              <a:schemeClr val="accent6">
                                                <a:lumMod val="75000"/>
                                              </a:schemeClr>
                                            </a:solidFill>
                                            <a:latin typeface="Cambria Math" panose="02040503050406030204" pitchFamily="18" charset="0"/>
                                            <a:ea typeface="Cambria Math" panose="02040503050406030204" pitchFamily="18" charset="0"/>
                                          </a:rPr>
                                        </m:ctrlPr>
                                      </m:dPr>
                                      <m:e>
                                        <m:r>
                                          <a:rPr lang="en-US" i="1" smtClean="0">
                                            <a:solidFill>
                                              <a:schemeClr val="accent6">
                                                <a:lumMod val="75000"/>
                                              </a:schemeClr>
                                            </a:solidFill>
                                            <a:latin typeface="Cambria Math" panose="02040503050406030204" pitchFamily="18" charset="0"/>
                                            <a:ea typeface="Cambria Math" panose="02040503050406030204" pitchFamily="18" charset="0"/>
                                          </a:rPr>
                                          <m:t>𝑛</m:t>
                                        </m:r>
                                      </m:e>
                                    </m:d>
                                  </m:sup>
                                </m:sSup>
                                <m:r>
                                  <a:rPr lang="en-US" i="1">
                                    <a:solidFill>
                                      <a:schemeClr val="accent6">
                                        <a:lumMod val="75000"/>
                                      </a:schemeClr>
                                    </a:solidFill>
                                    <a:latin typeface="Cambria Math" panose="02040503050406030204" pitchFamily="18" charset="0"/>
                                    <a:ea typeface="Cambria Math" panose="02040503050406030204" pitchFamily="18" charset="0"/>
                                  </a:rPr>
                                  <m:t>,</m:t>
                                </m:r>
                                <m:r>
                                  <a:rPr lang="en-US" i="1" smtClean="0">
                                    <a:solidFill>
                                      <a:schemeClr val="accent6">
                                        <a:lumMod val="75000"/>
                                      </a:schemeClr>
                                    </a:solidFill>
                                    <a:latin typeface="Cambria Math" panose="02040503050406030204" pitchFamily="18" charset="0"/>
                                    <a:ea typeface="Cambria Math" panose="02040503050406030204" pitchFamily="18" charset="0"/>
                                  </a:rPr>
                                  <m:t> </m:t>
                                </m:r>
                                <m:sSup>
                                  <m:sSupPr>
                                    <m:ctrlPr>
                                      <a:rPr lang="en-US" i="1">
                                        <a:solidFill>
                                          <a:schemeClr val="accent6">
                                            <a:lumMod val="75000"/>
                                          </a:schemeClr>
                                        </a:solidFill>
                                        <a:latin typeface="Cambria Math" panose="02040503050406030204" pitchFamily="18" charset="0"/>
                                        <a:ea typeface="Cambria Math" panose="02040503050406030204" pitchFamily="18" charset="0"/>
                                      </a:rPr>
                                    </m:ctrlPr>
                                  </m:sSupPr>
                                  <m:e>
                                    <m:r>
                                      <a:rPr lang="en-US" i="1">
                                        <a:solidFill>
                                          <a:schemeClr val="accent6">
                                            <a:lumMod val="75000"/>
                                          </a:schemeClr>
                                        </a:solidFill>
                                        <a:latin typeface="Cambria Math" panose="02040503050406030204" pitchFamily="18" charset="0"/>
                                        <a:ea typeface="Cambria Math" panose="02040503050406030204" pitchFamily="18" charset="0"/>
                                      </a:rPr>
                                      <m:t>𝑦</m:t>
                                    </m:r>
                                  </m:e>
                                  <m:sup>
                                    <m:d>
                                      <m:dPr>
                                        <m:ctrlPr>
                                          <a:rPr lang="en-US" i="1" smtClean="0">
                                            <a:solidFill>
                                              <a:schemeClr val="accent6">
                                                <a:lumMod val="75000"/>
                                              </a:schemeClr>
                                            </a:solidFill>
                                            <a:latin typeface="Cambria Math" panose="02040503050406030204" pitchFamily="18" charset="0"/>
                                            <a:ea typeface="Cambria Math" panose="02040503050406030204" pitchFamily="18" charset="0"/>
                                          </a:rPr>
                                        </m:ctrlPr>
                                      </m:dPr>
                                      <m:e>
                                        <m:r>
                                          <a:rPr lang="en-US" i="1" smtClean="0">
                                            <a:solidFill>
                                              <a:schemeClr val="accent6">
                                                <a:lumMod val="75000"/>
                                              </a:schemeClr>
                                            </a:solidFill>
                                            <a:latin typeface="Cambria Math" panose="02040503050406030204" pitchFamily="18" charset="0"/>
                                            <a:ea typeface="Cambria Math" panose="02040503050406030204" pitchFamily="18" charset="0"/>
                                          </a:rPr>
                                          <m:t>𝑛</m:t>
                                        </m:r>
                                      </m:e>
                                    </m:d>
                                  </m:sup>
                                </m:sSup>
                              </m:e>
                            </m:d>
                          </m:e>
                        </m:d>
                      </m:e>
                      <m:sub>
                        <m:r>
                          <a:rPr lang="en-US" i="1" smtClean="0">
                            <a:solidFill>
                              <a:schemeClr val="accent6">
                                <a:lumMod val="75000"/>
                              </a:schemeClr>
                            </a:solidFill>
                            <a:latin typeface="Cambria Math" panose="02040503050406030204" pitchFamily="18" charset="0"/>
                            <a:ea typeface="Cambria Math" panose="02040503050406030204" pitchFamily="18" charset="0"/>
                          </a:rPr>
                          <m:t>𝑛</m:t>
                        </m:r>
                        <m:r>
                          <a:rPr lang="en-US" i="1" smtClean="0">
                            <a:solidFill>
                              <a:schemeClr val="accent6">
                                <a:lumMod val="75000"/>
                              </a:schemeClr>
                            </a:solidFill>
                            <a:latin typeface="Cambria Math" panose="02040503050406030204" pitchFamily="18" charset="0"/>
                            <a:ea typeface="Cambria Math" panose="02040503050406030204" pitchFamily="18" charset="0"/>
                          </a:rPr>
                          <m:t>=1</m:t>
                        </m:r>
                      </m:sub>
                      <m:sup>
                        <m:r>
                          <a:rPr lang="en-US" i="1" smtClean="0">
                            <a:solidFill>
                              <a:schemeClr val="accent6">
                                <a:lumMod val="75000"/>
                              </a:schemeClr>
                            </a:solidFill>
                            <a:latin typeface="Cambria Math" panose="02040503050406030204" pitchFamily="18" charset="0"/>
                            <a:ea typeface="Cambria Math" panose="02040503050406030204" pitchFamily="18" charset="0"/>
                          </a:rPr>
                          <m:t>𝑁</m:t>
                        </m:r>
                      </m:sup>
                    </m:sSubSup>
                  </m:oMath>
                </a14:m>
                <a:endParaRPr lang="en-US" dirty="0"/>
              </a:p>
              <a:p>
                <a:pPr marL="0" indent="0">
                  <a:lnSpc>
                    <a:spcPct val="130000"/>
                  </a:lnSpc>
                  <a:buFont typeface="Wingdings 2" pitchFamily="18" charset="2"/>
                  <a:buNone/>
                </a:pPr>
                <a14:m>
                  <m:oMathPara xmlns:m="http://schemas.openxmlformats.org/officeDocument/2006/math">
                    <m:oMath>
                      <m:r>
                        <m:rPr>
                          <m:nor/>
                        </m:rPr>
                        <a:rPr lang="en-US" i="0" dirty="0"/>
                        <m:t>Let</m:t>
                      </m:r>
                      <m:r>
                        <a:rPr lang="en-US" i="1" dirty="0" smtClean="0">
                          <a:latin typeface="Cambria Math" panose="02040503050406030204" pitchFamily="18" charset="0"/>
                        </a:rPr>
                        <m:t> </m:t>
                      </m:r>
                      <m:acc>
                        <m:accPr>
                          <m:chr m:val="̂"/>
                          <m:ctrlPr>
                            <a:rPr lang="en-US" i="1" smtClean="0">
                              <a:solidFill>
                                <a:schemeClr val="accent6">
                                  <a:lumMod val="75000"/>
                                </a:schemeClr>
                              </a:solidFill>
                              <a:latin typeface="Cambria Math" panose="02040503050406030204" pitchFamily="18" charset="0"/>
                            </a:rPr>
                          </m:ctrlPr>
                        </m:accPr>
                        <m:e>
                          <m:r>
                            <a:rPr lang="en-US" i="1" smtClean="0">
                              <a:solidFill>
                                <a:schemeClr val="accent6">
                                  <a:lumMod val="75000"/>
                                </a:schemeClr>
                              </a:solidFill>
                              <a:latin typeface="Cambria Math" panose="02040503050406030204" pitchFamily="18" charset="0"/>
                            </a:rPr>
                            <m:t>𝑖</m:t>
                          </m:r>
                        </m:e>
                      </m:acc>
                      <m:d>
                        <m:dPr>
                          <m:ctrlPr>
                            <a:rPr lang="en-US" b="1" i="1" dirty="0" smtClean="0">
                              <a:solidFill>
                                <a:schemeClr val="accent6">
                                  <a:lumMod val="75000"/>
                                </a:schemeClr>
                              </a:solidFill>
                              <a:latin typeface="Cambria Math" panose="02040503050406030204" pitchFamily="18" charset="0"/>
                            </a:rPr>
                          </m:ctrlPr>
                        </m:dPr>
                        <m:e>
                          <m:r>
                            <a:rPr lang="en-US" b="1" i="1" dirty="0" smtClean="0">
                              <a:solidFill>
                                <a:schemeClr val="accent6">
                                  <a:lumMod val="75000"/>
                                </a:schemeClr>
                              </a:solidFill>
                              <a:latin typeface="Cambria Math" panose="02040503050406030204" pitchFamily="18" charset="0"/>
                            </a:rPr>
                            <m:t>𝒙</m:t>
                          </m:r>
                          <m:r>
                            <a:rPr lang="en-US" b="1" i="1" dirty="0" smtClean="0">
                              <a:solidFill>
                                <a:schemeClr val="accent6">
                                  <a:lumMod val="75000"/>
                                </a:schemeClr>
                              </a:solidFill>
                              <a:latin typeface="Cambria Math" panose="02040503050406030204" pitchFamily="18" charset="0"/>
                            </a:rPr>
                            <m:t>′</m:t>
                          </m:r>
                        </m:e>
                      </m:d>
                      <m:r>
                        <a:rPr lang="en-US" i="1" dirty="0" smtClean="0">
                          <a:solidFill>
                            <a:schemeClr val="accent6">
                              <a:lumMod val="75000"/>
                            </a:schemeClr>
                          </a:solidFill>
                          <a:latin typeface="Cambria Math" panose="02040503050406030204" pitchFamily="18" charset="0"/>
                        </a:rPr>
                        <m:t>=</m:t>
                      </m:r>
                      <m:func>
                        <m:funcPr>
                          <m:ctrlPr>
                            <a:rPr lang="en-US" i="1" dirty="0" smtClean="0">
                              <a:solidFill>
                                <a:schemeClr val="accent6">
                                  <a:lumMod val="75000"/>
                                </a:schemeClr>
                              </a:solidFill>
                              <a:latin typeface="Cambria Math" panose="02040503050406030204" pitchFamily="18" charset="0"/>
                            </a:rPr>
                          </m:ctrlPr>
                        </m:funcPr>
                        <m:fName>
                          <m:limLow>
                            <m:limLowPr>
                              <m:ctrlPr>
                                <a:rPr lang="en-US" dirty="0" smtClean="0">
                                  <a:solidFill>
                                    <a:schemeClr val="accent6">
                                      <a:lumMod val="75000"/>
                                    </a:schemeClr>
                                  </a:solidFill>
                                  <a:latin typeface="Cambria Math" panose="02040503050406030204" pitchFamily="18" charset="0"/>
                                </a:rPr>
                              </m:ctrlPr>
                            </m:limLowPr>
                            <m:e>
                              <m:r>
                                <m:rPr>
                                  <m:sty m:val="p"/>
                                </m:rPr>
                                <a:rPr lang="en-US" dirty="0" smtClean="0">
                                  <a:solidFill>
                                    <a:schemeClr val="accent6">
                                      <a:lumMod val="75000"/>
                                    </a:schemeClr>
                                  </a:solidFill>
                                  <a:latin typeface="Cambria Math" panose="02040503050406030204" pitchFamily="18" charset="0"/>
                                </a:rPr>
                                <m:t>argmin</m:t>
                              </m:r>
                            </m:e>
                            <m:lim>
                              <m:r>
                                <a:rPr lang="en-US" i="1" dirty="0" smtClean="0">
                                  <a:solidFill>
                                    <a:schemeClr val="accent6">
                                      <a:lumMod val="75000"/>
                                    </a:schemeClr>
                                  </a:solidFill>
                                  <a:latin typeface="Cambria Math" panose="02040503050406030204" pitchFamily="18" charset="0"/>
                                </a:rPr>
                                <m:t>𝑖</m:t>
                              </m:r>
                              <m:r>
                                <a:rPr lang="en-US" i="1" dirty="0" smtClean="0">
                                  <a:solidFill>
                                    <a:schemeClr val="accent6">
                                      <a:lumMod val="75000"/>
                                    </a:schemeClr>
                                  </a:solidFill>
                                  <a:latin typeface="Cambria Math" panose="02040503050406030204" pitchFamily="18" charset="0"/>
                                </a:rPr>
                                <m:t> ∈ </m:t>
                              </m:r>
                              <m:d>
                                <m:dPr>
                                  <m:begChr m:val="{"/>
                                  <m:endChr m:val="}"/>
                                  <m:ctrlPr>
                                    <a:rPr lang="en-US" i="1" dirty="0" smtClean="0">
                                      <a:solidFill>
                                        <a:schemeClr val="accent6">
                                          <a:lumMod val="75000"/>
                                        </a:schemeClr>
                                      </a:solidFill>
                                      <a:latin typeface="Cambria Math" panose="02040503050406030204" pitchFamily="18" charset="0"/>
                                    </a:rPr>
                                  </m:ctrlPr>
                                </m:dPr>
                                <m:e>
                                  <m:r>
                                    <a:rPr lang="en-US" i="1" dirty="0" smtClean="0">
                                      <a:solidFill>
                                        <a:schemeClr val="accent6">
                                          <a:lumMod val="75000"/>
                                        </a:schemeClr>
                                      </a:solidFill>
                                      <a:latin typeface="Cambria Math" panose="02040503050406030204" pitchFamily="18" charset="0"/>
                                    </a:rPr>
                                    <m:t>1,…, </m:t>
                                  </m:r>
                                  <m:r>
                                    <a:rPr lang="en-US" i="1" dirty="0" smtClean="0">
                                      <a:solidFill>
                                        <a:schemeClr val="accent6">
                                          <a:lumMod val="75000"/>
                                        </a:schemeClr>
                                      </a:solidFill>
                                      <a:latin typeface="Cambria Math" panose="02040503050406030204" pitchFamily="18" charset="0"/>
                                    </a:rPr>
                                    <m:t>𝑁</m:t>
                                  </m:r>
                                </m:e>
                              </m:d>
                            </m:lim>
                          </m:limLow>
                        </m:fName>
                        <m:e>
                          <m:r>
                            <a:rPr lang="en-US" i="1" dirty="0" smtClean="0">
                              <a:solidFill>
                                <a:schemeClr val="accent6">
                                  <a:lumMod val="75000"/>
                                </a:schemeClr>
                              </a:solidFill>
                              <a:latin typeface="Cambria Math" panose="02040503050406030204" pitchFamily="18" charset="0"/>
                            </a:rPr>
                            <m:t>𝑑</m:t>
                          </m:r>
                          <m:d>
                            <m:dPr>
                              <m:ctrlPr>
                                <a:rPr lang="en-US" b="1" i="1" dirty="0" smtClean="0">
                                  <a:solidFill>
                                    <a:schemeClr val="accent6">
                                      <a:lumMod val="75000"/>
                                    </a:schemeClr>
                                  </a:solidFill>
                                  <a:latin typeface="Cambria Math" panose="02040503050406030204" pitchFamily="18" charset="0"/>
                                </a:rPr>
                              </m:ctrlPr>
                            </m:dPr>
                            <m:e>
                              <m:sSup>
                                <m:sSupPr>
                                  <m:ctrlPr>
                                    <a:rPr lang="en-US" b="1" i="1" dirty="0" smtClean="0">
                                      <a:solidFill>
                                        <a:schemeClr val="accent6">
                                          <a:lumMod val="75000"/>
                                        </a:schemeClr>
                                      </a:solidFill>
                                      <a:latin typeface="Cambria Math" panose="02040503050406030204" pitchFamily="18" charset="0"/>
                                    </a:rPr>
                                  </m:ctrlPr>
                                </m:sSupPr>
                                <m:e>
                                  <m:r>
                                    <a:rPr lang="en-US" b="1" i="1" dirty="0" smtClean="0">
                                      <a:solidFill>
                                        <a:schemeClr val="accent6">
                                          <a:lumMod val="75000"/>
                                        </a:schemeClr>
                                      </a:solidFill>
                                      <a:latin typeface="Cambria Math" panose="02040503050406030204" pitchFamily="18" charset="0"/>
                                    </a:rPr>
                                    <m:t>𝒙</m:t>
                                  </m:r>
                                </m:e>
                                <m:sup>
                                  <m:d>
                                    <m:dPr>
                                      <m:ctrlPr>
                                        <a:rPr lang="en-US" i="1" dirty="0" smtClean="0">
                                          <a:solidFill>
                                            <a:schemeClr val="accent6">
                                              <a:lumMod val="75000"/>
                                            </a:schemeClr>
                                          </a:solidFill>
                                          <a:latin typeface="Cambria Math" panose="02040503050406030204" pitchFamily="18" charset="0"/>
                                        </a:rPr>
                                      </m:ctrlPr>
                                    </m:dPr>
                                    <m:e>
                                      <m:r>
                                        <a:rPr lang="en-US" i="1" dirty="0" smtClean="0">
                                          <a:solidFill>
                                            <a:schemeClr val="accent6">
                                              <a:lumMod val="75000"/>
                                            </a:schemeClr>
                                          </a:solidFill>
                                          <a:latin typeface="Cambria Math" panose="02040503050406030204" pitchFamily="18" charset="0"/>
                                        </a:rPr>
                                        <m:t>𝑖</m:t>
                                      </m:r>
                                    </m:e>
                                  </m:d>
                                </m:sup>
                              </m:sSup>
                              <m:r>
                                <a:rPr lang="en-US" i="1" dirty="0" smtClean="0">
                                  <a:solidFill>
                                    <a:schemeClr val="accent6">
                                      <a:lumMod val="75000"/>
                                    </a:schemeClr>
                                  </a:solidFill>
                                  <a:latin typeface="Cambria Math" panose="02040503050406030204" pitchFamily="18" charset="0"/>
                                </a:rPr>
                                <m:t>,</m:t>
                              </m:r>
                              <m:sSup>
                                <m:sSupPr>
                                  <m:ctrlPr>
                                    <a:rPr lang="en-US" b="1" i="1" dirty="0" smtClean="0">
                                      <a:solidFill>
                                        <a:schemeClr val="accent6">
                                          <a:lumMod val="75000"/>
                                        </a:schemeClr>
                                      </a:solidFill>
                                      <a:latin typeface="Cambria Math" panose="02040503050406030204" pitchFamily="18" charset="0"/>
                                    </a:rPr>
                                  </m:ctrlPr>
                                </m:sSupPr>
                                <m:e>
                                  <m:r>
                                    <a:rPr lang="en-US" b="1" i="1" dirty="0" smtClean="0">
                                      <a:solidFill>
                                        <a:schemeClr val="accent6">
                                          <a:lumMod val="75000"/>
                                        </a:schemeClr>
                                      </a:solidFill>
                                      <a:latin typeface="Cambria Math" panose="02040503050406030204" pitchFamily="18" charset="0"/>
                                    </a:rPr>
                                    <m:t>𝒙</m:t>
                                  </m:r>
                                </m:e>
                                <m:sup>
                                  <m:r>
                                    <a:rPr lang="en-US" b="1" i="1" dirty="0" smtClean="0">
                                      <a:solidFill>
                                        <a:schemeClr val="accent6">
                                          <a:lumMod val="75000"/>
                                        </a:schemeClr>
                                      </a:solidFill>
                                      <a:latin typeface="Cambria Math" panose="02040503050406030204" pitchFamily="18" charset="0"/>
                                    </a:rPr>
                                    <m:t>′</m:t>
                                  </m:r>
                                </m:sup>
                              </m:sSup>
                            </m:e>
                          </m:d>
                        </m:e>
                      </m:func>
                    </m:oMath>
                  </m:oMathPara>
                </a14:m>
                <a:endParaRPr lang="en-US" dirty="0"/>
              </a:p>
              <a:p>
                <a:pPr>
                  <a:lnSpc>
                    <a:spcPct val="130000"/>
                  </a:lnSpc>
                </a:pPr>
                <a:r>
                  <a:rPr lang="en-US" dirty="0"/>
                  <a:t>Then the nearest neighbor classifier can be written as</a:t>
                </a:r>
              </a:p>
              <a:p>
                <a:pPr marL="0" indent="0">
                  <a:lnSpc>
                    <a:spcPct val="130000"/>
                  </a:lnSpc>
                  <a:buFont typeface="Wingdings 2" pitchFamily="18" charset="2"/>
                  <a:buNone/>
                </a:pPr>
                <a14:m>
                  <m:oMathPara xmlns:m="http://schemas.openxmlformats.org/officeDocument/2006/math">
                    <m:oMath>
                      <m:r>
                        <a:rPr lang="en-US" i="1" smtClean="0">
                          <a:solidFill>
                            <a:schemeClr val="accent6">
                              <a:lumMod val="75000"/>
                            </a:schemeClr>
                          </a:solidFill>
                          <a:latin typeface="Cambria Math" panose="02040503050406030204" pitchFamily="18" charset="0"/>
                        </a:rPr>
                        <m:t>ℎ</m:t>
                      </m:r>
                      <m:d>
                        <m:dPr>
                          <m:ctrlPr>
                            <a:rPr lang="en-US" b="1" i="1" smtClean="0">
                              <a:solidFill>
                                <a:schemeClr val="accent6">
                                  <a:lumMod val="75000"/>
                                </a:schemeClr>
                              </a:solidFill>
                              <a:latin typeface="Cambria Math" panose="02040503050406030204" pitchFamily="18" charset="0"/>
                            </a:rPr>
                          </m:ctrlPr>
                        </m:dPr>
                        <m:e>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𝒙</m:t>
                              </m:r>
                            </m:e>
                            <m:sup>
                              <m:r>
                                <a:rPr lang="en-US" b="1" i="1" smtClean="0">
                                  <a:solidFill>
                                    <a:schemeClr val="accent6">
                                      <a:lumMod val="75000"/>
                                    </a:schemeClr>
                                  </a:solidFill>
                                  <a:latin typeface="Cambria Math" panose="02040503050406030204" pitchFamily="18" charset="0"/>
                                </a:rPr>
                                <m:t>′</m:t>
                              </m:r>
                            </m:sup>
                          </m:sSup>
                        </m:e>
                      </m:d>
                      <m:r>
                        <a:rPr lang="en-US" i="1" smtClean="0">
                          <a:solidFill>
                            <a:schemeClr val="accent6">
                              <a:lumMod val="75000"/>
                            </a:schemeClr>
                          </a:solidFill>
                          <a:latin typeface="Cambria Math" panose="02040503050406030204" pitchFamily="18" charset="0"/>
                        </a:rPr>
                        <m:t>=</m:t>
                      </m:r>
                      <m:sSup>
                        <m:sSupPr>
                          <m:ctrlPr>
                            <a:rPr lang="en-US" i="1" smtClean="0">
                              <a:solidFill>
                                <a:schemeClr val="accent6">
                                  <a:lumMod val="75000"/>
                                </a:schemeClr>
                              </a:solidFill>
                              <a:latin typeface="Cambria Math" panose="02040503050406030204" pitchFamily="18" charset="0"/>
                            </a:rPr>
                          </m:ctrlPr>
                        </m:sSupPr>
                        <m:e>
                          <m:r>
                            <a:rPr lang="en-US" i="1" smtClean="0">
                              <a:solidFill>
                                <a:schemeClr val="accent6">
                                  <a:lumMod val="75000"/>
                                </a:schemeClr>
                              </a:solidFill>
                              <a:latin typeface="Cambria Math" panose="02040503050406030204" pitchFamily="18" charset="0"/>
                            </a:rPr>
                            <m:t>𝑦</m:t>
                          </m:r>
                        </m:e>
                        <m:sup>
                          <m:d>
                            <m:dPr>
                              <m:ctrlPr>
                                <a:rPr lang="en-US" i="1">
                                  <a:solidFill>
                                    <a:schemeClr val="accent6">
                                      <a:lumMod val="75000"/>
                                    </a:schemeClr>
                                  </a:solidFill>
                                  <a:latin typeface="Cambria Math" panose="02040503050406030204" pitchFamily="18" charset="0"/>
                                </a:rPr>
                              </m:ctrlPr>
                            </m:dPr>
                            <m:e>
                              <m:acc>
                                <m:accPr>
                                  <m:chr m:val="̂"/>
                                  <m:ctrlPr>
                                    <a:rPr lang="en-US" i="1">
                                      <a:solidFill>
                                        <a:schemeClr val="accent6">
                                          <a:lumMod val="75000"/>
                                        </a:schemeClr>
                                      </a:solidFill>
                                      <a:latin typeface="Cambria Math" panose="02040503050406030204" pitchFamily="18" charset="0"/>
                                    </a:rPr>
                                  </m:ctrlPr>
                                </m:accPr>
                                <m:e>
                                  <m:r>
                                    <a:rPr lang="en-US" i="1">
                                      <a:solidFill>
                                        <a:schemeClr val="accent6">
                                          <a:lumMod val="75000"/>
                                        </a:schemeClr>
                                      </a:solidFill>
                                      <a:latin typeface="Cambria Math" panose="02040503050406030204" pitchFamily="18" charset="0"/>
                                    </a:rPr>
                                    <m:t>𝑖</m:t>
                                  </m:r>
                                </m:e>
                              </m:acc>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e>
                          </m:d>
                        </m:sup>
                      </m:sSup>
                    </m:oMath>
                  </m:oMathPara>
                </a14:m>
                <a:endParaRPr lang="en-US" dirty="0"/>
              </a:p>
            </p:txBody>
          </p:sp>
        </mc:Choice>
        <mc:Fallback xmlns="">
          <p:sp>
            <p:nvSpPr>
              <p:cNvPr id="8" name="Content Placeholder 2">
                <a:extLst>
                  <a:ext uri="{FF2B5EF4-FFF2-40B4-BE49-F238E27FC236}">
                    <a16:creationId xmlns:a16="http://schemas.microsoft.com/office/drawing/2014/main" id="{E252555C-D439-7759-12E3-ED215811D066}"/>
                  </a:ext>
                </a:extLst>
              </p:cNvPr>
              <p:cNvSpPr txBox="1">
                <a:spLocks noRot="1" noChangeAspect="1" noMove="1" noResize="1" noEditPoints="1" noAdjustHandles="1" noChangeArrowheads="1" noChangeShapeType="1" noTextEdit="1"/>
              </p:cNvSpPr>
              <p:nvPr/>
            </p:nvSpPr>
            <p:spPr>
              <a:xfrm>
                <a:off x="3869268" y="-79170"/>
                <a:ext cx="7315288" cy="5120640"/>
              </a:xfrm>
              <a:prstGeom prst="rect">
                <a:avLst/>
              </a:prstGeom>
              <a:blipFill>
                <a:blip r:embed="rId3"/>
                <a:stretch>
                  <a:fillRect l="-867"/>
                </a:stretch>
              </a:blipFill>
            </p:spPr>
            <p:txBody>
              <a:bodyPr/>
              <a:lstStyle/>
              <a:p>
                <a:r>
                  <a:rPr lang="en-US">
                    <a:noFill/>
                  </a:rPr>
                  <a:t> </a:t>
                </a:r>
              </a:p>
            </p:txBody>
          </p:sp>
        </mc:Fallback>
      </mc:AlternateContent>
    </p:spTree>
    <p:extLst>
      <p:ext uri="{BB962C8B-B14F-4D97-AF65-F5344CB8AC3E}">
        <p14:creationId xmlns:p14="http://schemas.microsoft.com/office/powerpoint/2010/main" val="3918636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dissolve">
                                      <p:cBhvr>
                                        <p:cTn id="7" dur="250"/>
                                        <p:tgtEl>
                                          <p:spTgt spid="8">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dissolve">
                                      <p:cBhvr>
                                        <p:cTn id="10" dur="250"/>
                                        <p:tgtEl>
                                          <p:spTgt spid="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Effect transition="in" filter="dissolve">
                                      <p:cBhvr>
                                        <p:cTn id="15" dur="250"/>
                                        <p:tgtEl>
                                          <p:spTgt spid="8">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8">
                                            <p:txEl>
                                              <p:pRg st="4" end="4"/>
                                            </p:txEl>
                                          </p:spTgt>
                                        </p:tgtEl>
                                        <p:attrNameLst>
                                          <p:attrName>style.visibility</p:attrName>
                                        </p:attrNameLst>
                                      </p:cBhvr>
                                      <p:to>
                                        <p:strVal val="visible"/>
                                      </p:to>
                                    </p:set>
                                    <p:animEffect transition="in" filter="dissolve">
                                      <p:cBhvr>
                                        <p:cTn id="18" dur="25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6D666E-B894-E84A-90E1-2C625050DE11}"/>
              </a:ext>
            </a:extLst>
          </p:cNvPr>
          <p:cNvPicPr>
            <a:picLocks noChangeAspect="1"/>
          </p:cNvPicPr>
          <p:nvPr/>
        </p:nvPicPr>
        <p:blipFill>
          <a:blip r:embed="rId3"/>
          <a:srcRect/>
          <a:stretch/>
        </p:blipFill>
        <p:spPr>
          <a:xfrm>
            <a:off x="5137463" y="765350"/>
            <a:ext cx="6193765" cy="5306757"/>
          </a:xfrm>
          <a:prstGeom prst="rect">
            <a:avLst/>
          </a:prstGeom>
        </p:spPr>
      </p:pic>
      <p:sp>
        <p:nvSpPr>
          <p:cNvPr id="11" name="Rectangle 10">
            <a:extLst>
              <a:ext uri="{FF2B5EF4-FFF2-40B4-BE49-F238E27FC236}">
                <a16:creationId xmlns:a16="http://schemas.microsoft.com/office/drawing/2014/main" id="{681577AD-DA5F-48B3-8FB9-5199BA9EE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5350"/>
            <a:ext cx="4642228" cy="5330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Slide Number Placeholder 5">
            <a:extLst>
              <a:ext uri="{FF2B5EF4-FFF2-40B4-BE49-F238E27FC236}">
                <a16:creationId xmlns:a16="http://schemas.microsoft.com/office/drawing/2014/main" id="{888CAB18-60E3-434B-9A05-A31CB8DE226E}"/>
              </a:ext>
            </a:extLst>
          </p:cNvPr>
          <p:cNvSpPr>
            <a:spLocks noGrp="1"/>
          </p:cNvSpPr>
          <p:nvPr>
            <p:ph type="sldNum" sz="quarter" idx="12"/>
          </p:nvPr>
        </p:nvSpPr>
        <p:spPr/>
        <p:txBody>
          <a:bodyPr/>
          <a:lstStyle/>
          <a:p>
            <a:fld id="{4FAB73BC-B049-4115-A692-8D63A059BFB8}" type="slidenum">
              <a:rPr lang="en-US" smtClean="0"/>
              <a:pPr/>
              <a:t>10</a:t>
            </a:fld>
            <a:endParaRPr lang="en-US"/>
          </a:p>
        </p:txBody>
      </p:sp>
      <p:sp>
        <p:nvSpPr>
          <p:cNvPr id="12" name="Title 5">
            <a:extLst>
              <a:ext uri="{FF2B5EF4-FFF2-40B4-BE49-F238E27FC236}">
                <a16:creationId xmlns:a16="http://schemas.microsoft.com/office/drawing/2014/main" id="{6012AA13-0295-A938-ABB7-0851B5B70D8A}"/>
              </a:ext>
            </a:extLst>
          </p:cNvPr>
          <p:cNvSpPr txBox="1">
            <a:spLocks/>
          </p:cNvSpPr>
          <p:nvPr/>
        </p:nvSpPr>
        <p:spPr>
          <a:xfrm>
            <a:off x="1069849" y="1298448"/>
            <a:ext cx="3258688" cy="32552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r>
              <a:rPr lang="en-US" sz="6000" spc="-100"/>
              <a:t>Nearest Neighbor: Example</a:t>
            </a:r>
          </a:p>
        </p:txBody>
      </p:sp>
    </p:spTree>
    <p:extLst>
      <p:ext uri="{BB962C8B-B14F-4D97-AF65-F5344CB8AC3E}">
        <p14:creationId xmlns:p14="http://schemas.microsoft.com/office/powerpoint/2010/main" val="998197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6D666E-B894-E84A-90E1-2C625050DE11}"/>
              </a:ext>
            </a:extLst>
          </p:cNvPr>
          <p:cNvPicPr>
            <a:picLocks noChangeAspect="1"/>
          </p:cNvPicPr>
          <p:nvPr/>
        </p:nvPicPr>
        <p:blipFill>
          <a:blip r:embed="rId3"/>
          <a:srcRect/>
          <a:stretch/>
        </p:blipFill>
        <p:spPr>
          <a:xfrm>
            <a:off x="5137463" y="765350"/>
            <a:ext cx="6193766" cy="5306757"/>
          </a:xfrm>
          <a:prstGeom prst="rect">
            <a:avLst/>
          </a:prstGeom>
        </p:spPr>
      </p:pic>
      <p:sp>
        <p:nvSpPr>
          <p:cNvPr id="11" name="Rectangle 10">
            <a:extLst>
              <a:ext uri="{FF2B5EF4-FFF2-40B4-BE49-F238E27FC236}">
                <a16:creationId xmlns:a16="http://schemas.microsoft.com/office/drawing/2014/main" id="{681577AD-DA5F-48B3-8FB9-5199BA9EE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5350"/>
            <a:ext cx="4642228" cy="5330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Slide Number Placeholder 5">
            <a:extLst>
              <a:ext uri="{FF2B5EF4-FFF2-40B4-BE49-F238E27FC236}">
                <a16:creationId xmlns:a16="http://schemas.microsoft.com/office/drawing/2014/main" id="{888CAB18-60E3-434B-9A05-A31CB8DE226E}"/>
              </a:ext>
            </a:extLst>
          </p:cNvPr>
          <p:cNvSpPr>
            <a:spLocks noGrp="1"/>
          </p:cNvSpPr>
          <p:nvPr>
            <p:ph type="sldNum" sz="quarter" idx="12"/>
          </p:nvPr>
        </p:nvSpPr>
        <p:spPr/>
        <p:txBody>
          <a:bodyPr/>
          <a:lstStyle/>
          <a:p>
            <a:fld id="{4FAB73BC-B049-4115-A692-8D63A059BFB8}" type="slidenum">
              <a:rPr lang="en-US" smtClean="0"/>
              <a:pPr/>
              <a:t>11</a:t>
            </a:fld>
            <a:endParaRPr lang="en-US"/>
          </a:p>
        </p:txBody>
      </p:sp>
      <p:sp>
        <p:nvSpPr>
          <p:cNvPr id="12" name="Title 5">
            <a:extLst>
              <a:ext uri="{FF2B5EF4-FFF2-40B4-BE49-F238E27FC236}">
                <a16:creationId xmlns:a16="http://schemas.microsoft.com/office/drawing/2014/main" id="{6012AA13-0295-A938-ABB7-0851B5B70D8A}"/>
              </a:ext>
            </a:extLst>
          </p:cNvPr>
          <p:cNvSpPr txBox="1">
            <a:spLocks/>
          </p:cNvSpPr>
          <p:nvPr/>
        </p:nvSpPr>
        <p:spPr>
          <a:xfrm>
            <a:off x="1069849" y="1298448"/>
            <a:ext cx="3258688" cy="32552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r>
              <a:rPr lang="en-US" sz="6000" spc="-100"/>
              <a:t>Nearest Neighbor: Example</a:t>
            </a:r>
          </a:p>
        </p:txBody>
      </p:sp>
    </p:spTree>
    <p:extLst>
      <p:ext uri="{BB962C8B-B14F-4D97-AF65-F5344CB8AC3E}">
        <p14:creationId xmlns:p14="http://schemas.microsoft.com/office/powerpoint/2010/main" val="79732859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81577AD-DA5F-48B3-8FB9-5199BA9EE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5350"/>
            <a:ext cx="4642228" cy="5330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Picture 7">
            <a:extLst>
              <a:ext uri="{FF2B5EF4-FFF2-40B4-BE49-F238E27FC236}">
                <a16:creationId xmlns:a16="http://schemas.microsoft.com/office/drawing/2014/main" id="{CC44E1E2-853B-2446-98F0-391043C5F043}"/>
              </a:ext>
            </a:extLst>
          </p:cNvPr>
          <p:cNvPicPr>
            <a:picLocks noChangeAspect="1"/>
          </p:cNvPicPr>
          <p:nvPr/>
        </p:nvPicPr>
        <p:blipFill>
          <a:blip r:embed="rId3"/>
          <a:srcRect/>
          <a:stretch/>
        </p:blipFill>
        <p:spPr>
          <a:xfrm>
            <a:off x="5137462" y="765349"/>
            <a:ext cx="6193765" cy="5306756"/>
          </a:xfrm>
          <a:prstGeom prst="rect">
            <a:avLst/>
          </a:prstGeom>
        </p:spPr>
      </p:pic>
      <p:sp>
        <p:nvSpPr>
          <p:cNvPr id="14" name="Slide Number Placeholder 13">
            <a:extLst>
              <a:ext uri="{FF2B5EF4-FFF2-40B4-BE49-F238E27FC236}">
                <a16:creationId xmlns:a16="http://schemas.microsoft.com/office/drawing/2014/main" id="{8F4324F0-5C13-774B-AEA7-B174A966FA16}"/>
              </a:ext>
            </a:extLst>
          </p:cNvPr>
          <p:cNvSpPr>
            <a:spLocks noGrp="1"/>
          </p:cNvSpPr>
          <p:nvPr>
            <p:ph type="sldNum" sz="quarter" idx="12"/>
          </p:nvPr>
        </p:nvSpPr>
        <p:spPr/>
        <p:txBody>
          <a:bodyPr/>
          <a:lstStyle/>
          <a:p>
            <a:fld id="{4FAB73BC-B049-4115-A692-8D63A059BFB8}" type="slidenum">
              <a:rPr lang="en-US" smtClean="0"/>
              <a:pPr/>
              <a:t>12</a:t>
            </a:fld>
            <a:endParaRPr lang="en-US"/>
          </a:p>
        </p:txBody>
      </p:sp>
      <p:sp>
        <p:nvSpPr>
          <p:cNvPr id="2" name="Title 5">
            <a:extLst>
              <a:ext uri="{FF2B5EF4-FFF2-40B4-BE49-F238E27FC236}">
                <a16:creationId xmlns:a16="http://schemas.microsoft.com/office/drawing/2014/main" id="{8835DC82-7990-8E71-4CD1-BF0386673EA6}"/>
              </a:ext>
            </a:extLst>
          </p:cNvPr>
          <p:cNvSpPr txBox="1">
            <a:spLocks/>
          </p:cNvSpPr>
          <p:nvPr/>
        </p:nvSpPr>
        <p:spPr>
          <a:xfrm>
            <a:off x="1069849" y="1298448"/>
            <a:ext cx="3258688" cy="32552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r>
              <a:rPr lang="en-US" sz="6000" spc="-100"/>
              <a:t>Nearest Neighbor: Example</a:t>
            </a:r>
          </a:p>
        </p:txBody>
      </p:sp>
    </p:spTree>
    <p:extLst>
      <p:ext uri="{BB962C8B-B14F-4D97-AF65-F5344CB8AC3E}">
        <p14:creationId xmlns:p14="http://schemas.microsoft.com/office/powerpoint/2010/main" val="25832977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5A3BF-2352-E842-91BB-8805ABD9F673}"/>
              </a:ext>
            </a:extLst>
          </p:cNvPr>
          <p:cNvSpPr>
            <a:spLocks noGrp="1"/>
          </p:cNvSpPr>
          <p:nvPr>
            <p:ph type="title"/>
          </p:nvPr>
        </p:nvSpPr>
        <p:spPr/>
        <p:txBody>
          <a:bodyPr/>
          <a:lstStyle/>
          <a:p>
            <a:r>
              <a:rPr lang="en-US" dirty="0"/>
              <a:t>The Nearest Neighbor Model</a:t>
            </a:r>
          </a:p>
        </p:txBody>
      </p:sp>
      <p:sp>
        <p:nvSpPr>
          <p:cNvPr id="3" name="Content Placeholder 2">
            <a:extLst>
              <a:ext uri="{FF2B5EF4-FFF2-40B4-BE49-F238E27FC236}">
                <a16:creationId xmlns:a16="http://schemas.microsoft.com/office/drawing/2014/main" id="{F6F50E94-AB95-BE41-B72E-572ADE39141A}"/>
              </a:ext>
            </a:extLst>
          </p:cNvPr>
          <p:cNvSpPr>
            <a:spLocks noGrp="1"/>
          </p:cNvSpPr>
          <p:nvPr>
            <p:ph idx="1"/>
          </p:nvPr>
        </p:nvSpPr>
        <p:spPr>
          <a:xfrm>
            <a:off x="3869268" y="864108"/>
            <a:ext cx="7315200" cy="5120640"/>
          </a:xfrm>
        </p:spPr>
        <p:txBody>
          <a:bodyPr>
            <a:normAutofit/>
          </a:bodyPr>
          <a:lstStyle/>
          <a:p>
            <a:pPr>
              <a:lnSpc>
                <a:spcPct val="130000"/>
              </a:lnSpc>
            </a:pPr>
            <a:r>
              <a:rPr lang="en-US" dirty="0"/>
              <a:t>Requires no training!</a:t>
            </a:r>
          </a:p>
          <a:p>
            <a:pPr>
              <a:lnSpc>
                <a:spcPct val="130000"/>
              </a:lnSpc>
            </a:pPr>
            <a:r>
              <a:rPr lang="en-US" dirty="0"/>
              <a:t>Always has zero training error! </a:t>
            </a:r>
          </a:p>
          <a:p>
            <a:pPr lvl="1">
              <a:lnSpc>
                <a:spcPct val="130000"/>
              </a:lnSpc>
            </a:pPr>
            <a:r>
              <a:rPr lang="en-US" sz="2400" b="1" i="1" dirty="0"/>
              <a:t>A data point is always its own nearest neighbor</a:t>
            </a:r>
            <a:r>
              <a:rPr lang="zh-CN" altLang="en-US" sz="2400" b="1" i="1" dirty="0"/>
              <a:t> </a:t>
            </a:r>
            <a:r>
              <a:rPr lang="en-US" altLang="zh-CN" sz="2400" b="1" i="1" dirty="0"/>
              <a:t>(distance=0)</a:t>
            </a:r>
            <a:endParaRPr lang="en-US" sz="2400" b="1" i="1" dirty="0"/>
          </a:p>
          <a:p>
            <a:pPr marL="0" indent="0">
              <a:lnSpc>
                <a:spcPct val="130000"/>
              </a:lnSpc>
              <a:buNone/>
            </a:pPr>
            <a:endParaRPr lang="en-US" dirty="0"/>
          </a:p>
        </p:txBody>
      </p:sp>
      <p:sp>
        <p:nvSpPr>
          <p:cNvPr id="6" name="Slide Number Placeholder 5">
            <a:extLst>
              <a:ext uri="{FF2B5EF4-FFF2-40B4-BE49-F238E27FC236}">
                <a16:creationId xmlns:a16="http://schemas.microsoft.com/office/drawing/2014/main" id="{CF981832-7B90-0543-9144-92A588CC8BC4}"/>
              </a:ext>
            </a:extLst>
          </p:cNvPr>
          <p:cNvSpPr>
            <a:spLocks noGrp="1"/>
          </p:cNvSpPr>
          <p:nvPr>
            <p:ph type="sldNum" sz="quarter" idx="12"/>
          </p:nvPr>
        </p:nvSpPr>
        <p:spPr/>
        <p:txBody>
          <a:bodyPr/>
          <a:lstStyle/>
          <a:p>
            <a:fld id="{4FAB73BC-B049-4115-A692-8D63A059BFB8}" type="slidenum">
              <a:rPr lang="en-US" smtClean="0"/>
              <a:pPr/>
              <a:t>13</a:t>
            </a:fld>
            <a:endParaRPr lang="en-US"/>
          </a:p>
        </p:txBody>
      </p:sp>
    </p:spTree>
    <p:extLst>
      <p:ext uri="{BB962C8B-B14F-4D97-AF65-F5344CB8AC3E}">
        <p14:creationId xmlns:p14="http://schemas.microsoft.com/office/powerpoint/2010/main" val="227550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2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C7395E-FD8E-3D93-6AC1-35E54CAFC735}"/>
                  </a:ext>
                </a:extLst>
              </p:cNvPr>
              <p:cNvSpPr>
                <a:spLocks noGrp="1"/>
              </p:cNvSpPr>
              <p:nvPr>
                <p:ph idx="1"/>
              </p:nvPr>
            </p:nvSpPr>
            <p:spPr>
              <a:xfrm>
                <a:off x="3952395" y="1033154"/>
                <a:ext cx="7315200" cy="629392"/>
              </a:xfrm>
            </p:spPr>
            <p:txBody>
              <a:bodyPr/>
              <a:lstStyle/>
              <a:p>
                <a:pPr marL="0" indent="0">
                  <a:buNone/>
                </a:pPr>
                <a:r>
                  <a:rPr lang="en-US" dirty="0"/>
                  <a:t>Assume labels are </a:t>
                </a:r>
                <a:r>
                  <a:rPr lang="en-US" i="1" dirty="0"/>
                  <a:t>stochastic</a:t>
                </a:r>
                <a:r>
                  <a:rPr lang="en-US" dirty="0"/>
                  <a:t>: let </a:t>
                </a:r>
                <a14:m>
                  <m:oMath xmlns:m="http://schemas.openxmlformats.org/officeDocument/2006/math">
                    <m:r>
                      <a:rPr lang="en-US" i="1">
                        <a:solidFill>
                          <a:schemeClr val="accent6">
                            <a:lumMod val="75000"/>
                          </a:schemeClr>
                        </a:solidFill>
                        <a:latin typeface="Cambria Math" panose="02040503050406030204" pitchFamily="18" charset="0"/>
                      </a:rPr>
                      <m:t>𝜋</m:t>
                    </m:r>
                    <m:d>
                      <m:dPr>
                        <m:ctrlPr>
                          <a:rPr lang="en-US" b="1" i="1">
                            <a:solidFill>
                              <a:schemeClr val="accent6">
                                <a:lumMod val="75000"/>
                              </a:schemeClr>
                            </a:solidFill>
                            <a:latin typeface="Cambria Math" panose="02040503050406030204" pitchFamily="18" charset="0"/>
                          </a:rPr>
                        </m:ctrlPr>
                      </m:dPr>
                      <m:e>
                        <m:r>
                          <a:rPr lang="en-US" b="1" i="1">
                            <a:solidFill>
                              <a:schemeClr val="accent6">
                                <a:lumMod val="75000"/>
                              </a:schemeClr>
                            </a:solidFill>
                            <a:latin typeface="Cambria Math" panose="02040503050406030204" pitchFamily="18" charset="0"/>
                          </a:rPr>
                          <m:t>𝒙</m:t>
                        </m:r>
                      </m:e>
                    </m:d>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𝑃</m:t>
                    </m:r>
                    <m:d>
                      <m:dPr>
                        <m:begChr m:val="{"/>
                        <m:endChr m:val="}"/>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𝑦</m:t>
                        </m:r>
                        <m:r>
                          <a:rPr lang="en-US" i="1">
                            <a:solidFill>
                              <a:schemeClr val="accent6">
                                <a:lumMod val="75000"/>
                              </a:schemeClr>
                            </a:solidFill>
                            <a:latin typeface="Cambria Math" panose="02040503050406030204" pitchFamily="18" charset="0"/>
                          </a:rPr>
                          <m:t>=1</m:t>
                        </m:r>
                      </m:e>
                      <m:e>
                        <m:r>
                          <a:rPr lang="en-US" b="1" i="1">
                            <a:solidFill>
                              <a:schemeClr val="accent6">
                                <a:lumMod val="75000"/>
                              </a:schemeClr>
                            </a:solidFill>
                            <a:latin typeface="Cambria Math" panose="02040503050406030204" pitchFamily="18" charset="0"/>
                          </a:rPr>
                          <m:t>𝒙</m:t>
                        </m:r>
                      </m:e>
                    </m:d>
                  </m:oMath>
                </a14:m>
                <a:endParaRPr lang="en-US" dirty="0"/>
              </a:p>
            </p:txBody>
          </p:sp>
        </mc:Choice>
        <mc:Fallback xmlns="">
          <p:sp>
            <p:nvSpPr>
              <p:cNvPr id="3" name="Content Placeholder 2">
                <a:extLst>
                  <a:ext uri="{FF2B5EF4-FFF2-40B4-BE49-F238E27FC236}">
                    <a16:creationId xmlns:a16="http://schemas.microsoft.com/office/drawing/2014/main" id="{3DC7395E-FD8E-3D93-6AC1-35E54CAFC735}"/>
                  </a:ext>
                </a:extLst>
              </p:cNvPr>
              <p:cNvSpPr>
                <a:spLocks noGrp="1" noRot="1" noChangeAspect="1" noMove="1" noResize="1" noEditPoints="1" noAdjustHandles="1" noChangeArrowheads="1" noChangeShapeType="1" noTextEdit="1"/>
              </p:cNvSpPr>
              <p:nvPr>
                <p:ph idx="1"/>
              </p:nvPr>
            </p:nvSpPr>
            <p:spPr>
              <a:xfrm>
                <a:off x="3952395" y="1033154"/>
                <a:ext cx="7315200" cy="629392"/>
              </a:xfrm>
              <a:blipFill>
                <a:blip r:embed="rId3"/>
                <a:stretch>
                  <a:fillRect l="-1386" b="-392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295D465-64DA-1427-769F-6138493CBCCD}"/>
              </a:ext>
            </a:extLst>
          </p:cNvPr>
          <p:cNvSpPr>
            <a:spLocks noGrp="1"/>
          </p:cNvSpPr>
          <p:nvPr>
            <p:ph type="sldNum" sz="quarter" idx="12"/>
          </p:nvPr>
        </p:nvSpPr>
        <p:spPr/>
        <p:txBody>
          <a:bodyPr/>
          <a:lstStyle/>
          <a:p>
            <a:fld id="{4FAB73BC-B049-4115-A692-8D63A059BFB8}" type="slidenum">
              <a:rPr lang="en-US" smtClean="0"/>
              <a:pPr/>
              <a:t>14</a:t>
            </a:fld>
            <a:endParaRPr lang="en-US"/>
          </a:p>
        </p:txBody>
      </p:sp>
      <p:pic>
        <p:nvPicPr>
          <p:cNvPr id="5" name="Picture 4">
            <a:extLst>
              <a:ext uri="{FF2B5EF4-FFF2-40B4-BE49-F238E27FC236}">
                <a16:creationId xmlns:a16="http://schemas.microsoft.com/office/drawing/2014/main" id="{07EE78DC-6DAB-6CE2-7E61-D99AE38D11F7}"/>
              </a:ext>
            </a:extLst>
          </p:cNvPr>
          <p:cNvPicPr>
            <a:picLocks noChangeAspect="1"/>
          </p:cNvPicPr>
          <p:nvPr/>
        </p:nvPicPr>
        <p:blipFill>
          <a:blip r:embed="rId4"/>
          <a:stretch>
            <a:fillRect/>
          </a:stretch>
        </p:blipFill>
        <p:spPr>
          <a:xfrm>
            <a:off x="4443596" y="1942564"/>
            <a:ext cx="5722005" cy="2066884"/>
          </a:xfrm>
          <a:prstGeom prst="rect">
            <a:avLst/>
          </a:prstGeom>
        </p:spPr>
      </p:pic>
      <p:sp>
        <p:nvSpPr>
          <p:cNvPr id="2" name="Title 1">
            <a:extLst>
              <a:ext uri="{FF2B5EF4-FFF2-40B4-BE49-F238E27FC236}">
                <a16:creationId xmlns:a16="http://schemas.microsoft.com/office/drawing/2014/main" id="{EE4794FB-85AA-3222-3DC8-1BCFD1D73FC2}"/>
              </a:ext>
            </a:extLst>
          </p:cNvPr>
          <p:cNvSpPr>
            <a:spLocks noGrp="1"/>
          </p:cNvSpPr>
          <p:nvPr>
            <p:ph type="title"/>
          </p:nvPr>
        </p:nvSpPr>
        <p:spPr>
          <a:xfrm>
            <a:off x="252919" y="1123837"/>
            <a:ext cx="2947482" cy="4601183"/>
          </a:xfrm>
        </p:spPr>
        <p:txBody>
          <a:bodyPr/>
          <a:lstStyle/>
          <a:p>
            <a:r>
              <a:rPr lang="en-US" dirty="0"/>
              <a:t>Bayes Optimal Classifier</a:t>
            </a:r>
          </a:p>
        </p:txBody>
      </p:sp>
    </p:spTree>
    <p:extLst>
      <p:ext uri="{BB962C8B-B14F-4D97-AF65-F5344CB8AC3E}">
        <p14:creationId xmlns:p14="http://schemas.microsoft.com/office/powerpoint/2010/main" val="2295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8CA23-38D3-7C4C-B387-E745FCD88594}"/>
              </a:ext>
            </a:extLst>
          </p:cNvPr>
          <p:cNvSpPr>
            <a:spLocks noGrp="1"/>
          </p:cNvSpPr>
          <p:nvPr>
            <p:ph type="title"/>
          </p:nvPr>
        </p:nvSpPr>
        <p:spPr/>
        <p:txBody>
          <a:bodyPr/>
          <a:lstStyle/>
          <a:p>
            <a:r>
              <a:rPr lang="en-US" dirty="0"/>
              <a:t>Generalization of Nearest Neighbor (Cover and Hart, 1967)</a:t>
            </a:r>
          </a:p>
        </p:txBody>
      </p:sp>
      <p:sp>
        <p:nvSpPr>
          <p:cNvPr id="6" name="Slide Number Placeholder 5">
            <a:extLst>
              <a:ext uri="{FF2B5EF4-FFF2-40B4-BE49-F238E27FC236}">
                <a16:creationId xmlns:a16="http://schemas.microsoft.com/office/drawing/2014/main" id="{A7F6C9A6-6F12-8441-8FA1-3F9DA3876CC4}"/>
              </a:ext>
            </a:extLst>
          </p:cNvPr>
          <p:cNvSpPr>
            <a:spLocks noGrp="1"/>
          </p:cNvSpPr>
          <p:nvPr>
            <p:ph type="sldNum" sz="quarter" idx="12"/>
          </p:nvPr>
        </p:nvSpPr>
        <p:spPr/>
        <p:txBody>
          <a:bodyPr/>
          <a:lstStyle/>
          <a:p>
            <a:fld id="{4FAB73BC-B049-4115-A692-8D63A059BFB8}" type="slidenum">
              <a:rPr lang="en-US" smtClean="0"/>
              <a:pPr/>
              <a:t>15</a:t>
            </a:fld>
            <a:endParaRPr lang="en-US"/>
          </a:p>
        </p:txBody>
      </p:sp>
      <p:sp>
        <p:nvSpPr>
          <p:cNvPr id="7" name="Rectangle 6">
            <a:extLst>
              <a:ext uri="{FF2B5EF4-FFF2-40B4-BE49-F238E27FC236}">
                <a16:creationId xmlns:a16="http://schemas.microsoft.com/office/drawing/2014/main" id="{9A586285-24F7-0D4B-9BAE-FCB354594C27}"/>
              </a:ext>
            </a:extLst>
          </p:cNvPr>
          <p:cNvSpPr/>
          <p:nvPr/>
        </p:nvSpPr>
        <p:spPr>
          <a:xfrm>
            <a:off x="3771900" y="6408107"/>
            <a:ext cx="6096000" cy="261610"/>
          </a:xfrm>
          <a:prstGeom prst="rect">
            <a:avLst/>
          </a:prstGeom>
        </p:spPr>
        <p:txBody>
          <a:bodyPr>
            <a:spAutoFit/>
          </a:bodyPr>
          <a:lstStyle/>
          <a:p>
            <a:r>
              <a:rPr lang="en-US" sz="1100">
                <a:solidFill>
                  <a:schemeClr val="tx1">
                    <a:lumMod val="65000"/>
                    <a:lumOff val="35000"/>
                  </a:schemeClr>
                </a:solidFill>
                <a:latin typeface="Calibri" panose="020F0502020204030204" pitchFamily="34" charset="0"/>
                <a:cs typeface="Calibri" panose="020F0502020204030204" pitchFamily="34" charset="0"/>
              </a:rPr>
              <a:t>Source: </a:t>
            </a:r>
            <a:r>
              <a:rPr lang="en-US" sz="1100">
                <a:solidFill>
                  <a:schemeClr val="tx1">
                    <a:lumMod val="65000"/>
                    <a:lumOff val="35000"/>
                  </a:schemeClr>
                </a:solidFill>
                <a:latin typeface="Calibri" panose="020F0502020204030204" pitchFamily="34" charset="0"/>
                <a:cs typeface="Calibri" panose="020F0502020204030204" pitchFamily="34" charset="0"/>
                <a:hlinkClick r:id="rId3"/>
              </a:rPr>
              <a:t>https://ieeexplore.ieee.org/stamp/stamp.jsp?tp=&amp;arnumber=1053964</a:t>
            </a:r>
            <a:r>
              <a:rPr lang="en-US" sz="1100">
                <a:solidFill>
                  <a:schemeClr val="tx1">
                    <a:lumMod val="65000"/>
                    <a:lumOff val="35000"/>
                  </a:schemeClr>
                </a:solidFill>
                <a:latin typeface="Calibri" panose="020F0502020204030204" pitchFamily="34" charset="0"/>
                <a:cs typeface="Calibri" panose="020F0502020204030204" pitchFamily="34" charset="0"/>
              </a:rPr>
              <a:t> </a:t>
            </a:r>
            <a:endParaRPr lang="en-US" sz="110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D5E83D6D-5CE6-EB17-917C-0C22A6DB2AC2}"/>
                  </a:ext>
                </a:extLst>
              </p:cNvPr>
              <p:cNvSpPr txBox="1">
                <a:spLocks/>
              </p:cNvSpPr>
              <p:nvPr/>
            </p:nvSpPr>
            <p:spPr>
              <a:xfrm>
                <a:off x="3878492" y="864108"/>
                <a:ext cx="7671091" cy="512064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lnSpc>
                    <a:spcPct val="130000"/>
                  </a:lnSpc>
                </a:pPr>
                <a:r>
                  <a:rPr lang="en-US" b="1" dirty="0"/>
                  <a:t>Claim</a:t>
                </a:r>
                <a:r>
                  <a:rPr lang="en-US" dirty="0"/>
                  <a:t>: under certain conditions, as </a:t>
                </a:r>
                <a14:m>
                  <m:oMath xmlns:m="http://schemas.openxmlformats.org/officeDocument/2006/math">
                    <m:r>
                      <a:rPr lang="en-US" i="1" smtClean="0">
                        <a:solidFill>
                          <a:schemeClr val="accent6">
                            <a:lumMod val="75000"/>
                          </a:schemeClr>
                        </a:solidFill>
                        <a:latin typeface="Cambria Math" panose="02040503050406030204" pitchFamily="18" charset="0"/>
                      </a:rPr>
                      <m:t>𝑛</m:t>
                    </m:r>
                    <m:r>
                      <a:rPr lang="en-US" i="1" smtClean="0">
                        <a:solidFill>
                          <a:schemeClr val="accent6">
                            <a:lumMod val="75000"/>
                          </a:schemeClr>
                        </a:solidFill>
                        <a:latin typeface="Cambria Math" panose="02040503050406030204" pitchFamily="18" charset="0"/>
                      </a:rPr>
                      <m:t>→∞</m:t>
                    </m:r>
                  </m:oMath>
                </a14:m>
                <a:r>
                  <a:rPr lang="en-US" dirty="0"/>
                  <a:t>, with high probability, the true error rate of the nearest neighbor model </a:t>
                </a:r>
                <a14:m>
                  <m:oMath xmlns:m="http://schemas.openxmlformats.org/officeDocument/2006/math">
                    <m:r>
                      <a:rPr lang="en-US" i="1" smtClean="0">
                        <a:latin typeface="Cambria Math" panose="02040503050406030204" pitchFamily="18" charset="0"/>
                      </a:rPr>
                      <m:t>≤2 ∗</m:t>
                    </m:r>
                  </m:oMath>
                </a14:m>
                <a:r>
                  <a:rPr lang="en-US" dirty="0"/>
                  <a:t> the Bayes error rate (the optimal classifier)</a:t>
                </a:r>
              </a:p>
              <a:p>
                <a:pPr>
                  <a:lnSpc>
                    <a:spcPct val="130000"/>
                  </a:lnSpc>
                </a:pPr>
                <a:r>
                  <a:rPr lang="en-US" dirty="0"/>
                  <a:t>Proof: </a:t>
                </a:r>
              </a:p>
              <a:p>
                <a:pPr lvl="1">
                  <a:lnSpc>
                    <a:spcPct val="130000"/>
                  </a:lnSpc>
                </a:pPr>
                <a:r>
                  <a:rPr lang="en-US" sz="2400" dirty="0"/>
                  <a:t>Assume a binary classification problem: </a:t>
                </a:r>
                <a14:m>
                  <m:oMath xmlns:m="http://schemas.openxmlformats.org/officeDocument/2006/math">
                    <m:r>
                      <a:rPr lang="en-US" sz="2400" i="1" smtClean="0">
                        <a:solidFill>
                          <a:schemeClr val="accent6">
                            <a:lumMod val="75000"/>
                          </a:schemeClr>
                        </a:solidFill>
                        <a:latin typeface="Cambria Math" panose="02040503050406030204" pitchFamily="18" charset="0"/>
                        <a:ea typeface="Cambria Math" panose="02040503050406030204" pitchFamily="18" charset="0"/>
                      </a:rPr>
                      <m:t>𝒴</m:t>
                    </m:r>
                    <m:r>
                      <a:rPr lang="en-US" sz="2400" i="1" smtClean="0">
                        <a:solidFill>
                          <a:schemeClr val="accent6">
                            <a:lumMod val="75000"/>
                          </a:schemeClr>
                        </a:solidFill>
                        <a:latin typeface="Cambria Math" panose="02040503050406030204" pitchFamily="18" charset="0"/>
                        <a:ea typeface="Cambria Math" panose="02040503050406030204" pitchFamily="18" charset="0"/>
                      </a:rPr>
                      <m:t>=</m:t>
                    </m:r>
                    <m:d>
                      <m:dPr>
                        <m:begChr m:val="{"/>
                        <m:endChr m:val="}"/>
                        <m:ctrlPr>
                          <a:rPr lang="en-US" sz="2400" i="1" smtClean="0">
                            <a:solidFill>
                              <a:schemeClr val="accent6">
                                <a:lumMod val="75000"/>
                              </a:schemeClr>
                            </a:solidFill>
                            <a:latin typeface="Cambria Math" panose="02040503050406030204" pitchFamily="18" charset="0"/>
                            <a:ea typeface="Cambria Math" panose="02040503050406030204" pitchFamily="18" charset="0"/>
                          </a:rPr>
                        </m:ctrlPr>
                      </m:dPr>
                      <m:e>
                        <m:r>
                          <a:rPr lang="en-US" sz="2400" i="1" smtClean="0">
                            <a:solidFill>
                              <a:schemeClr val="accent6">
                                <a:lumMod val="75000"/>
                              </a:schemeClr>
                            </a:solidFill>
                            <a:latin typeface="Cambria Math" panose="02040503050406030204" pitchFamily="18" charset="0"/>
                            <a:ea typeface="Cambria Math" panose="02040503050406030204" pitchFamily="18" charset="0"/>
                          </a:rPr>
                          <m:t>1, 0</m:t>
                        </m:r>
                      </m:e>
                    </m:d>
                  </m:oMath>
                </a14:m>
                <a:endParaRPr lang="en-US" sz="2400" dirty="0"/>
              </a:p>
              <a:p>
                <a:pPr lvl="1">
                  <a:lnSpc>
                    <a:spcPct val="130000"/>
                  </a:lnSpc>
                </a:pPr>
                <a:r>
                  <a:rPr lang="en-US" sz="2400" dirty="0"/>
                  <a:t>Assume data points are drawn </a:t>
                </a:r>
                <a:r>
                  <a:rPr lang="en-US" sz="2400" i="1" dirty="0"/>
                  <a:t>independently</a:t>
                </a:r>
                <a:r>
                  <a:rPr lang="en-US" sz="2400" dirty="0"/>
                  <a:t> from some probability distribution </a:t>
                </a:r>
              </a:p>
              <a:p>
                <a:pPr lvl="1">
                  <a:lnSpc>
                    <a:spcPct val="130000"/>
                  </a:lnSpc>
                </a:pPr>
                <a:r>
                  <a:rPr lang="en-US" sz="2400" dirty="0"/>
                  <a:t>Assume labels are </a:t>
                </a:r>
                <a:r>
                  <a:rPr lang="en-US" sz="2400" i="1" dirty="0"/>
                  <a:t>stochastic</a:t>
                </a:r>
                <a:r>
                  <a:rPr lang="en-US" sz="2400" dirty="0"/>
                  <a:t>: let </a:t>
                </a:r>
                <a14:m>
                  <m:oMath xmlns:m="http://schemas.openxmlformats.org/officeDocument/2006/math">
                    <m:r>
                      <a:rPr lang="en-US" sz="2400" i="1" smtClean="0">
                        <a:solidFill>
                          <a:schemeClr val="accent6">
                            <a:lumMod val="75000"/>
                          </a:schemeClr>
                        </a:solidFill>
                        <a:latin typeface="Cambria Math" panose="02040503050406030204" pitchFamily="18" charset="0"/>
                      </a:rPr>
                      <m:t>𝜋</m:t>
                    </m:r>
                    <m:d>
                      <m:dPr>
                        <m:ctrlPr>
                          <a:rPr lang="en-US" sz="2400" b="1" i="1" smtClean="0">
                            <a:solidFill>
                              <a:schemeClr val="accent6">
                                <a:lumMod val="75000"/>
                              </a:schemeClr>
                            </a:solidFill>
                            <a:latin typeface="Cambria Math" panose="02040503050406030204" pitchFamily="18" charset="0"/>
                          </a:rPr>
                        </m:ctrlPr>
                      </m:dPr>
                      <m:e>
                        <m:r>
                          <a:rPr lang="en-US" sz="2400" b="1" i="1" smtClean="0">
                            <a:solidFill>
                              <a:schemeClr val="accent6">
                                <a:lumMod val="75000"/>
                              </a:schemeClr>
                            </a:solidFill>
                            <a:latin typeface="Cambria Math" panose="02040503050406030204" pitchFamily="18" charset="0"/>
                          </a:rPr>
                          <m:t>𝒙</m:t>
                        </m:r>
                      </m:e>
                    </m:d>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𝑃</m:t>
                    </m:r>
                    <m:d>
                      <m:dPr>
                        <m:begChr m:val="{"/>
                        <m:endChr m:val="}"/>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panose="02040503050406030204" pitchFamily="18" charset="0"/>
                          </a:rPr>
                          <m:t>𝑦</m:t>
                        </m:r>
                        <m:r>
                          <a:rPr lang="en-US" sz="2400" i="1">
                            <a:solidFill>
                              <a:schemeClr val="accent6">
                                <a:lumMod val="75000"/>
                              </a:schemeClr>
                            </a:solidFill>
                            <a:latin typeface="Cambria Math" panose="02040503050406030204" pitchFamily="18" charset="0"/>
                          </a:rPr>
                          <m:t>=1</m:t>
                        </m:r>
                      </m:e>
                      <m:e>
                        <m:r>
                          <a:rPr lang="en-US" sz="2400" b="1" i="1" smtClean="0">
                            <a:solidFill>
                              <a:schemeClr val="accent6">
                                <a:lumMod val="75000"/>
                              </a:schemeClr>
                            </a:solidFill>
                            <a:latin typeface="Cambria Math" panose="02040503050406030204" pitchFamily="18" charset="0"/>
                          </a:rPr>
                          <m:t>𝒙</m:t>
                        </m:r>
                      </m:e>
                    </m:d>
                  </m:oMath>
                </a14:m>
                <a:endParaRPr lang="en-US" sz="2400" dirty="0"/>
              </a:p>
              <a:p>
                <a:pPr lvl="1">
                  <a:lnSpc>
                    <a:spcPct val="130000"/>
                  </a:lnSpc>
                </a:pPr>
                <a:r>
                  <a:rPr lang="en-US" sz="2400" dirty="0"/>
                  <a:t>Assume </a:t>
                </a:r>
                <a14:m>
                  <m:oMath xmlns:m="http://schemas.openxmlformats.org/officeDocument/2006/math">
                    <m:r>
                      <a:rPr lang="en-US" sz="2400" i="1" smtClean="0">
                        <a:solidFill>
                          <a:schemeClr val="accent6">
                            <a:lumMod val="75000"/>
                          </a:schemeClr>
                        </a:solidFill>
                        <a:latin typeface="Cambria Math" panose="02040503050406030204" pitchFamily="18" charset="0"/>
                      </a:rPr>
                      <m:t>𝜋</m:t>
                    </m:r>
                    <m:d>
                      <m:dPr>
                        <m:ctrlPr>
                          <a:rPr lang="en-US" sz="2400" b="1" i="1" smtClean="0">
                            <a:solidFill>
                              <a:schemeClr val="accent6">
                                <a:lumMod val="75000"/>
                              </a:schemeClr>
                            </a:solidFill>
                            <a:latin typeface="Cambria Math" panose="02040503050406030204" pitchFamily="18" charset="0"/>
                          </a:rPr>
                        </m:ctrlPr>
                      </m:dPr>
                      <m:e>
                        <m:r>
                          <a:rPr lang="en-US" sz="2400" b="1" i="1" smtClean="0">
                            <a:solidFill>
                              <a:schemeClr val="accent6">
                                <a:lumMod val="75000"/>
                              </a:schemeClr>
                            </a:solidFill>
                            <a:latin typeface="Cambria Math" panose="02040503050406030204" pitchFamily="18" charset="0"/>
                          </a:rPr>
                          <m:t>𝒙</m:t>
                        </m:r>
                      </m:e>
                    </m:d>
                  </m:oMath>
                </a14:m>
                <a:r>
                  <a:rPr lang="en-US" sz="2400" dirty="0"/>
                  <a:t> is continuous </a:t>
                </a:r>
              </a:p>
              <a:p>
                <a:pPr lvl="1">
                  <a:lnSpc>
                    <a:spcPct val="130000"/>
                  </a:lnSpc>
                </a:pPr>
                <a:r>
                  <a:rPr lang="en-US" sz="2400" dirty="0"/>
                  <a:t>As </a:t>
                </a:r>
                <a14:m>
                  <m:oMath xmlns:m="http://schemas.openxmlformats.org/officeDocument/2006/math">
                    <m:r>
                      <a:rPr lang="en-US" sz="2400" i="1" smtClean="0">
                        <a:solidFill>
                          <a:schemeClr val="accent6">
                            <a:lumMod val="75000"/>
                          </a:schemeClr>
                        </a:solidFill>
                        <a:latin typeface="Cambria Math" panose="02040503050406030204" pitchFamily="18" charset="0"/>
                      </a:rPr>
                      <m:t>𝑁</m:t>
                    </m:r>
                    <m:r>
                      <a:rPr lang="en-US" sz="2400" i="1" smtClean="0">
                        <a:solidFill>
                          <a:schemeClr val="accent6">
                            <a:lumMod val="75000"/>
                          </a:schemeClr>
                        </a:solidFill>
                        <a:latin typeface="Cambria Math" panose="02040503050406030204" pitchFamily="18" charset="0"/>
                      </a:rPr>
                      <m:t>→∞</m:t>
                    </m:r>
                  </m:oMath>
                </a14:m>
                <a:r>
                  <a:rPr lang="en-US" sz="2400" dirty="0"/>
                  <a:t>, </a:t>
                </a:r>
                <a14:m>
                  <m:oMath xmlns:m="http://schemas.openxmlformats.org/officeDocument/2006/math">
                    <m:sSup>
                      <m:sSupPr>
                        <m:ctrlPr>
                          <a:rPr lang="en-US" sz="2400" b="1" i="1" smtClean="0">
                            <a:solidFill>
                              <a:schemeClr val="accent6">
                                <a:lumMod val="75000"/>
                              </a:schemeClr>
                            </a:solidFill>
                            <a:latin typeface="Cambria Math" panose="02040503050406030204" pitchFamily="18" charset="0"/>
                          </a:rPr>
                        </m:ctrlPr>
                      </m:sSupPr>
                      <m:e>
                        <m:r>
                          <a:rPr lang="en-US" sz="2400" b="1" i="1" smtClean="0">
                            <a:solidFill>
                              <a:schemeClr val="accent6">
                                <a:lumMod val="75000"/>
                              </a:schemeClr>
                            </a:solidFill>
                            <a:latin typeface="Cambria Math" panose="02040503050406030204" pitchFamily="18" charset="0"/>
                          </a:rPr>
                          <m:t>𝒙</m:t>
                        </m:r>
                      </m:e>
                      <m:sup>
                        <m:d>
                          <m:dPr>
                            <m:ctrlPr>
                              <a:rPr lang="en-US" sz="2400" i="1">
                                <a:solidFill>
                                  <a:schemeClr val="accent6">
                                    <a:lumMod val="75000"/>
                                  </a:schemeClr>
                                </a:solidFill>
                                <a:latin typeface="Cambria Math" panose="02040503050406030204" pitchFamily="18" charset="0"/>
                              </a:rPr>
                            </m:ctrlPr>
                          </m:dPr>
                          <m:e>
                            <m:acc>
                              <m:accPr>
                                <m:chr m:val="̂"/>
                                <m:ctrlPr>
                                  <a:rPr lang="en-US" sz="2400" i="1">
                                    <a:solidFill>
                                      <a:schemeClr val="accent6">
                                        <a:lumMod val="75000"/>
                                      </a:schemeClr>
                                    </a:solidFill>
                                    <a:latin typeface="Cambria Math" panose="02040503050406030204" pitchFamily="18" charset="0"/>
                                  </a:rPr>
                                </m:ctrlPr>
                              </m:accPr>
                              <m:e>
                                <m:r>
                                  <a:rPr lang="en-US" sz="2400" i="1">
                                    <a:solidFill>
                                      <a:schemeClr val="accent6">
                                        <a:lumMod val="75000"/>
                                      </a:schemeClr>
                                    </a:solidFill>
                                    <a:latin typeface="Cambria Math" panose="02040503050406030204" pitchFamily="18" charset="0"/>
                                  </a:rPr>
                                  <m:t>𝑖</m:t>
                                </m:r>
                              </m:e>
                            </m:acc>
                            <m:d>
                              <m:dPr>
                                <m:ctrlPr>
                                  <a:rPr lang="en-US" sz="2400" b="1" i="1" dirty="0">
                                    <a:solidFill>
                                      <a:schemeClr val="accent6">
                                        <a:lumMod val="75000"/>
                                      </a:schemeClr>
                                    </a:solidFill>
                                    <a:latin typeface="Cambria Math" panose="02040503050406030204" pitchFamily="18" charset="0"/>
                                  </a:rPr>
                                </m:ctrlPr>
                              </m:dPr>
                              <m:e>
                                <m:sSup>
                                  <m:sSupPr>
                                    <m:ctrlPr>
                                      <a:rPr lang="en-US" sz="2400" b="1" i="1" dirty="0">
                                        <a:solidFill>
                                          <a:schemeClr val="accent6">
                                            <a:lumMod val="75000"/>
                                          </a:schemeClr>
                                        </a:solidFill>
                                        <a:latin typeface="Cambria Math" panose="02040503050406030204" pitchFamily="18" charset="0"/>
                                      </a:rPr>
                                    </m:ctrlPr>
                                  </m:sSupPr>
                                  <m:e>
                                    <m:r>
                                      <a:rPr lang="en-US" sz="2400" b="1" i="1" dirty="0">
                                        <a:solidFill>
                                          <a:schemeClr val="accent6">
                                            <a:lumMod val="75000"/>
                                          </a:schemeClr>
                                        </a:solidFill>
                                        <a:latin typeface="Cambria Math" panose="02040503050406030204" pitchFamily="18" charset="0"/>
                                      </a:rPr>
                                      <m:t>𝒙</m:t>
                                    </m:r>
                                  </m:e>
                                  <m:sup>
                                    <m:r>
                                      <a:rPr lang="en-US" sz="2400" b="1" i="1" dirty="0">
                                        <a:solidFill>
                                          <a:schemeClr val="accent6">
                                            <a:lumMod val="75000"/>
                                          </a:schemeClr>
                                        </a:solidFill>
                                        <a:latin typeface="Cambria Math" panose="02040503050406030204" pitchFamily="18" charset="0"/>
                                      </a:rPr>
                                      <m:t>′</m:t>
                                    </m:r>
                                  </m:sup>
                                </m:sSup>
                              </m:e>
                            </m:d>
                          </m:e>
                        </m:d>
                      </m:sup>
                    </m:sSup>
                    <m:r>
                      <a:rPr lang="en-US" sz="2400" i="1" smtClean="0">
                        <a:solidFill>
                          <a:schemeClr val="accent6">
                            <a:lumMod val="75000"/>
                          </a:schemeClr>
                        </a:solidFill>
                        <a:latin typeface="Cambria Math" panose="02040503050406030204" pitchFamily="18" charset="0"/>
                      </a:rPr>
                      <m:t>→</m:t>
                    </m:r>
                    <m:sSup>
                      <m:sSupPr>
                        <m:ctrlPr>
                          <a:rPr lang="en-US" sz="2400" b="1" i="1" smtClean="0">
                            <a:solidFill>
                              <a:schemeClr val="accent6">
                                <a:lumMod val="75000"/>
                              </a:schemeClr>
                            </a:solidFill>
                            <a:latin typeface="Cambria Math" panose="02040503050406030204" pitchFamily="18" charset="0"/>
                          </a:rPr>
                        </m:ctrlPr>
                      </m:sSupPr>
                      <m:e>
                        <m:r>
                          <a:rPr lang="en-US" sz="2400" b="1" i="1" smtClean="0">
                            <a:solidFill>
                              <a:schemeClr val="accent6">
                                <a:lumMod val="75000"/>
                              </a:schemeClr>
                            </a:solidFill>
                            <a:latin typeface="Cambria Math" panose="02040503050406030204" pitchFamily="18" charset="0"/>
                          </a:rPr>
                          <m:t>𝒙</m:t>
                        </m:r>
                      </m:e>
                      <m:sup>
                        <m:r>
                          <a:rPr lang="en-US" sz="2400" b="1" smtClean="0">
                            <a:solidFill>
                              <a:schemeClr val="accent6">
                                <a:lumMod val="75000"/>
                              </a:schemeClr>
                            </a:solidFill>
                            <a:latin typeface="Cambria Math" panose="02040503050406030204" pitchFamily="18" charset="0"/>
                          </a:rPr>
                          <m:t>′</m:t>
                        </m:r>
                      </m:sup>
                    </m:sSup>
                    <m:r>
                      <a:rPr lang="en-US" sz="2400" dirty="0">
                        <a:latin typeface="Cambria Math" panose="02040503050406030204" pitchFamily="18" charset="0"/>
                        <a:ea typeface="Cambria Math" panose="02040503050406030204" pitchFamily="18" charset="0"/>
                      </a:rPr>
                      <m:t>⟹</m:t>
                    </m:r>
                    <m:r>
                      <a:rPr lang="en-US" sz="2400" i="1" dirty="0" smtClean="0">
                        <a:solidFill>
                          <a:schemeClr val="accent6">
                            <a:lumMod val="75000"/>
                          </a:schemeClr>
                        </a:solidFill>
                        <a:latin typeface="Cambria Math" panose="02040503050406030204" pitchFamily="18" charset="0"/>
                        <a:ea typeface="Cambria Math" panose="02040503050406030204" pitchFamily="18" charset="0"/>
                      </a:rPr>
                      <m:t>𝜋</m:t>
                    </m:r>
                    <m:d>
                      <m:dPr>
                        <m:ctrlPr>
                          <a:rPr lang="en-US" sz="2400" b="1" i="1">
                            <a:solidFill>
                              <a:schemeClr val="accent6">
                                <a:lumMod val="75000"/>
                              </a:schemeClr>
                            </a:solidFill>
                            <a:latin typeface="Cambria Math" panose="02040503050406030204" pitchFamily="18" charset="0"/>
                          </a:rPr>
                        </m:ctrlPr>
                      </m:dPr>
                      <m:e>
                        <m:sSup>
                          <m:sSupPr>
                            <m:ctrlPr>
                              <a:rPr lang="en-US" sz="2400" b="1" i="1">
                                <a:solidFill>
                                  <a:schemeClr val="accent6">
                                    <a:lumMod val="75000"/>
                                  </a:schemeClr>
                                </a:solidFill>
                                <a:latin typeface="Cambria Math" panose="02040503050406030204" pitchFamily="18" charset="0"/>
                              </a:rPr>
                            </m:ctrlPr>
                          </m:sSupPr>
                          <m:e>
                            <m:r>
                              <a:rPr lang="en-US" sz="2400" b="1" i="1">
                                <a:solidFill>
                                  <a:schemeClr val="accent6">
                                    <a:lumMod val="75000"/>
                                  </a:schemeClr>
                                </a:solidFill>
                                <a:latin typeface="Cambria Math" panose="02040503050406030204" pitchFamily="18" charset="0"/>
                              </a:rPr>
                              <m:t>𝒙</m:t>
                            </m:r>
                          </m:e>
                          <m:sup>
                            <m:d>
                              <m:dPr>
                                <m:ctrlPr>
                                  <a:rPr lang="en-US" sz="2400" i="1">
                                    <a:solidFill>
                                      <a:schemeClr val="accent6">
                                        <a:lumMod val="75000"/>
                                      </a:schemeClr>
                                    </a:solidFill>
                                    <a:latin typeface="Cambria Math" panose="02040503050406030204" pitchFamily="18" charset="0"/>
                                  </a:rPr>
                                </m:ctrlPr>
                              </m:dPr>
                              <m:e>
                                <m:acc>
                                  <m:accPr>
                                    <m:chr m:val="̂"/>
                                    <m:ctrlPr>
                                      <a:rPr lang="en-US" sz="2400" i="1">
                                        <a:solidFill>
                                          <a:schemeClr val="accent6">
                                            <a:lumMod val="75000"/>
                                          </a:schemeClr>
                                        </a:solidFill>
                                        <a:latin typeface="Cambria Math" panose="02040503050406030204" pitchFamily="18" charset="0"/>
                                      </a:rPr>
                                    </m:ctrlPr>
                                  </m:accPr>
                                  <m:e>
                                    <m:r>
                                      <a:rPr lang="en-US" sz="2400" i="1">
                                        <a:solidFill>
                                          <a:schemeClr val="accent6">
                                            <a:lumMod val="75000"/>
                                          </a:schemeClr>
                                        </a:solidFill>
                                        <a:latin typeface="Cambria Math" panose="02040503050406030204" pitchFamily="18" charset="0"/>
                                      </a:rPr>
                                      <m:t>𝑖</m:t>
                                    </m:r>
                                  </m:e>
                                </m:acc>
                                <m:d>
                                  <m:dPr>
                                    <m:ctrlPr>
                                      <a:rPr lang="en-US" sz="2400" b="1" i="1" dirty="0">
                                        <a:solidFill>
                                          <a:schemeClr val="accent6">
                                            <a:lumMod val="75000"/>
                                          </a:schemeClr>
                                        </a:solidFill>
                                        <a:latin typeface="Cambria Math" panose="02040503050406030204" pitchFamily="18" charset="0"/>
                                      </a:rPr>
                                    </m:ctrlPr>
                                  </m:dPr>
                                  <m:e>
                                    <m:sSup>
                                      <m:sSupPr>
                                        <m:ctrlPr>
                                          <a:rPr lang="en-US" sz="2400" b="1" i="1" dirty="0">
                                            <a:solidFill>
                                              <a:schemeClr val="accent6">
                                                <a:lumMod val="75000"/>
                                              </a:schemeClr>
                                            </a:solidFill>
                                            <a:latin typeface="Cambria Math" panose="02040503050406030204" pitchFamily="18" charset="0"/>
                                          </a:rPr>
                                        </m:ctrlPr>
                                      </m:sSupPr>
                                      <m:e>
                                        <m:r>
                                          <a:rPr lang="en-US" sz="2400" b="1" i="1" dirty="0">
                                            <a:solidFill>
                                              <a:schemeClr val="accent6">
                                                <a:lumMod val="75000"/>
                                              </a:schemeClr>
                                            </a:solidFill>
                                            <a:latin typeface="Cambria Math" panose="02040503050406030204" pitchFamily="18" charset="0"/>
                                          </a:rPr>
                                          <m:t>𝒙</m:t>
                                        </m:r>
                                      </m:e>
                                      <m:sup>
                                        <m:r>
                                          <a:rPr lang="en-US" sz="2400" b="1" i="1" dirty="0">
                                            <a:solidFill>
                                              <a:schemeClr val="accent6">
                                                <a:lumMod val="75000"/>
                                              </a:schemeClr>
                                            </a:solidFill>
                                            <a:latin typeface="Cambria Math" panose="02040503050406030204" pitchFamily="18" charset="0"/>
                                          </a:rPr>
                                          <m:t>′</m:t>
                                        </m:r>
                                      </m:sup>
                                    </m:sSup>
                                  </m:e>
                                </m:d>
                              </m:e>
                            </m:d>
                          </m:sup>
                        </m:sSup>
                      </m:e>
                    </m:d>
                    <m:r>
                      <a:rPr lang="en-US" sz="2400" i="1">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𝜋</m:t>
                    </m:r>
                    <m:d>
                      <m:dPr>
                        <m:ctrlPr>
                          <a:rPr lang="en-US" sz="2400" b="1" i="1" smtClean="0">
                            <a:solidFill>
                              <a:schemeClr val="accent6">
                                <a:lumMod val="75000"/>
                              </a:schemeClr>
                            </a:solidFill>
                            <a:latin typeface="Cambria Math" panose="02040503050406030204" pitchFamily="18" charset="0"/>
                          </a:rPr>
                        </m:ctrlPr>
                      </m:dPr>
                      <m:e>
                        <m:sSup>
                          <m:sSupPr>
                            <m:ctrlPr>
                              <a:rPr lang="en-US" sz="2400" b="1" i="1" smtClean="0">
                                <a:solidFill>
                                  <a:schemeClr val="accent6">
                                    <a:lumMod val="75000"/>
                                  </a:schemeClr>
                                </a:solidFill>
                                <a:latin typeface="Cambria Math" panose="02040503050406030204" pitchFamily="18" charset="0"/>
                              </a:rPr>
                            </m:ctrlPr>
                          </m:sSupPr>
                          <m:e>
                            <m:r>
                              <a:rPr lang="en-US" sz="2400" b="1" i="1" smtClean="0">
                                <a:solidFill>
                                  <a:schemeClr val="accent6">
                                    <a:lumMod val="75000"/>
                                  </a:schemeClr>
                                </a:solidFill>
                                <a:latin typeface="Cambria Math" panose="02040503050406030204" pitchFamily="18" charset="0"/>
                              </a:rPr>
                              <m:t>𝒙</m:t>
                            </m:r>
                          </m:e>
                          <m:sup>
                            <m:r>
                              <a:rPr lang="en-US" sz="2400" b="1" i="1" smtClean="0">
                                <a:solidFill>
                                  <a:schemeClr val="accent6">
                                    <a:lumMod val="75000"/>
                                  </a:schemeClr>
                                </a:solidFill>
                                <a:latin typeface="Cambria Math" panose="02040503050406030204" pitchFamily="18" charset="0"/>
                              </a:rPr>
                              <m:t>′</m:t>
                            </m:r>
                          </m:sup>
                        </m:sSup>
                      </m:e>
                    </m:d>
                  </m:oMath>
                </a14:m>
                <a:r>
                  <a:rPr lang="en-US" sz="2400" dirty="0"/>
                  <a:t> </a:t>
                </a:r>
                <a:endParaRPr lang="en-US" dirty="0">
                  <a:solidFill>
                    <a:schemeClr val="accent6"/>
                  </a:solidFill>
                </a:endParaRPr>
              </a:p>
              <a:p>
                <a:pPr>
                  <a:lnSpc>
                    <a:spcPct val="130000"/>
                  </a:lnSpc>
                </a:pPr>
                <a:endParaRPr lang="en-US" dirty="0">
                  <a:solidFill>
                    <a:schemeClr val="accent6"/>
                  </a:solidFill>
                </a:endParaRPr>
              </a:p>
            </p:txBody>
          </p:sp>
        </mc:Choice>
        <mc:Fallback xmlns="">
          <p:sp>
            <p:nvSpPr>
              <p:cNvPr id="9" name="Content Placeholder 2">
                <a:extLst>
                  <a:ext uri="{FF2B5EF4-FFF2-40B4-BE49-F238E27FC236}">
                    <a16:creationId xmlns:a16="http://schemas.microsoft.com/office/drawing/2014/main" id="{D5E83D6D-5CE6-EB17-917C-0C22A6DB2AC2}"/>
                  </a:ext>
                </a:extLst>
              </p:cNvPr>
              <p:cNvSpPr txBox="1">
                <a:spLocks noRot="1" noChangeAspect="1" noMove="1" noResize="1" noEditPoints="1" noAdjustHandles="1" noChangeArrowheads="1" noChangeShapeType="1" noTextEdit="1"/>
              </p:cNvSpPr>
              <p:nvPr/>
            </p:nvSpPr>
            <p:spPr>
              <a:xfrm>
                <a:off x="3878492" y="864108"/>
                <a:ext cx="7671091" cy="5120640"/>
              </a:xfrm>
              <a:prstGeom prst="rect">
                <a:avLst/>
              </a:prstGeom>
              <a:blipFill>
                <a:blip r:embed="rId4"/>
                <a:stretch>
                  <a:fillRect l="-826" t="-9653"/>
                </a:stretch>
              </a:blipFill>
            </p:spPr>
            <p:txBody>
              <a:bodyPr/>
              <a:lstStyle/>
              <a:p>
                <a:r>
                  <a:rPr lang="en-US">
                    <a:noFill/>
                  </a:rPr>
                  <a:t> </a:t>
                </a:r>
              </a:p>
            </p:txBody>
          </p:sp>
        </mc:Fallback>
      </mc:AlternateContent>
    </p:spTree>
    <p:extLst>
      <p:ext uri="{BB962C8B-B14F-4D97-AF65-F5344CB8AC3E}">
        <p14:creationId xmlns:p14="http://schemas.microsoft.com/office/powerpoint/2010/main" val="449256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dissolve">
                                      <p:cBhvr>
                                        <p:cTn id="7" dur="250"/>
                                        <p:tgtEl>
                                          <p:spTgt spid="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dissolve">
                                      <p:cBhvr>
                                        <p:cTn id="12" dur="250"/>
                                        <p:tgtEl>
                                          <p:spTgt spid="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dissolve">
                                      <p:cBhvr>
                                        <p:cTn id="17" dur="250"/>
                                        <p:tgtEl>
                                          <p:spTgt spid="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dissolve">
                                      <p:cBhvr>
                                        <p:cTn id="22" dur="25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FD3C2-87B8-8413-AB04-9F479E0C01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A9D91-BC02-7E32-22B0-A42A3A549E41}"/>
              </a:ext>
            </a:extLst>
          </p:cNvPr>
          <p:cNvSpPr>
            <a:spLocks noGrp="1"/>
          </p:cNvSpPr>
          <p:nvPr>
            <p:ph type="title"/>
          </p:nvPr>
        </p:nvSpPr>
        <p:spPr/>
        <p:txBody>
          <a:bodyPr/>
          <a:lstStyle/>
          <a:p>
            <a:r>
              <a:rPr lang="en-US"/>
              <a:t>Generalization of Nearest Neighbor (Cover and Hart, 1967)</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D3487F-E87E-0F5C-3C10-DAA6A59C30A3}"/>
                  </a:ext>
                </a:extLst>
              </p:cNvPr>
              <p:cNvSpPr>
                <a:spLocks noGrp="1"/>
              </p:cNvSpPr>
              <p:nvPr>
                <p:ph idx="1"/>
              </p:nvPr>
            </p:nvSpPr>
            <p:spPr>
              <a:xfrm>
                <a:off x="3840391" y="1123837"/>
                <a:ext cx="7902430" cy="5284270"/>
              </a:xfrm>
            </p:spPr>
            <p:txBody>
              <a:bodyPr>
                <a:noAutofit/>
              </a:bodyPr>
              <a:lstStyle/>
              <a:p>
                <a:pPr>
                  <a:lnSpc>
                    <a:spcPct val="130000"/>
                  </a:lnSpc>
                </a:pPr>
                <a:r>
                  <a:rPr lang="en-US" b="1" dirty="0"/>
                  <a:t>Claim</a:t>
                </a:r>
                <a:r>
                  <a:rPr lang="en-US" dirty="0"/>
                  <a:t>: under certain conditions, as </a:t>
                </a:r>
                <a14:m>
                  <m:oMath xmlns:m="http://schemas.openxmlformats.org/officeDocument/2006/math">
                    <m:r>
                      <a:rPr lang="en-US" i="1" smtClean="0">
                        <a:solidFill>
                          <a:schemeClr val="accent6">
                            <a:lumMod val="75000"/>
                          </a:schemeClr>
                        </a:solidFill>
                        <a:latin typeface="Cambria Math" panose="02040503050406030204" pitchFamily="18" charset="0"/>
                      </a:rPr>
                      <m:t>𝑛</m:t>
                    </m:r>
                    <m:r>
                      <a:rPr lang="en-US" i="1" smtClean="0">
                        <a:solidFill>
                          <a:schemeClr val="accent6">
                            <a:lumMod val="75000"/>
                          </a:schemeClr>
                        </a:solidFill>
                        <a:latin typeface="Cambria Math" panose="02040503050406030204" pitchFamily="18" charset="0"/>
                      </a:rPr>
                      <m:t>→∞</m:t>
                    </m:r>
                  </m:oMath>
                </a14:m>
                <a:r>
                  <a:rPr lang="en-US" dirty="0"/>
                  <a:t>, with high probability, the true error rate of the nearest neighbor model </a:t>
                </a:r>
                <a14:m>
                  <m:oMath xmlns:m="http://schemas.openxmlformats.org/officeDocument/2006/math">
                    <m:r>
                      <a:rPr lang="en-US" b="0" i="1" smtClean="0">
                        <a:solidFill>
                          <a:schemeClr val="tx1">
                            <a:lumMod val="65000"/>
                            <a:lumOff val="35000"/>
                          </a:schemeClr>
                        </a:solidFill>
                        <a:latin typeface="Cambria Math" panose="02040503050406030204" pitchFamily="18" charset="0"/>
                      </a:rPr>
                      <m:t>≤2 ∗</m:t>
                    </m:r>
                  </m:oMath>
                </a14:m>
                <a:r>
                  <a:rPr lang="en-US" dirty="0">
                    <a:solidFill>
                      <a:schemeClr val="tx1">
                        <a:lumMod val="65000"/>
                        <a:lumOff val="35000"/>
                      </a:schemeClr>
                    </a:solidFill>
                  </a:rPr>
                  <a:t> the Bayes error rate (the optimal classifier)</a:t>
                </a:r>
              </a:p>
              <a:p>
                <a:pPr>
                  <a:lnSpc>
                    <a:spcPct val="130000"/>
                  </a:lnSpc>
                </a:pPr>
                <a:r>
                  <a:rPr lang="en-US" dirty="0"/>
                  <a:t>Proof (cont.): </a:t>
                </a:r>
                <a:endParaRPr lang="en-US" i="1" dirty="0">
                  <a:solidFill>
                    <a:schemeClr val="accent6"/>
                  </a:solidFill>
                  <a:latin typeface="Cambria Math" panose="02040503050406030204" pitchFamily="18" charset="0"/>
                </a:endParaRPr>
              </a:p>
              <a:p>
                <a:pPr>
                  <a:lnSpc>
                    <a:spcPct val="130000"/>
                  </a:lnSpc>
                </a:pPr>
                <a14:m>
                  <m:oMath xmlns:m="http://schemas.openxmlformats.org/officeDocument/2006/math">
                    <m:r>
                      <a:rPr lang="en-US" i="1" smtClean="0">
                        <a:solidFill>
                          <a:schemeClr val="accent6">
                            <a:lumMod val="75000"/>
                          </a:schemeClr>
                        </a:solidFill>
                        <a:latin typeface="Cambria Math" panose="02040503050406030204" pitchFamily="18" charset="0"/>
                      </a:rPr>
                      <m:t>𝑒</m:t>
                    </m:r>
                    <m:r>
                      <a:rPr lang="en-US" i="1">
                        <a:solidFill>
                          <a:schemeClr val="accent6">
                            <a:lumMod val="75000"/>
                          </a:schemeClr>
                        </a:solidFill>
                        <a:latin typeface="Cambria Math" panose="02040503050406030204" pitchFamily="18" charset="0"/>
                      </a:rPr>
                      <m:t>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e>
                    </m:d>
                    <m:r>
                      <a:rPr lang="en-US" i="1">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𝔼</m:t>
                        </m:r>
                      </m:e>
                      <m:sub>
                        <m:sSup>
                          <m:sSupPr>
                            <m:ctrlPr>
                              <a:rPr lang="en-US" b="0" i="1" smtClean="0">
                                <a:solidFill>
                                  <a:schemeClr val="accent6">
                                    <a:lumMod val="75000"/>
                                  </a:schemeClr>
                                </a:solidFill>
                                <a:latin typeface="Cambria Math" panose="02040503050406030204" pitchFamily="18" charset="0"/>
                                <a:ea typeface="Cambria Math" panose="02040503050406030204" pitchFamily="18" charset="0"/>
                              </a:rPr>
                            </m:ctrlPr>
                          </m:sSupPr>
                          <m:e>
                            <m:r>
                              <a:rPr lang="en-US" b="0" i="1" smtClean="0">
                                <a:solidFill>
                                  <a:schemeClr val="accent6">
                                    <a:lumMod val="75000"/>
                                  </a:schemeClr>
                                </a:solidFill>
                                <a:latin typeface="Cambria Math" panose="02040503050406030204" pitchFamily="18" charset="0"/>
                                <a:ea typeface="Cambria Math" panose="02040503050406030204" pitchFamily="18" charset="0"/>
                              </a:rPr>
                              <m:t>𝑥</m:t>
                            </m:r>
                          </m:e>
                          <m:sup>
                            <m:r>
                              <a:rPr lang="en-US" b="0" i="1" smtClean="0">
                                <a:solidFill>
                                  <a:schemeClr val="accent6">
                                    <a:lumMod val="75000"/>
                                  </a:schemeClr>
                                </a:solidFill>
                                <a:latin typeface="Cambria Math" panose="02040503050406030204" pitchFamily="18" charset="0"/>
                                <a:ea typeface="Cambria Math" panose="02040503050406030204" pitchFamily="18" charset="0"/>
                              </a:rPr>
                              <m:t>′</m:t>
                            </m:r>
                          </m:sup>
                        </m:sSup>
                      </m:sub>
                    </m:sSub>
                    <m:d>
                      <m:dPr>
                        <m:begChr m:val="["/>
                        <m:endChr m:val="]"/>
                        <m:ctrlPr>
                          <a:rPr lang="en-US" i="0">
                            <a:solidFill>
                              <a:schemeClr val="accent6">
                                <a:lumMod val="75000"/>
                              </a:schemeClr>
                            </a:solidFill>
                          </a:rPr>
                        </m:ctrlPr>
                      </m:dPr>
                      <m:e>
                        <m:r>
                          <m:rPr>
                            <m:nor/>
                          </m:rPr>
                          <a:rPr lang="en-US" i="0">
                            <a:solidFill>
                              <a:schemeClr val="accent6">
                                <a:lumMod val="75000"/>
                              </a:schemeClr>
                            </a:solidFill>
                          </a:rPr>
                          <m:t>𝟙</m:t>
                        </m:r>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ℎ</m:t>
                            </m:r>
                            <m:d>
                              <m:dPr>
                                <m:ctrlPr>
                                  <a:rPr lang="en-US" b="1" i="1" smtClean="0">
                                    <a:solidFill>
                                      <a:schemeClr val="accent6">
                                        <a:lumMod val="75000"/>
                                      </a:schemeClr>
                                    </a:solidFill>
                                    <a:latin typeface="Cambria Math" panose="02040503050406030204" pitchFamily="18" charset="0"/>
                                  </a:rPr>
                                </m:ctrlPr>
                              </m:dPr>
                              <m:e>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𝒙</m:t>
                                    </m:r>
                                  </m:e>
                                  <m:sup>
                                    <m:r>
                                      <a:rPr lang="en-US" b="1" i="1" smtClean="0">
                                        <a:solidFill>
                                          <a:schemeClr val="accent6">
                                            <a:lumMod val="75000"/>
                                          </a:schemeClr>
                                        </a:solidFill>
                                        <a:latin typeface="Cambria Math" panose="02040503050406030204" pitchFamily="18" charset="0"/>
                                      </a:rPr>
                                      <m:t>′</m:t>
                                    </m:r>
                                  </m:sup>
                                </m:sSup>
                              </m:e>
                            </m:d>
                            <m:r>
                              <a:rPr lang="en-US" b="0" i="1" smtClean="0">
                                <a:solidFill>
                                  <a:schemeClr val="accent6">
                                    <a:lumMod val="75000"/>
                                  </a:schemeClr>
                                </a:solidFill>
                                <a:latin typeface="Cambria Math" panose="02040503050406030204" pitchFamily="18" charset="0"/>
                              </a:rPr>
                              <m:t>≠</m:t>
                            </m:r>
                            <m:sSup>
                              <m:sSupPr>
                                <m:ctrlPr>
                                  <a:rPr lang="en-US" b="0" i="1" smtClean="0">
                                    <a:solidFill>
                                      <a:schemeClr val="accent6">
                                        <a:lumMod val="75000"/>
                                      </a:schemeClr>
                                    </a:solidFill>
                                    <a:latin typeface="Cambria Math" panose="02040503050406030204" pitchFamily="18" charset="0"/>
                                  </a:rPr>
                                </m:ctrlPr>
                              </m:sSupPr>
                              <m:e>
                                <m:r>
                                  <a:rPr lang="en-US" b="0" i="1" smtClean="0">
                                    <a:solidFill>
                                      <a:schemeClr val="accent6">
                                        <a:lumMod val="75000"/>
                                      </a:schemeClr>
                                    </a:solidFill>
                                    <a:latin typeface="Cambria Math" panose="02040503050406030204" pitchFamily="18" charset="0"/>
                                  </a:rPr>
                                  <m:t>𝑦</m:t>
                                </m:r>
                              </m:e>
                              <m:sup>
                                <m:r>
                                  <a:rPr lang="en-US" b="0" i="1" smtClean="0">
                                    <a:solidFill>
                                      <a:schemeClr val="accent6">
                                        <a:lumMod val="75000"/>
                                      </a:schemeClr>
                                    </a:solidFill>
                                    <a:latin typeface="Cambria Math" panose="02040503050406030204" pitchFamily="18" charset="0"/>
                                  </a:rPr>
                                  <m:t>′</m:t>
                                </m:r>
                              </m:sup>
                            </m:sSup>
                          </m:e>
                        </m:d>
                      </m:e>
                    </m:d>
                    <m:r>
                      <a:rPr lang="en-US" i="1">
                        <a:solidFill>
                          <a:schemeClr val="accent6">
                            <a:lumMod val="75000"/>
                          </a:schemeClr>
                        </a:solidFill>
                        <a:latin typeface="Cambria Math" panose="02040503050406030204" pitchFamily="18" charset="0"/>
                        <a:ea typeface="Cambria Math" panose="02040503050406030204" pitchFamily="18" charset="0"/>
                      </a:rPr>
                      <m:t>=</m:t>
                    </m:r>
                    <m:r>
                      <a:rPr lang="en-US" i="1">
                        <a:solidFill>
                          <a:schemeClr val="accent6">
                            <a:lumMod val="75000"/>
                          </a:schemeClr>
                        </a:solidFill>
                        <a:latin typeface="Cambria Math" panose="02040503050406030204" pitchFamily="18" charset="0"/>
                        <a:ea typeface="Cambria Math" panose="02040503050406030204" pitchFamily="18" charset="0"/>
                      </a:rPr>
                      <m:t>𝑃</m:t>
                    </m:r>
                    <m:d>
                      <m:dPr>
                        <m:begChr m:val="{"/>
                        <m:endChr m:val="}"/>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d>
                          <m:dPr>
                            <m:ctrlPr>
                              <a:rPr lang="en-US" b="1" i="1">
                                <a:solidFill>
                                  <a:schemeClr val="accent6">
                                    <a:lumMod val="75000"/>
                                  </a:schemeClr>
                                </a:solidFill>
                                <a:latin typeface="Cambria Math" panose="02040503050406030204" pitchFamily="18" charset="0"/>
                              </a:rPr>
                            </m:ctrlPr>
                          </m:dPr>
                          <m:e>
                            <m:sSup>
                              <m:sSupPr>
                                <m:ctrlPr>
                                  <a:rPr lang="en-US" b="1" i="1">
                                    <a:solidFill>
                                      <a:schemeClr val="accent6">
                                        <a:lumMod val="75000"/>
                                      </a:schemeClr>
                                    </a:solidFill>
                                    <a:latin typeface="Cambria Math" panose="02040503050406030204" pitchFamily="18" charset="0"/>
                                  </a:rPr>
                                </m:ctrlPr>
                              </m:sSupPr>
                              <m:e>
                                <m:r>
                                  <a:rPr lang="en-US" b="1" i="1">
                                    <a:solidFill>
                                      <a:schemeClr val="accent6">
                                        <a:lumMod val="75000"/>
                                      </a:schemeClr>
                                    </a:solidFill>
                                    <a:latin typeface="Cambria Math" panose="02040503050406030204" pitchFamily="18" charset="0"/>
                                  </a:rPr>
                                  <m:t>𝒙</m:t>
                                </m:r>
                              </m:e>
                              <m:sup>
                                <m:r>
                                  <a:rPr lang="en-US" b="1" i="1">
                                    <a:solidFill>
                                      <a:schemeClr val="accent6">
                                        <a:lumMod val="75000"/>
                                      </a:schemeClr>
                                    </a:solidFill>
                                    <a:latin typeface="Cambria Math" panose="02040503050406030204" pitchFamily="18" charset="0"/>
                                  </a:rPr>
                                  <m:t>′</m:t>
                                </m:r>
                              </m:sup>
                            </m:sSup>
                          </m:e>
                        </m:d>
                        <m:r>
                          <a:rPr lang="en-US" i="1">
                            <a:solidFill>
                              <a:schemeClr val="accent6">
                                <a:lumMod val="75000"/>
                              </a:schemeClr>
                            </a:solidFill>
                            <a:latin typeface="Cambria Math" panose="02040503050406030204" pitchFamily="18" charset="0"/>
                          </a:rPr>
                          <m:t>≠</m:t>
                        </m:r>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𝑦</m:t>
                            </m:r>
                          </m:e>
                          <m:sup>
                            <m:r>
                              <a:rPr lang="en-US" i="1">
                                <a:solidFill>
                                  <a:schemeClr val="accent6">
                                    <a:lumMod val="75000"/>
                                  </a:schemeClr>
                                </a:solidFill>
                                <a:latin typeface="Cambria Math" panose="02040503050406030204" pitchFamily="18" charset="0"/>
                              </a:rPr>
                              <m:t>′</m:t>
                            </m:r>
                          </m:sup>
                        </m:sSup>
                      </m:e>
                    </m:d>
                  </m:oMath>
                </a14:m>
                <a:endParaRPr lang="en-US" dirty="0">
                  <a:solidFill>
                    <a:schemeClr val="accent6">
                      <a:lumMod val="75000"/>
                    </a:schemeClr>
                  </a:solidFill>
                  <a:latin typeface="Cambria Math" panose="02040503050406030204" pitchFamily="18" charset="0"/>
                </a:endParaRPr>
              </a:p>
              <a:p>
                <a:pPr>
                  <a:lnSpc>
                    <a:spcPct val="120000"/>
                  </a:lnSpc>
                </a:pPr>
                <a14:m>
                  <m:oMath xmlns:m="http://schemas.openxmlformats.org/officeDocument/2006/math">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e>
                    </m:d>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𝑃</m:t>
                    </m:r>
                    <m:d>
                      <m:dPr>
                        <m:begChr m:val="{"/>
                        <m:endChr m:val="}"/>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d>
                          <m:dPr>
                            <m:ctrlPr>
                              <a:rPr lang="en-US" b="1" i="1">
                                <a:solidFill>
                                  <a:schemeClr val="accent6">
                                    <a:lumMod val="75000"/>
                                  </a:schemeClr>
                                </a:solidFill>
                                <a:latin typeface="Cambria Math" panose="02040503050406030204" pitchFamily="18" charset="0"/>
                              </a:rPr>
                            </m:ctrlPr>
                          </m:dPr>
                          <m:e>
                            <m:sSup>
                              <m:sSupPr>
                                <m:ctrlPr>
                                  <a:rPr lang="en-US" b="1" i="1">
                                    <a:solidFill>
                                      <a:schemeClr val="accent6">
                                        <a:lumMod val="75000"/>
                                      </a:schemeClr>
                                    </a:solidFill>
                                    <a:latin typeface="Cambria Math" panose="02040503050406030204" pitchFamily="18" charset="0"/>
                                  </a:rPr>
                                </m:ctrlPr>
                              </m:sSupPr>
                              <m:e>
                                <m:r>
                                  <a:rPr lang="en-US" b="1" i="1">
                                    <a:solidFill>
                                      <a:schemeClr val="accent6">
                                        <a:lumMod val="75000"/>
                                      </a:schemeClr>
                                    </a:solidFill>
                                    <a:latin typeface="Cambria Math" panose="02040503050406030204" pitchFamily="18" charset="0"/>
                                  </a:rPr>
                                  <m:t>𝒙</m:t>
                                </m:r>
                              </m:e>
                              <m:sup>
                                <m:r>
                                  <a:rPr lang="en-US" b="1" i="1">
                                    <a:solidFill>
                                      <a:schemeClr val="accent6">
                                        <a:lumMod val="75000"/>
                                      </a:schemeClr>
                                    </a:solidFill>
                                    <a:latin typeface="Cambria Math" panose="02040503050406030204" pitchFamily="18" charset="0"/>
                                  </a:rPr>
                                  <m:t>′</m:t>
                                </m:r>
                              </m:sup>
                            </m:sSup>
                          </m:e>
                        </m:d>
                        <m:r>
                          <a:rPr lang="en-US" i="1">
                            <a:solidFill>
                              <a:schemeClr val="accent6">
                                <a:lumMod val="75000"/>
                              </a:schemeClr>
                            </a:solidFill>
                            <a:latin typeface="Cambria Math" panose="02040503050406030204" pitchFamily="18" charset="0"/>
                            <a:ea typeface="Cambria Math" panose="02040503050406030204" pitchFamily="18" charset="0"/>
                          </a:rPr>
                          <m:t>=1</m:t>
                        </m:r>
                        <m:r>
                          <a:rPr lang="en-US" b="0" i="1" smtClean="0">
                            <a:solidFill>
                              <a:schemeClr val="accent6">
                                <a:lumMod val="75000"/>
                              </a:schemeClr>
                            </a:solidFill>
                            <a:latin typeface="Cambria Math" panose="02040503050406030204" pitchFamily="18" charset="0"/>
                            <a:ea typeface="Cambria Math" panose="02040503050406030204" pitchFamily="18" charset="0"/>
                          </a:rPr>
                          <m:t>, </m:t>
                        </m:r>
                        <m:r>
                          <a:rPr lang="en-US" i="1">
                            <a:solidFill>
                              <a:schemeClr val="accent6">
                                <a:lumMod val="75000"/>
                              </a:schemeClr>
                            </a:solidFill>
                            <a:latin typeface="Cambria Math" panose="02040503050406030204" pitchFamily="18" charset="0"/>
                            <a:ea typeface="Cambria Math" panose="02040503050406030204" pitchFamily="18" charset="0"/>
                          </a:rPr>
                          <m:t>𝑦</m:t>
                        </m:r>
                        <m:r>
                          <a:rPr lang="en-US" b="0" i="1" smtClean="0">
                            <a:solidFill>
                              <a:schemeClr val="accent6">
                                <a:lumMod val="75000"/>
                              </a:schemeClr>
                            </a:solidFill>
                            <a:latin typeface="Cambria Math" panose="02040503050406030204" pitchFamily="18" charset="0"/>
                            <a:ea typeface="Cambria Math" panose="02040503050406030204" pitchFamily="18" charset="0"/>
                          </a:rPr>
                          <m:t>′</m:t>
                        </m:r>
                        <m:r>
                          <a:rPr lang="en-US" i="1">
                            <a:solidFill>
                              <a:schemeClr val="accent6">
                                <a:lumMod val="75000"/>
                              </a:schemeClr>
                            </a:solidFill>
                            <a:latin typeface="Cambria Math" panose="02040503050406030204" pitchFamily="18" charset="0"/>
                            <a:ea typeface="Cambria Math" panose="02040503050406030204" pitchFamily="18" charset="0"/>
                          </a:rPr>
                          <m:t>=</m:t>
                        </m:r>
                        <m:r>
                          <a:rPr lang="en-US" b="0" i="1" smtClean="0">
                            <a:solidFill>
                              <a:schemeClr val="accent6">
                                <a:lumMod val="75000"/>
                              </a:schemeClr>
                            </a:solidFill>
                            <a:latin typeface="Cambria Math" panose="02040503050406030204" pitchFamily="18" charset="0"/>
                            <a:ea typeface="Cambria Math" panose="02040503050406030204" pitchFamily="18" charset="0"/>
                          </a:rPr>
                          <m:t>0</m:t>
                        </m:r>
                      </m:e>
                    </m:d>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𝑃</m:t>
                    </m:r>
                    <m:d>
                      <m:dPr>
                        <m:begChr m:val="{"/>
                        <m:endChr m:val="}"/>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d>
                          <m:dPr>
                            <m:ctrlPr>
                              <a:rPr lang="en-US" b="1" i="1">
                                <a:solidFill>
                                  <a:schemeClr val="accent6">
                                    <a:lumMod val="75000"/>
                                  </a:schemeClr>
                                </a:solidFill>
                                <a:latin typeface="Cambria Math" panose="02040503050406030204" pitchFamily="18" charset="0"/>
                              </a:rPr>
                            </m:ctrlPr>
                          </m:dPr>
                          <m:e>
                            <m:sSup>
                              <m:sSupPr>
                                <m:ctrlPr>
                                  <a:rPr lang="en-US" b="1" i="1">
                                    <a:solidFill>
                                      <a:schemeClr val="accent6">
                                        <a:lumMod val="75000"/>
                                      </a:schemeClr>
                                    </a:solidFill>
                                    <a:latin typeface="Cambria Math" panose="02040503050406030204" pitchFamily="18" charset="0"/>
                                  </a:rPr>
                                </m:ctrlPr>
                              </m:sSupPr>
                              <m:e>
                                <m:r>
                                  <a:rPr lang="en-US" b="1" i="1">
                                    <a:solidFill>
                                      <a:schemeClr val="accent6">
                                        <a:lumMod val="75000"/>
                                      </a:schemeClr>
                                    </a:solidFill>
                                    <a:latin typeface="Cambria Math" panose="02040503050406030204" pitchFamily="18" charset="0"/>
                                  </a:rPr>
                                  <m:t>𝒙</m:t>
                                </m:r>
                              </m:e>
                              <m:sup>
                                <m:r>
                                  <a:rPr lang="en-US" b="1" i="1">
                                    <a:solidFill>
                                      <a:schemeClr val="accent6">
                                        <a:lumMod val="75000"/>
                                      </a:schemeClr>
                                    </a:solidFill>
                                    <a:latin typeface="Cambria Math" panose="02040503050406030204" pitchFamily="18" charset="0"/>
                                  </a:rPr>
                                  <m:t>′</m:t>
                                </m:r>
                              </m:sup>
                            </m:sSup>
                          </m:e>
                        </m:d>
                        <m:r>
                          <a:rPr lang="en-US" i="1">
                            <a:solidFill>
                              <a:schemeClr val="accent6">
                                <a:lumMod val="75000"/>
                              </a:schemeClr>
                            </a:solidFill>
                            <a:latin typeface="Cambria Math" panose="02040503050406030204" pitchFamily="18" charset="0"/>
                            <a:ea typeface="Cambria Math" panose="02040503050406030204" pitchFamily="18" charset="0"/>
                          </a:rPr>
                          <m:t>=</m:t>
                        </m:r>
                        <m:r>
                          <a:rPr lang="en-US" b="0" i="1" smtClean="0">
                            <a:solidFill>
                              <a:schemeClr val="accent6">
                                <a:lumMod val="75000"/>
                              </a:schemeClr>
                            </a:solidFill>
                            <a:latin typeface="Cambria Math" panose="02040503050406030204" pitchFamily="18" charset="0"/>
                            <a:ea typeface="Cambria Math" panose="02040503050406030204" pitchFamily="18" charset="0"/>
                          </a:rPr>
                          <m:t>0,</m:t>
                        </m:r>
                        <m:r>
                          <a:rPr lang="en-US" i="1">
                            <a:solidFill>
                              <a:schemeClr val="accent6">
                                <a:lumMod val="75000"/>
                              </a:schemeClr>
                            </a:solidFill>
                            <a:latin typeface="Cambria Math" panose="02040503050406030204" pitchFamily="18" charset="0"/>
                            <a:ea typeface="Cambria Math" panose="02040503050406030204" pitchFamily="18" charset="0"/>
                          </a:rPr>
                          <m:t>𝑦</m:t>
                        </m:r>
                        <m:r>
                          <a:rPr lang="en-US" b="0" i="1" smtClean="0">
                            <a:solidFill>
                              <a:schemeClr val="accent6">
                                <a:lumMod val="75000"/>
                              </a:schemeClr>
                            </a:solidFill>
                            <a:latin typeface="Cambria Math" panose="02040503050406030204" pitchFamily="18" charset="0"/>
                            <a:ea typeface="Cambria Math" panose="02040503050406030204" pitchFamily="18" charset="0"/>
                          </a:rPr>
                          <m:t>′</m:t>
                        </m:r>
                        <m:r>
                          <a:rPr lang="en-US" i="1">
                            <a:solidFill>
                              <a:schemeClr val="accent6">
                                <a:lumMod val="75000"/>
                              </a:schemeClr>
                            </a:solidFill>
                            <a:latin typeface="Cambria Math" panose="02040503050406030204" pitchFamily="18" charset="0"/>
                            <a:ea typeface="Cambria Math" panose="02040503050406030204" pitchFamily="18" charset="0"/>
                          </a:rPr>
                          <m:t>=1</m:t>
                        </m:r>
                      </m:e>
                    </m:d>
                  </m:oMath>
                </a14:m>
                <a:endParaRPr lang="en-US" dirty="0">
                  <a:solidFill>
                    <a:schemeClr val="accent6">
                      <a:lumMod val="75000"/>
                    </a:schemeClr>
                  </a:solidFill>
                  <a:ea typeface="Cambria Math" panose="02040503050406030204" pitchFamily="18" charset="0"/>
                </a:endParaRPr>
              </a:p>
              <a:p>
                <a:pPr>
                  <a:lnSpc>
                    <a:spcPct val="130000"/>
                  </a:lnSpc>
                </a:pPr>
                <a14:m>
                  <m:oMath xmlns:m="http://schemas.openxmlformats.org/officeDocument/2006/math">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e>
                    </m:d>
                    <m:r>
                      <a:rPr lang="en-US" i="1" smtClean="0">
                        <a:solidFill>
                          <a:schemeClr val="accent6">
                            <a:lumMod val="75000"/>
                          </a:schemeClr>
                        </a:solidFill>
                        <a:latin typeface="Cambria Math" panose="02040503050406030204" pitchFamily="18" charset="0"/>
                      </a:rPr>
                      <m:t>=</m:t>
                    </m:r>
                    <m:r>
                      <a:rPr lang="en-US" i="1" dirty="0">
                        <a:solidFill>
                          <a:schemeClr val="accent6">
                            <a:lumMod val="75000"/>
                          </a:schemeClr>
                        </a:solidFill>
                        <a:latin typeface="Cambria Math" panose="02040503050406030204" pitchFamily="18" charset="0"/>
                        <a:ea typeface="Cambria Math" panose="02040503050406030204" pitchFamily="18" charset="0"/>
                      </a:rPr>
                      <m:t>𝜋</m:t>
                    </m:r>
                    <m:d>
                      <m:dPr>
                        <m:ctrlPr>
                          <a:rPr lang="en-US" b="1" i="1">
                            <a:solidFill>
                              <a:schemeClr val="accent6">
                                <a:lumMod val="75000"/>
                              </a:schemeClr>
                            </a:solidFill>
                            <a:latin typeface="Cambria Math" panose="02040503050406030204" pitchFamily="18" charset="0"/>
                          </a:rPr>
                        </m:ctrlPr>
                      </m:dPr>
                      <m:e>
                        <m:sSup>
                          <m:sSupPr>
                            <m:ctrlPr>
                              <a:rPr lang="en-US" b="1" i="1">
                                <a:solidFill>
                                  <a:schemeClr val="accent6">
                                    <a:lumMod val="75000"/>
                                  </a:schemeClr>
                                </a:solidFill>
                                <a:latin typeface="Cambria Math" panose="02040503050406030204" pitchFamily="18" charset="0"/>
                              </a:rPr>
                            </m:ctrlPr>
                          </m:sSupPr>
                          <m:e>
                            <m:r>
                              <a:rPr lang="en-US" b="1" i="1">
                                <a:solidFill>
                                  <a:schemeClr val="accent6">
                                    <a:lumMod val="75000"/>
                                  </a:schemeClr>
                                </a:solidFill>
                                <a:latin typeface="Cambria Math" panose="02040503050406030204" pitchFamily="18" charset="0"/>
                              </a:rPr>
                              <m:t>𝒙</m:t>
                            </m:r>
                          </m:e>
                          <m:sup>
                            <m:d>
                              <m:dPr>
                                <m:ctrlPr>
                                  <a:rPr lang="en-US" i="1">
                                    <a:solidFill>
                                      <a:schemeClr val="accent6">
                                        <a:lumMod val="75000"/>
                                      </a:schemeClr>
                                    </a:solidFill>
                                    <a:latin typeface="Cambria Math" panose="02040503050406030204" pitchFamily="18" charset="0"/>
                                  </a:rPr>
                                </m:ctrlPr>
                              </m:dPr>
                              <m:e>
                                <m:acc>
                                  <m:accPr>
                                    <m:chr m:val="̂"/>
                                    <m:ctrlPr>
                                      <a:rPr lang="en-US" i="1">
                                        <a:solidFill>
                                          <a:schemeClr val="accent6">
                                            <a:lumMod val="75000"/>
                                          </a:schemeClr>
                                        </a:solidFill>
                                        <a:latin typeface="Cambria Math" panose="02040503050406030204" pitchFamily="18" charset="0"/>
                                      </a:rPr>
                                    </m:ctrlPr>
                                  </m:accPr>
                                  <m:e>
                                    <m:r>
                                      <a:rPr lang="en-US" i="1">
                                        <a:solidFill>
                                          <a:schemeClr val="accent6">
                                            <a:lumMod val="75000"/>
                                          </a:schemeClr>
                                        </a:solidFill>
                                        <a:latin typeface="Cambria Math" panose="02040503050406030204" pitchFamily="18" charset="0"/>
                                      </a:rPr>
                                      <m:t>𝑖</m:t>
                                    </m:r>
                                  </m:e>
                                </m:acc>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e>
                            </m:d>
                          </m:sup>
                        </m:sSup>
                      </m:e>
                    </m:d>
                    <m:d>
                      <m:dPr>
                        <m:ctrlPr>
                          <a:rPr lang="en-US" b="0" i="1" dirty="0" smtClean="0">
                            <a:solidFill>
                              <a:schemeClr val="accent6">
                                <a:lumMod val="75000"/>
                              </a:schemeClr>
                            </a:solidFill>
                            <a:latin typeface="Cambria Math" panose="02040503050406030204" pitchFamily="18" charset="0"/>
                          </a:rPr>
                        </m:ctrlPr>
                      </m:dPr>
                      <m:e>
                        <m:r>
                          <a:rPr lang="en-US" b="0" i="1" dirty="0" smtClean="0">
                            <a:solidFill>
                              <a:schemeClr val="accent6">
                                <a:lumMod val="75000"/>
                              </a:schemeClr>
                            </a:solidFill>
                            <a:latin typeface="Cambria Math" panose="02040503050406030204" pitchFamily="18" charset="0"/>
                          </a:rPr>
                          <m:t>1−</m:t>
                        </m:r>
                        <m:r>
                          <a:rPr lang="en-US" b="0" i="1" dirty="0" smtClean="0">
                            <a:solidFill>
                              <a:schemeClr val="accent6">
                                <a:lumMod val="75000"/>
                              </a:schemeClr>
                            </a:solidFill>
                            <a:latin typeface="Cambria Math" panose="02040503050406030204" pitchFamily="18" charset="0"/>
                          </a:rPr>
                          <m:t>𝜋</m:t>
                        </m:r>
                        <m:d>
                          <m:dPr>
                            <m:ctrlPr>
                              <a:rPr lang="en-US" b="1" i="1" dirty="0" smtClean="0">
                                <a:solidFill>
                                  <a:schemeClr val="accent6">
                                    <a:lumMod val="75000"/>
                                  </a:schemeClr>
                                </a:solidFill>
                                <a:latin typeface="Cambria Math" panose="02040503050406030204" pitchFamily="18" charset="0"/>
                              </a:rPr>
                            </m:ctrlPr>
                          </m:dPr>
                          <m:e>
                            <m:sSup>
                              <m:sSupPr>
                                <m:ctrlPr>
                                  <a:rPr lang="en-US" b="1" i="1" dirty="0" smtClean="0">
                                    <a:solidFill>
                                      <a:schemeClr val="accent6">
                                        <a:lumMod val="75000"/>
                                      </a:schemeClr>
                                    </a:solidFill>
                                    <a:latin typeface="Cambria Math" panose="02040503050406030204" pitchFamily="18" charset="0"/>
                                  </a:rPr>
                                </m:ctrlPr>
                              </m:sSupPr>
                              <m:e>
                                <m:r>
                                  <a:rPr lang="en-US" b="1" i="1" dirty="0" smtClean="0">
                                    <a:solidFill>
                                      <a:schemeClr val="accent6">
                                        <a:lumMod val="75000"/>
                                      </a:schemeClr>
                                    </a:solidFill>
                                    <a:latin typeface="Cambria Math" panose="02040503050406030204" pitchFamily="18" charset="0"/>
                                  </a:rPr>
                                  <m:t>𝒙</m:t>
                                </m:r>
                              </m:e>
                              <m:sup>
                                <m:r>
                                  <a:rPr lang="en-US" b="1" i="1" dirty="0" smtClean="0">
                                    <a:solidFill>
                                      <a:schemeClr val="accent6">
                                        <a:lumMod val="75000"/>
                                      </a:schemeClr>
                                    </a:solidFill>
                                    <a:latin typeface="Cambria Math" panose="02040503050406030204" pitchFamily="18" charset="0"/>
                                  </a:rPr>
                                  <m:t>′</m:t>
                                </m:r>
                              </m:sup>
                            </m:sSup>
                          </m:e>
                        </m:d>
                      </m:e>
                    </m:d>
                    <m:r>
                      <a:rPr lang="en-US" b="1" i="1" dirty="0" smtClean="0">
                        <a:solidFill>
                          <a:schemeClr val="accent6">
                            <a:lumMod val="75000"/>
                          </a:schemeClr>
                        </a:solidFill>
                        <a:latin typeface="Cambria Math" panose="02040503050406030204" pitchFamily="18" charset="0"/>
                      </a:rPr>
                      <m:t>+</m:t>
                    </m:r>
                    <m:d>
                      <m:dPr>
                        <m:ctrlPr>
                          <a:rPr lang="en-US" b="0" i="1" dirty="0" smtClean="0">
                            <a:solidFill>
                              <a:schemeClr val="accent6">
                                <a:lumMod val="75000"/>
                              </a:schemeClr>
                            </a:solidFill>
                            <a:latin typeface="Cambria Math" panose="02040503050406030204" pitchFamily="18" charset="0"/>
                          </a:rPr>
                        </m:ctrlPr>
                      </m:dPr>
                      <m:e>
                        <m:r>
                          <a:rPr lang="en-US" b="0" i="1" dirty="0" smtClean="0">
                            <a:solidFill>
                              <a:schemeClr val="accent6">
                                <a:lumMod val="75000"/>
                              </a:schemeClr>
                            </a:solidFill>
                            <a:latin typeface="Cambria Math" panose="02040503050406030204" pitchFamily="18" charset="0"/>
                          </a:rPr>
                          <m:t>1−</m:t>
                        </m:r>
                        <m:r>
                          <a:rPr lang="en-US" i="1" dirty="0">
                            <a:solidFill>
                              <a:schemeClr val="accent6">
                                <a:lumMod val="75000"/>
                              </a:schemeClr>
                            </a:solidFill>
                            <a:latin typeface="Cambria Math" panose="02040503050406030204" pitchFamily="18" charset="0"/>
                            <a:ea typeface="Cambria Math" panose="02040503050406030204" pitchFamily="18" charset="0"/>
                          </a:rPr>
                          <m:t>𝜋</m:t>
                        </m:r>
                        <m:d>
                          <m:dPr>
                            <m:ctrlPr>
                              <a:rPr lang="en-US" b="1" i="1">
                                <a:solidFill>
                                  <a:schemeClr val="accent6">
                                    <a:lumMod val="75000"/>
                                  </a:schemeClr>
                                </a:solidFill>
                                <a:latin typeface="Cambria Math" panose="02040503050406030204" pitchFamily="18" charset="0"/>
                              </a:rPr>
                            </m:ctrlPr>
                          </m:dPr>
                          <m:e>
                            <m:sSup>
                              <m:sSupPr>
                                <m:ctrlPr>
                                  <a:rPr lang="en-US" b="1" i="1">
                                    <a:solidFill>
                                      <a:schemeClr val="accent6">
                                        <a:lumMod val="75000"/>
                                      </a:schemeClr>
                                    </a:solidFill>
                                    <a:latin typeface="Cambria Math" panose="02040503050406030204" pitchFamily="18" charset="0"/>
                                  </a:rPr>
                                </m:ctrlPr>
                              </m:sSupPr>
                              <m:e>
                                <m:r>
                                  <a:rPr lang="en-US" b="1" i="1">
                                    <a:solidFill>
                                      <a:schemeClr val="accent6">
                                        <a:lumMod val="75000"/>
                                      </a:schemeClr>
                                    </a:solidFill>
                                    <a:latin typeface="Cambria Math" panose="02040503050406030204" pitchFamily="18" charset="0"/>
                                  </a:rPr>
                                  <m:t>𝒙</m:t>
                                </m:r>
                              </m:e>
                              <m:sup>
                                <m:d>
                                  <m:dPr>
                                    <m:ctrlPr>
                                      <a:rPr lang="en-US" i="1">
                                        <a:solidFill>
                                          <a:schemeClr val="accent6">
                                            <a:lumMod val="75000"/>
                                          </a:schemeClr>
                                        </a:solidFill>
                                        <a:latin typeface="Cambria Math" panose="02040503050406030204" pitchFamily="18" charset="0"/>
                                      </a:rPr>
                                    </m:ctrlPr>
                                  </m:dPr>
                                  <m:e>
                                    <m:acc>
                                      <m:accPr>
                                        <m:chr m:val="̂"/>
                                        <m:ctrlPr>
                                          <a:rPr lang="en-US" i="1">
                                            <a:solidFill>
                                              <a:schemeClr val="accent6">
                                                <a:lumMod val="75000"/>
                                              </a:schemeClr>
                                            </a:solidFill>
                                            <a:latin typeface="Cambria Math" panose="02040503050406030204" pitchFamily="18" charset="0"/>
                                          </a:rPr>
                                        </m:ctrlPr>
                                      </m:accPr>
                                      <m:e>
                                        <m:r>
                                          <a:rPr lang="en-US" i="1">
                                            <a:solidFill>
                                              <a:schemeClr val="accent6">
                                                <a:lumMod val="75000"/>
                                              </a:schemeClr>
                                            </a:solidFill>
                                            <a:latin typeface="Cambria Math" panose="02040503050406030204" pitchFamily="18" charset="0"/>
                                          </a:rPr>
                                          <m:t>𝑖</m:t>
                                        </m:r>
                                      </m:e>
                                    </m:acc>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e>
                                </m:d>
                              </m:sup>
                            </m:sSup>
                          </m:e>
                        </m:d>
                      </m:e>
                    </m:d>
                    <m:r>
                      <a:rPr lang="en-US" i="1" dirty="0">
                        <a:solidFill>
                          <a:schemeClr val="accent6">
                            <a:lumMod val="75000"/>
                          </a:schemeClr>
                        </a:solidFill>
                        <a:latin typeface="Cambria Math" panose="02040503050406030204" pitchFamily="18" charset="0"/>
                      </a:rPr>
                      <m:t>𝜋</m:t>
                    </m:r>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oMath>
                </a14:m>
                <a:endParaRPr lang="en-US" dirty="0">
                  <a:solidFill>
                    <a:schemeClr val="accent6">
                      <a:lumMod val="75000"/>
                    </a:schemeClr>
                  </a:solidFill>
                  <a:ea typeface="Cambria Math" panose="02040503050406030204" pitchFamily="18" charset="0"/>
                </a:endParaRPr>
              </a:p>
              <a:p>
                <a:pPr>
                  <a:lnSpc>
                    <a:spcPct val="120000"/>
                  </a:lnSpc>
                </a:pPr>
                <a14:m>
                  <m:oMath xmlns:m="http://schemas.openxmlformats.org/officeDocument/2006/math">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e>
                    </m:d>
                    <m:r>
                      <a:rPr lang="en-US" i="1">
                        <a:solidFill>
                          <a:schemeClr val="accent6">
                            <a:lumMod val="75000"/>
                          </a:schemeClr>
                        </a:solidFill>
                        <a:latin typeface="Cambria Math" panose="02040503050406030204" pitchFamily="18" charset="0"/>
                      </a:rPr>
                      <m:t>→</m:t>
                    </m:r>
                    <m:r>
                      <a:rPr lang="en-US" i="1" dirty="0">
                        <a:solidFill>
                          <a:schemeClr val="accent6">
                            <a:lumMod val="75000"/>
                          </a:schemeClr>
                        </a:solidFill>
                        <a:latin typeface="Cambria Math" panose="02040503050406030204" pitchFamily="18" charset="0"/>
                      </a:rPr>
                      <m:t>𝜋</m:t>
                    </m:r>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d>
                      <m:dPr>
                        <m:ctrlPr>
                          <a:rPr lang="en-US">
                            <a:solidFill>
                              <a:schemeClr val="accent6">
                                <a:lumMod val="75000"/>
                              </a:schemeClr>
                            </a:solidFill>
                            <a:latin typeface="Cambria Math" panose="02040503050406030204" pitchFamily="18" charset="0"/>
                          </a:rPr>
                        </m:ctrlPr>
                      </m:dPr>
                      <m:e>
                        <m:r>
                          <a:rPr lang="en-US">
                            <a:solidFill>
                              <a:schemeClr val="accent6">
                                <a:lumMod val="75000"/>
                              </a:schemeClr>
                            </a:solidFill>
                            <a:latin typeface="Cambria Math" panose="02040503050406030204" pitchFamily="18" charset="0"/>
                          </a:rPr>
                          <m:t>1−</m:t>
                        </m:r>
                        <m:r>
                          <a:rPr lang="en-US" i="1" dirty="0">
                            <a:solidFill>
                              <a:schemeClr val="accent6">
                                <a:lumMod val="75000"/>
                              </a:schemeClr>
                            </a:solidFill>
                            <a:latin typeface="Cambria Math" panose="02040503050406030204" pitchFamily="18" charset="0"/>
                          </a:rPr>
                          <m:t>𝜋</m:t>
                        </m:r>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e>
                    </m:d>
                    <m:r>
                      <a:rPr lang="en-US" i="1">
                        <a:solidFill>
                          <a:schemeClr val="accent6">
                            <a:lumMod val="75000"/>
                          </a:schemeClr>
                        </a:solidFill>
                        <a:latin typeface="Cambria Math" panose="02040503050406030204" pitchFamily="18" charset="0"/>
                      </a:rPr>
                      <m:t>+</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1−</m:t>
                        </m:r>
                        <m:r>
                          <a:rPr lang="en-US" i="1" dirty="0">
                            <a:solidFill>
                              <a:schemeClr val="accent6">
                                <a:lumMod val="75000"/>
                              </a:schemeClr>
                            </a:solidFill>
                            <a:latin typeface="Cambria Math" panose="02040503050406030204" pitchFamily="18" charset="0"/>
                          </a:rPr>
                          <m:t>𝜋</m:t>
                        </m:r>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e>
                    </m:d>
                    <m:r>
                      <a:rPr lang="en-US" i="1" dirty="0">
                        <a:solidFill>
                          <a:schemeClr val="accent6">
                            <a:lumMod val="75000"/>
                          </a:schemeClr>
                        </a:solidFill>
                        <a:latin typeface="Cambria Math" panose="02040503050406030204" pitchFamily="18" charset="0"/>
                      </a:rPr>
                      <m:t>𝜋</m:t>
                    </m:r>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oMath>
                </a14:m>
                <a:endParaRPr lang="en-US" dirty="0">
                  <a:solidFill>
                    <a:schemeClr val="accent6">
                      <a:lumMod val="75000"/>
                    </a:schemeClr>
                  </a:solidFill>
                  <a:ea typeface="Cambria Math" panose="02040503050406030204" pitchFamily="18" charset="0"/>
                </a:endParaRPr>
              </a:p>
              <a:p>
                <a:pPr>
                  <a:lnSpc>
                    <a:spcPct val="120000"/>
                  </a:lnSpc>
                </a:pPr>
                <a14:m>
                  <m:oMath xmlns:m="http://schemas.openxmlformats.org/officeDocument/2006/math">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e>
                    </m:d>
                    <m:r>
                      <a:rPr lang="en-US" i="1">
                        <a:solidFill>
                          <a:schemeClr val="accent6">
                            <a:lumMod val="75000"/>
                          </a:schemeClr>
                        </a:solidFill>
                        <a:latin typeface="Cambria Math" panose="02040503050406030204" pitchFamily="18" charset="0"/>
                      </a:rPr>
                      <m:t>=2</m:t>
                    </m:r>
                    <m:r>
                      <a:rPr lang="en-US" i="1" dirty="0">
                        <a:solidFill>
                          <a:schemeClr val="accent6">
                            <a:lumMod val="75000"/>
                          </a:schemeClr>
                        </a:solidFill>
                        <a:latin typeface="Cambria Math" panose="02040503050406030204" pitchFamily="18" charset="0"/>
                      </a:rPr>
                      <m:t>𝜋</m:t>
                    </m:r>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d>
                      <m:dPr>
                        <m:ctrlPr>
                          <a:rPr lang="en-US">
                            <a:solidFill>
                              <a:schemeClr val="accent6">
                                <a:lumMod val="75000"/>
                              </a:schemeClr>
                            </a:solidFill>
                            <a:latin typeface="Cambria Math" panose="02040503050406030204" pitchFamily="18" charset="0"/>
                          </a:rPr>
                        </m:ctrlPr>
                      </m:dPr>
                      <m:e>
                        <m:r>
                          <a:rPr lang="en-US">
                            <a:solidFill>
                              <a:schemeClr val="accent6">
                                <a:lumMod val="75000"/>
                              </a:schemeClr>
                            </a:solidFill>
                            <a:latin typeface="Cambria Math" panose="02040503050406030204" pitchFamily="18" charset="0"/>
                          </a:rPr>
                          <m:t>1−</m:t>
                        </m:r>
                        <m:r>
                          <a:rPr lang="en-US" i="1" dirty="0">
                            <a:solidFill>
                              <a:schemeClr val="accent6">
                                <a:lumMod val="75000"/>
                              </a:schemeClr>
                            </a:solidFill>
                            <a:latin typeface="Cambria Math" panose="02040503050406030204" pitchFamily="18" charset="0"/>
                          </a:rPr>
                          <m:t>𝜋</m:t>
                        </m:r>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e>
                    </m:d>
                  </m:oMath>
                </a14:m>
                <a:endParaRPr lang="en-US" dirty="0">
                  <a:solidFill>
                    <a:schemeClr val="accent6">
                      <a:lumMod val="75000"/>
                    </a:schemeClr>
                  </a:solidFill>
                  <a:ea typeface="Cambria Math" panose="02040503050406030204" pitchFamily="18" charset="0"/>
                </a:endParaRPr>
              </a:p>
              <a:p>
                <a:pPr>
                  <a:lnSpc>
                    <a:spcPct val="120000"/>
                  </a:lnSpc>
                </a:pPr>
                <a14:m>
                  <m:oMath xmlns:m="http://schemas.openxmlformats.org/officeDocument/2006/math">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r>
                          <a:rPr lang="en-US" i="1">
                            <a:solidFill>
                              <a:schemeClr val="accent6">
                                <a:lumMod val="75000"/>
                              </a:schemeClr>
                            </a:solidFill>
                            <a:latin typeface="Cambria Math" panose="02040503050406030204" pitchFamily="18" charset="0"/>
                          </a:rPr>
                          <m:t>ℎ</m:t>
                        </m:r>
                      </m:e>
                    </m:d>
                    <m:r>
                      <a:rPr lang="en-US" i="1">
                        <a:solidFill>
                          <a:schemeClr val="accent6">
                            <a:lumMod val="75000"/>
                          </a:schemeClr>
                        </a:solidFill>
                        <a:latin typeface="Cambria Math" panose="02040503050406030204" pitchFamily="18" charset="0"/>
                      </a:rPr>
                      <m:t>≤2</m:t>
                    </m:r>
                    <m:func>
                      <m:funcPr>
                        <m:ctrlPr>
                          <a:rPr lang="en-US">
                            <a:solidFill>
                              <a:schemeClr val="accent6">
                                <a:lumMod val="75000"/>
                              </a:schemeClr>
                            </a:solidFill>
                            <a:latin typeface="Cambria Math" panose="02040503050406030204" pitchFamily="18" charset="0"/>
                          </a:rPr>
                        </m:ctrlPr>
                      </m:funcPr>
                      <m:fName>
                        <m:r>
                          <m:rPr>
                            <m:sty m:val="p"/>
                          </m:rPr>
                          <a:rPr lang="en-US">
                            <a:solidFill>
                              <a:schemeClr val="accent6">
                                <a:lumMod val="75000"/>
                              </a:schemeClr>
                            </a:solidFill>
                            <a:latin typeface="Cambria Math" panose="02040503050406030204" pitchFamily="18" charset="0"/>
                          </a:rPr>
                          <m:t>min</m:t>
                        </m:r>
                      </m:fName>
                      <m:e>
                        <m:d>
                          <m:dPr>
                            <m:ctrlPr>
                              <a:rPr lang="en-US" i="1" dirty="0">
                                <a:solidFill>
                                  <a:schemeClr val="accent6">
                                    <a:lumMod val="75000"/>
                                  </a:schemeClr>
                                </a:solidFill>
                                <a:latin typeface="Cambria Math" panose="02040503050406030204" pitchFamily="18" charset="0"/>
                              </a:rPr>
                            </m:ctrlPr>
                          </m:dPr>
                          <m:e>
                            <m:r>
                              <a:rPr lang="en-US" i="1" dirty="0">
                                <a:solidFill>
                                  <a:schemeClr val="accent6">
                                    <a:lumMod val="75000"/>
                                  </a:schemeClr>
                                </a:solidFill>
                                <a:latin typeface="Cambria Math" panose="02040503050406030204" pitchFamily="18" charset="0"/>
                              </a:rPr>
                              <m:t>𝜋</m:t>
                            </m:r>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r>
                              <a:rPr lang="en-US" i="1" dirty="0">
                                <a:solidFill>
                                  <a:schemeClr val="accent6">
                                    <a:lumMod val="75000"/>
                                  </a:schemeClr>
                                </a:solidFill>
                                <a:latin typeface="Cambria Math" panose="02040503050406030204" pitchFamily="18" charset="0"/>
                                <a:ea typeface="Cambria Math" panose="02040503050406030204" pitchFamily="18" charset="0"/>
                              </a:rPr>
                              <m:t>,</m:t>
                            </m:r>
                            <m:d>
                              <m:dPr>
                                <m:ctrlPr>
                                  <a:rPr lang="en-US">
                                    <a:solidFill>
                                      <a:schemeClr val="accent6">
                                        <a:lumMod val="75000"/>
                                      </a:schemeClr>
                                    </a:solidFill>
                                    <a:latin typeface="Cambria Math" panose="02040503050406030204" pitchFamily="18" charset="0"/>
                                  </a:rPr>
                                </m:ctrlPr>
                              </m:dPr>
                              <m:e>
                                <m:r>
                                  <a:rPr lang="en-US">
                                    <a:solidFill>
                                      <a:schemeClr val="accent6">
                                        <a:lumMod val="75000"/>
                                      </a:schemeClr>
                                    </a:solidFill>
                                    <a:latin typeface="Cambria Math" panose="02040503050406030204" pitchFamily="18" charset="0"/>
                                  </a:rPr>
                                  <m:t>1−</m:t>
                                </m:r>
                                <m:r>
                                  <a:rPr lang="en-US" i="1" dirty="0">
                                    <a:solidFill>
                                      <a:schemeClr val="accent6">
                                        <a:lumMod val="75000"/>
                                      </a:schemeClr>
                                    </a:solidFill>
                                    <a:latin typeface="Cambria Math" panose="02040503050406030204" pitchFamily="18" charset="0"/>
                                  </a:rPr>
                                  <m:t>𝜋</m:t>
                                </m:r>
                                <m:d>
                                  <m:dPr>
                                    <m:ctrlPr>
                                      <a:rPr lang="en-US" b="1" i="1" dirty="0">
                                        <a:solidFill>
                                          <a:schemeClr val="accent6">
                                            <a:lumMod val="75000"/>
                                          </a:schemeClr>
                                        </a:solidFill>
                                        <a:latin typeface="Cambria Math" panose="02040503050406030204" pitchFamily="18" charset="0"/>
                                      </a:rPr>
                                    </m:ctrlPr>
                                  </m:dPr>
                                  <m:e>
                                    <m:sSup>
                                      <m:sSupPr>
                                        <m:ctrlPr>
                                          <a:rPr lang="en-US" b="1" i="1" dirty="0">
                                            <a:solidFill>
                                              <a:schemeClr val="accent6">
                                                <a:lumMod val="75000"/>
                                              </a:schemeClr>
                                            </a:solidFill>
                                            <a:latin typeface="Cambria Math" panose="02040503050406030204" pitchFamily="18" charset="0"/>
                                          </a:rPr>
                                        </m:ctrlPr>
                                      </m:sSupPr>
                                      <m:e>
                                        <m:r>
                                          <a:rPr lang="en-US" b="1" i="1" dirty="0">
                                            <a:solidFill>
                                              <a:schemeClr val="accent6">
                                                <a:lumMod val="75000"/>
                                              </a:schemeClr>
                                            </a:solidFill>
                                            <a:latin typeface="Cambria Math" panose="02040503050406030204" pitchFamily="18" charset="0"/>
                                          </a:rPr>
                                          <m:t>𝒙</m:t>
                                        </m:r>
                                      </m:e>
                                      <m:sup>
                                        <m:r>
                                          <a:rPr lang="en-US" b="1" i="1" dirty="0">
                                            <a:solidFill>
                                              <a:schemeClr val="accent6">
                                                <a:lumMod val="75000"/>
                                              </a:schemeClr>
                                            </a:solidFill>
                                            <a:latin typeface="Cambria Math" panose="02040503050406030204" pitchFamily="18" charset="0"/>
                                          </a:rPr>
                                          <m:t>′</m:t>
                                        </m:r>
                                      </m:sup>
                                    </m:sSup>
                                  </m:e>
                                </m:d>
                              </m:e>
                            </m:d>
                          </m:e>
                        </m:d>
                      </m:e>
                    </m:func>
                    <m:r>
                      <a:rPr lang="en-US" i="1">
                        <a:solidFill>
                          <a:schemeClr val="accent6">
                            <a:lumMod val="75000"/>
                          </a:schemeClr>
                        </a:solidFill>
                        <a:latin typeface="Cambria Math" panose="02040503050406030204" pitchFamily="18" charset="0"/>
                      </a:rPr>
                      <m:t>=2</m:t>
                    </m:r>
                    <m:r>
                      <a:rPr lang="en-US" i="1">
                        <a:solidFill>
                          <a:schemeClr val="accent6">
                            <a:lumMod val="75000"/>
                          </a:schemeClr>
                        </a:solidFill>
                        <a:latin typeface="Cambria Math" panose="02040503050406030204" pitchFamily="18" charset="0"/>
                      </a:rPr>
                      <m:t>𝑒𝑟𝑟</m:t>
                    </m:r>
                    <m:d>
                      <m:dPr>
                        <m:ctrlPr>
                          <a:rPr lang="en-US" i="1">
                            <a:solidFill>
                              <a:schemeClr val="accent6">
                                <a:lumMod val="75000"/>
                              </a:schemeClr>
                            </a:solidFill>
                            <a:latin typeface="Cambria Math" panose="02040503050406030204" pitchFamily="18" charset="0"/>
                          </a:rPr>
                        </m:ctrlPr>
                      </m:dPr>
                      <m:e>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ℎ</m:t>
                            </m:r>
                          </m:e>
                          <m:sup>
                            <m:r>
                              <a:rPr lang="en-US" b="0" i="1" smtClean="0">
                                <a:solidFill>
                                  <a:schemeClr val="accent6">
                                    <a:lumMod val="75000"/>
                                  </a:schemeClr>
                                </a:solidFill>
                                <a:latin typeface="Cambria Math" panose="02040503050406030204" pitchFamily="18" charset="0"/>
                              </a:rPr>
                              <m:t>∗</m:t>
                            </m:r>
                          </m:sup>
                        </m:sSup>
                      </m:e>
                    </m:d>
                    <m:r>
                      <a:rPr lang="en-US" b="0" i="1" smtClean="0">
                        <a:solidFill>
                          <a:schemeClr val="accent6">
                            <a:lumMod val="75000"/>
                          </a:schemeClr>
                        </a:solidFill>
                        <a:latin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m:t>
                    </m:r>
                  </m:oMath>
                </a14:m>
                <a:endParaRPr lang="en-US" dirty="0">
                  <a:solidFill>
                    <a:schemeClr val="accent6"/>
                  </a:solidFill>
                  <a:ea typeface="Cambria Math" panose="02040503050406030204" pitchFamily="18" charset="0"/>
                </a:endParaRPr>
              </a:p>
              <a:p>
                <a:pPr>
                  <a:lnSpc>
                    <a:spcPct val="130000"/>
                  </a:lnSpc>
                </a:pPr>
                <a:endParaRPr lang="en-US" dirty="0">
                  <a:solidFill>
                    <a:schemeClr val="accent6"/>
                  </a:solidFill>
                </a:endParaRPr>
              </a:p>
              <a:p>
                <a:pPr>
                  <a:lnSpc>
                    <a:spcPct val="130000"/>
                  </a:lnSpc>
                </a:pPr>
                <a:endParaRPr lang="en-US" dirty="0">
                  <a:solidFill>
                    <a:schemeClr val="accent6"/>
                  </a:solidFill>
                </a:endParaRPr>
              </a:p>
            </p:txBody>
          </p:sp>
        </mc:Choice>
        <mc:Fallback xmlns="">
          <p:sp>
            <p:nvSpPr>
              <p:cNvPr id="3" name="Content Placeholder 2">
                <a:extLst>
                  <a:ext uri="{FF2B5EF4-FFF2-40B4-BE49-F238E27FC236}">
                    <a16:creationId xmlns:a16="http://schemas.microsoft.com/office/drawing/2014/main" id="{59D3487F-E87E-0F5C-3C10-DAA6A59C30A3}"/>
                  </a:ext>
                </a:extLst>
              </p:cNvPr>
              <p:cNvSpPr>
                <a:spLocks noGrp="1" noRot="1" noChangeAspect="1" noMove="1" noResize="1" noEditPoints="1" noAdjustHandles="1" noChangeArrowheads="1" noChangeShapeType="1" noTextEdit="1"/>
              </p:cNvSpPr>
              <p:nvPr>
                <p:ph idx="1"/>
              </p:nvPr>
            </p:nvSpPr>
            <p:spPr>
              <a:xfrm>
                <a:off x="3840391" y="1123837"/>
                <a:ext cx="7902430" cy="5284270"/>
              </a:xfrm>
              <a:blipFill>
                <a:blip r:embed="rId3"/>
                <a:stretch>
                  <a:fillRect l="-963" t="-21823"/>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6EE97185-CD4B-FD70-EDF5-9AB0FC6CA4C0}"/>
              </a:ext>
            </a:extLst>
          </p:cNvPr>
          <p:cNvSpPr>
            <a:spLocks noGrp="1"/>
          </p:cNvSpPr>
          <p:nvPr>
            <p:ph type="sldNum" sz="quarter" idx="12"/>
          </p:nvPr>
        </p:nvSpPr>
        <p:spPr/>
        <p:txBody>
          <a:bodyPr/>
          <a:lstStyle/>
          <a:p>
            <a:fld id="{4FAB73BC-B049-4115-A692-8D63A059BFB8}" type="slidenum">
              <a:rPr lang="en-US" smtClean="0"/>
              <a:pPr/>
              <a:t>16</a:t>
            </a:fld>
            <a:endParaRPr lang="en-US"/>
          </a:p>
        </p:txBody>
      </p:sp>
      <p:sp>
        <p:nvSpPr>
          <p:cNvPr id="7" name="Rectangle 6">
            <a:extLst>
              <a:ext uri="{FF2B5EF4-FFF2-40B4-BE49-F238E27FC236}">
                <a16:creationId xmlns:a16="http://schemas.microsoft.com/office/drawing/2014/main" id="{3060F321-E202-574E-70CE-A0788A8B23B0}"/>
              </a:ext>
            </a:extLst>
          </p:cNvPr>
          <p:cNvSpPr/>
          <p:nvPr/>
        </p:nvSpPr>
        <p:spPr>
          <a:xfrm>
            <a:off x="3771900" y="6408107"/>
            <a:ext cx="6096000" cy="261610"/>
          </a:xfrm>
          <a:prstGeom prst="rect">
            <a:avLst/>
          </a:prstGeom>
        </p:spPr>
        <p:txBody>
          <a:bodyPr>
            <a:spAutoFit/>
          </a:bodyPr>
          <a:lstStyle/>
          <a:p>
            <a:r>
              <a:rPr lang="en-US" sz="1100">
                <a:solidFill>
                  <a:schemeClr val="tx1">
                    <a:lumMod val="65000"/>
                    <a:lumOff val="35000"/>
                  </a:schemeClr>
                </a:solidFill>
                <a:latin typeface="Calibri" panose="020F0502020204030204" pitchFamily="34" charset="0"/>
                <a:cs typeface="Calibri" panose="020F0502020204030204" pitchFamily="34" charset="0"/>
              </a:rPr>
              <a:t>Source: </a:t>
            </a:r>
            <a:r>
              <a:rPr lang="en-US" sz="1100">
                <a:solidFill>
                  <a:schemeClr val="tx1">
                    <a:lumMod val="65000"/>
                    <a:lumOff val="35000"/>
                  </a:schemeClr>
                </a:solidFill>
                <a:latin typeface="Calibri" panose="020F0502020204030204" pitchFamily="34" charset="0"/>
                <a:cs typeface="Calibri" panose="020F0502020204030204" pitchFamily="34" charset="0"/>
                <a:hlinkClick r:id="rId4"/>
              </a:rPr>
              <a:t>https://ieeexplore.ieee.org/stamp/stamp.jsp?tp=&amp;arnumber=1053964</a:t>
            </a:r>
            <a:r>
              <a:rPr lang="en-US" sz="1100">
                <a:solidFill>
                  <a:schemeClr val="tx1">
                    <a:lumMod val="65000"/>
                    <a:lumOff val="35000"/>
                  </a:schemeClr>
                </a:solidFill>
                <a:latin typeface="Calibri" panose="020F0502020204030204" pitchFamily="34" charset="0"/>
                <a:cs typeface="Calibri" panose="020F0502020204030204" pitchFamily="34" charset="0"/>
              </a:rPr>
              <a:t> </a:t>
            </a:r>
            <a:endParaRPr lang="en-US" sz="110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147A173D-A761-CC2B-CB83-E6E253BFFC35}"/>
              </a:ext>
            </a:extLst>
          </p:cNvPr>
          <p:cNvSpPr/>
          <p:nvPr/>
        </p:nvSpPr>
        <p:spPr>
          <a:xfrm>
            <a:off x="3771900" y="2781701"/>
            <a:ext cx="1262113" cy="36264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4013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74D8F-481B-A075-1A70-9E5A4CC75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B8BDF-010B-CF55-D3BE-F11567C19AB8}"/>
              </a:ext>
            </a:extLst>
          </p:cNvPr>
          <p:cNvSpPr>
            <a:spLocks noGrp="1"/>
          </p:cNvSpPr>
          <p:nvPr>
            <p:ph type="title"/>
          </p:nvPr>
        </p:nvSpPr>
        <p:spPr/>
        <p:txBody>
          <a:bodyPr/>
          <a:lstStyle/>
          <a:p>
            <a:r>
              <a:rPr lang="en-US"/>
              <a:t>Generalization of Nearest Neighbor (Cover and Hart, 1967)</a:t>
            </a:r>
          </a:p>
        </p:txBody>
      </p:sp>
      <p:sp>
        <p:nvSpPr>
          <p:cNvPr id="6" name="Slide Number Placeholder 5">
            <a:extLst>
              <a:ext uri="{FF2B5EF4-FFF2-40B4-BE49-F238E27FC236}">
                <a16:creationId xmlns:a16="http://schemas.microsoft.com/office/drawing/2014/main" id="{1DC3300F-8F80-6039-0ABA-03005B80DF05}"/>
              </a:ext>
            </a:extLst>
          </p:cNvPr>
          <p:cNvSpPr>
            <a:spLocks noGrp="1"/>
          </p:cNvSpPr>
          <p:nvPr>
            <p:ph type="sldNum" sz="quarter" idx="12"/>
          </p:nvPr>
        </p:nvSpPr>
        <p:spPr/>
        <p:txBody>
          <a:bodyPr/>
          <a:lstStyle/>
          <a:p>
            <a:fld id="{4FAB73BC-B049-4115-A692-8D63A059BFB8}" type="slidenum">
              <a:rPr lang="en-US" smtClean="0"/>
              <a:pPr/>
              <a:t>17</a:t>
            </a:fld>
            <a:endParaRPr lang="en-US"/>
          </a:p>
        </p:txBody>
      </p:sp>
      <p:sp>
        <p:nvSpPr>
          <p:cNvPr id="7" name="Rectangle 6">
            <a:extLst>
              <a:ext uri="{FF2B5EF4-FFF2-40B4-BE49-F238E27FC236}">
                <a16:creationId xmlns:a16="http://schemas.microsoft.com/office/drawing/2014/main" id="{F800F9F3-212D-EA91-117C-6E4F036B0452}"/>
              </a:ext>
            </a:extLst>
          </p:cNvPr>
          <p:cNvSpPr/>
          <p:nvPr/>
        </p:nvSpPr>
        <p:spPr>
          <a:xfrm>
            <a:off x="3771900" y="6408107"/>
            <a:ext cx="6096000" cy="261610"/>
          </a:xfrm>
          <a:prstGeom prst="rect">
            <a:avLst/>
          </a:prstGeom>
        </p:spPr>
        <p:txBody>
          <a:bodyPr>
            <a:spAutoFit/>
          </a:bodyPr>
          <a:lstStyle/>
          <a:p>
            <a:r>
              <a:rPr lang="en-US" sz="1100">
                <a:solidFill>
                  <a:schemeClr val="tx1">
                    <a:lumMod val="65000"/>
                    <a:lumOff val="35000"/>
                  </a:schemeClr>
                </a:solidFill>
                <a:latin typeface="Calibri" panose="020F0502020204030204" pitchFamily="34" charset="0"/>
                <a:cs typeface="Calibri" panose="020F0502020204030204" pitchFamily="34" charset="0"/>
              </a:rPr>
              <a:t>Source: </a:t>
            </a:r>
            <a:r>
              <a:rPr lang="en-US" sz="1100">
                <a:solidFill>
                  <a:schemeClr val="tx1">
                    <a:lumMod val="65000"/>
                    <a:lumOff val="35000"/>
                  </a:schemeClr>
                </a:solidFill>
                <a:latin typeface="Calibri" panose="020F0502020204030204" pitchFamily="34" charset="0"/>
                <a:cs typeface="Calibri" panose="020F0502020204030204" pitchFamily="34" charset="0"/>
                <a:hlinkClick r:id="rId3"/>
              </a:rPr>
              <a:t>https://ieeexplore.ieee.org/stamp/stamp.jsp?tp=&amp;arnumber=1053964</a:t>
            </a:r>
            <a:r>
              <a:rPr lang="en-US" sz="1100">
                <a:solidFill>
                  <a:schemeClr val="tx1">
                    <a:lumMod val="65000"/>
                    <a:lumOff val="35000"/>
                  </a:schemeClr>
                </a:solidFill>
                <a:latin typeface="Calibri" panose="020F0502020204030204" pitchFamily="34" charset="0"/>
                <a:cs typeface="Calibri" panose="020F0502020204030204" pitchFamily="34" charset="0"/>
              </a:rPr>
              <a:t> </a:t>
            </a:r>
            <a:endParaRPr lang="en-US" sz="110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50ED69CC-9035-71B0-637D-3AB90C618315}"/>
                  </a:ext>
                </a:extLst>
              </p:cNvPr>
              <p:cNvSpPr txBox="1">
                <a:spLocks/>
              </p:cNvSpPr>
              <p:nvPr/>
            </p:nvSpPr>
            <p:spPr>
              <a:xfrm>
                <a:off x="3840392" y="-1012821"/>
                <a:ext cx="7671091" cy="512064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lnSpc>
                    <a:spcPct val="130000"/>
                  </a:lnSpc>
                </a:pPr>
                <a:r>
                  <a:rPr lang="en-US" dirty="0"/>
                  <a:t>Claim: under certain conditions, as </a:t>
                </a:r>
                <a14:m>
                  <m:oMath xmlns:m="http://schemas.openxmlformats.org/officeDocument/2006/math">
                    <m:r>
                      <a:rPr lang="en-US" i="1" smtClean="0">
                        <a:solidFill>
                          <a:schemeClr val="accent6">
                            <a:lumMod val="75000"/>
                          </a:schemeClr>
                        </a:solidFill>
                        <a:latin typeface="Cambria Math" panose="02040503050406030204" pitchFamily="18" charset="0"/>
                      </a:rPr>
                      <m:t>𝑛</m:t>
                    </m:r>
                    <m:r>
                      <a:rPr lang="en-US" i="1" smtClean="0">
                        <a:solidFill>
                          <a:schemeClr val="accent6">
                            <a:lumMod val="75000"/>
                          </a:schemeClr>
                        </a:solidFill>
                        <a:latin typeface="Cambria Math" panose="02040503050406030204" pitchFamily="18" charset="0"/>
                      </a:rPr>
                      <m:t>→∞</m:t>
                    </m:r>
                  </m:oMath>
                </a14:m>
                <a:r>
                  <a:rPr lang="en-US" dirty="0"/>
                  <a:t>, with high probability, the true error rate of the nearest neighbor model </a:t>
                </a:r>
                <a14:m>
                  <m:oMath xmlns:m="http://schemas.openxmlformats.org/officeDocument/2006/math">
                    <m:r>
                      <a:rPr lang="en-US" i="1" smtClean="0">
                        <a:latin typeface="Cambria Math" panose="02040503050406030204" pitchFamily="18" charset="0"/>
                      </a:rPr>
                      <m:t>≤2 ∗</m:t>
                    </m:r>
                  </m:oMath>
                </a14:m>
                <a:r>
                  <a:rPr lang="en-US" dirty="0"/>
                  <a:t> the Bayes error rate (the optimal classifier)</a:t>
                </a:r>
                <a:endParaRPr lang="en-US" dirty="0">
                  <a:solidFill>
                    <a:schemeClr val="accent6"/>
                  </a:solidFill>
                </a:endParaRPr>
              </a:p>
              <a:p>
                <a:pPr>
                  <a:lnSpc>
                    <a:spcPct val="130000"/>
                  </a:lnSpc>
                </a:pPr>
                <a:r>
                  <a:rPr lang="en-US" dirty="0"/>
                  <a:t>Interpretation: “In this sense, it may be said that half the classification information in an infinite sample set is contained in the nearest neighbor.”</a:t>
                </a:r>
              </a:p>
            </p:txBody>
          </p:sp>
        </mc:Choice>
        <mc:Fallback xmlns="">
          <p:sp>
            <p:nvSpPr>
              <p:cNvPr id="9" name="Content Placeholder 2">
                <a:extLst>
                  <a:ext uri="{FF2B5EF4-FFF2-40B4-BE49-F238E27FC236}">
                    <a16:creationId xmlns:a16="http://schemas.microsoft.com/office/drawing/2014/main" id="{50ED69CC-9035-71B0-637D-3AB90C618315}"/>
                  </a:ext>
                </a:extLst>
              </p:cNvPr>
              <p:cNvSpPr txBox="1">
                <a:spLocks noRot="1" noChangeAspect="1" noMove="1" noResize="1" noEditPoints="1" noAdjustHandles="1" noChangeArrowheads="1" noChangeShapeType="1" noTextEdit="1"/>
              </p:cNvSpPr>
              <p:nvPr/>
            </p:nvSpPr>
            <p:spPr>
              <a:xfrm>
                <a:off x="3840392" y="-1012821"/>
                <a:ext cx="7671091" cy="5120640"/>
              </a:xfrm>
              <a:prstGeom prst="rect">
                <a:avLst/>
              </a:prstGeom>
              <a:blipFill>
                <a:blip r:embed="rId4"/>
                <a:stretch>
                  <a:fillRect l="-992"/>
                </a:stretch>
              </a:blipFill>
            </p:spPr>
            <p:txBody>
              <a:bodyPr/>
              <a:lstStyle/>
              <a:p>
                <a:r>
                  <a:rPr lang="en-US">
                    <a:noFill/>
                  </a:rPr>
                  <a:t> </a:t>
                </a:r>
              </a:p>
            </p:txBody>
          </p:sp>
        </mc:Fallback>
      </mc:AlternateContent>
    </p:spTree>
    <p:extLst>
      <p:ext uri="{BB962C8B-B14F-4D97-AF65-F5344CB8AC3E}">
        <p14:creationId xmlns:p14="http://schemas.microsoft.com/office/powerpoint/2010/main" val="165331842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C3FCB-FF6E-6241-03C9-249DF796A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A7303-D5CB-0DE9-C818-0365AF5A409E}"/>
              </a:ext>
            </a:extLst>
          </p:cNvPr>
          <p:cNvSpPr>
            <a:spLocks noGrp="1"/>
          </p:cNvSpPr>
          <p:nvPr>
            <p:ph type="title"/>
          </p:nvPr>
        </p:nvSpPr>
        <p:spPr/>
        <p:txBody>
          <a:bodyPr/>
          <a:lstStyle/>
          <a:p>
            <a:r>
              <a:rPr lang="en-US" dirty="0"/>
              <a:t>But why limit ourselves to just one neighbor?</a:t>
            </a:r>
          </a:p>
        </p:txBody>
      </p:sp>
      <p:sp>
        <p:nvSpPr>
          <p:cNvPr id="6" name="Slide Number Placeholder 5">
            <a:extLst>
              <a:ext uri="{FF2B5EF4-FFF2-40B4-BE49-F238E27FC236}">
                <a16:creationId xmlns:a16="http://schemas.microsoft.com/office/drawing/2014/main" id="{0A8A2FC6-ABAB-4DFB-D289-6C98DA403A73}"/>
              </a:ext>
            </a:extLst>
          </p:cNvPr>
          <p:cNvSpPr>
            <a:spLocks noGrp="1"/>
          </p:cNvSpPr>
          <p:nvPr>
            <p:ph type="sldNum" sz="quarter" idx="12"/>
          </p:nvPr>
        </p:nvSpPr>
        <p:spPr/>
        <p:txBody>
          <a:bodyPr/>
          <a:lstStyle/>
          <a:p>
            <a:fld id="{4FAB73BC-B049-4115-A692-8D63A059BFB8}" type="slidenum">
              <a:rPr lang="en-US" smtClean="0"/>
              <a:pPr/>
              <a:t>18</a:t>
            </a:fld>
            <a:endParaRPr lang="en-US"/>
          </a:p>
        </p:txBody>
      </p:sp>
      <p:sp>
        <p:nvSpPr>
          <p:cNvPr id="7" name="Rectangle 6">
            <a:extLst>
              <a:ext uri="{FF2B5EF4-FFF2-40B4-BE49-F238E27FC236}">
                <a16:creationId xmlns:a16="http://schemas.microsoft.com/office/drawing/2014/main" id="{07F543F9-FF33-DF5A-E635-B93B896B7F9A}"/>
              </a:ext>
            </a:extLst>
          </p:cNvPr>
          <p:cNvSpPr/>
          <p:nvPr/>
        </p:nvSpPr>
        <p:spPr>
          <a:xfrm>
            <a:off x="3771900" y="6408107"/>
            <a:ext cx="6096000" cy="261610"/>
          </a:xfrm>
          <a:prstGeom prst="rect">
            <a:avLst/>
          </a:prstGeom>
        </p:spPr>
        <p:txBody>
          <a:bodyPr>
            <a:spAutoFit/>
          </a:bodyPr>
          <a:lstStyle/>
          <a:p>
            <a:r>
              <a:rPr lang="en-US" sz="1100">
                <a:solidFill>
                  <a:schemeClr val="tx1">
                    <a:lumMod val="65000"/>
                    <a:lumOff val="35000"/>
                  </a:schemeClr>
                </a:solidFill>
                <a:latin typeface="Calibri" panose="020F0502020204030204" pitchFamily="34" charset="0"/>
                <a:cs typeface="Calibri" panose="020F0502020204030204" pitchFamily="34" charset="0"/>
              </a:rPr>
              <a:t>Source: </a:t>
            </a:r>
            <a:r>
              <a:rPr lang="en-US" sz="1100">
                <a:solidFill>
                  <a:schemeClr val="tx1">
                    <a:lumMod val="65000"/>
                    <a:lumOff val="35000"/>
                  </a:schemeClr>
                </a:solidFill>
                <a:latin typeface="Calibri" panose="020F0502020204030204" pitchFamily="34" charset="0"/>
                <a:cs typeface="Calibri" panose="020F0502020204030204" pitchFamily="34" charset="0"/>
                <a:hlinkClick r:id="rId3"/>
              </a:rPr>
              <a:t>https://ieeexplore.ieee.org/stamp/stamp.jsp?tp=&amp;arnumber=1053964</a:t>
            </a:r>
            <a:r>
              <a:rPr lang="en-US" sz="1100">
                <a:solidFill>
                  <a:schemeClr val="tx1">
                    <a:lumMod val="65000"/>
                    <a:lumOff val="35000"/>
                  </a:schemeClr>
                </a:solidFill>
                <a:latin typeface="Calibri" panose="020F0502020204030204" pitchFamily="34" charset="0"/>
                <a:cs typeface="Calibri" panose="020F0502020204030204" pitchFamily="34" charset="0"/>
              </a:rPr>
              <a:t> </a:t>
            </a:r>
            <a:endParaRPr lang="en-US" sz="110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054CAF11-EE17-943F-1419-6D5F87C90B4A}"/>
                  </a:ext>
                </a:extLst>
              </p:cNvPr>
              <p:cNvSpPr txBox="1">
                <a:spLocks/>
              </p:cNvSpPr>
              <p:nvPr/>
            </p:nvSpPr>
            <p:spPr>
              <a:xfrm>
                <a:off x="3840392" y="-1012821"/>
                <a:ext cx="7671091" cy="512064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Calibri" panose="020F0502020204030204" pitchFamily="34" charset="0"/>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Calibri" panose="020F0502020204030204" pitchFamily="34" charset="0"/>
                    <a:ea typeface="+mn-ea"/>
                    <a:cs typeface="Calibri" panose="020F0502020204030204" pitchFamily="34" charset="0"/>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lnSpc>
                    <a:spcPct val="130000"/>
                  </a:lnSpc>
                </a:pPr>
                <a:r>
                  <a:rPr lang="en-US" dirty="0"/>
                  <a:t>Claim: under certain conditions, as </a:t>
                </a:r>
                <a14:m>
                  <m:oMath xmlns:m="http://schemas.openxmlformats.org/officeDocument/2006/math">
                    <m:r>
                      <a:rPr lang="en-US" i="1" smtClean="0">
                        <a:solidFill>
                          <a:schemeClr val="accent6">
                            <a:lumMod val="75000"/>
                          </a:schemeClr>
                        </a:solidFill>
                        <a:latin typeface="Cambria Math" panose="02040503050406030204" pitchFamily="18" charset="0"/>
                      </a:rPr>
                      <m:t>𝑛</m:t>
                    </m:r>
                    <m:r>
                      <a:rPr lang="en-US" i="1" smtClean="0">
                        <a:solidFill>
                          <a:schemeClr val="accent6">
                            <a:lumMod val="75000"/>
                          </a:schemeClr>
                        </a:solidFill>
                        <a:latin typeface="Cambria Math" panose="02040503050406030204" pitchFamily="18" charset="0"/>
                      </a:rPr>
                      <m:t>→∞</m:t>
                    </m:r>
                  </m:oMath>
                </a14:m>
                <a:r>
                  <a:rPr lang="en-US" dirty="0"/>
                  <a:t>, with high probability, the true error rate of the nearest neighbor model </a:t>
                </a:r>
                <a14:m>
                  <m:oMath xmlns:m="http://schemas.openxmlformats.org/officeDocument/2006/math">
                    <m:r>
                      <a:rPr lang="en-US" i="1" smtClean="0">
                        <a:latin typeface="Cambria Math" panose="02040503050406030204" pitchFamily="18" charset="0"/>
                      </a:rPr>
                      <m:t>≤2 ∗</m:t>
                    </m:r>
                  </m:oMath>
                </a14:m>
                <a:r>
                  <a:rPr lang="en-US" dirty="0"/>
                  <a:t> the Bayes error rate (the optimal classifier)</a:t>
                </a:r>
                <a:endParaRPr lang="en-US" dirty="0">
                  <a:solidFill>
                    <a:schemeClr val="accent6"/>
                  </a:solidFill>
                </a:endParaRPr>
              </a:p>
              <a:p>
                <a:pPr>
                  <a:lnSpc>
                    <a:spcPct val="130000"/>
                  </a:lnSpc>
                </a:pPr>
                <a:r>
                  <a:rPr lang="en-US" dirty="0"/>
                  <a:t>Interpretation: “In this sense, it may be said that half the classification information in an infinite sample set is contained in the nearest neighbor.”</a:t>
                </a:r>
              </a:p>
            </p:txBody>
          </p:sp>
        </mc:Choice>
        <mc:Fallback xmlns="">
          <p:sp>
            <p:nvSpPr>
              <p:cNvPr id="9" name="Content Placeholder 2">
                <a:extLst>
                  <a:ext uri="{FF2B5EF4-FFF2-40B4-BE49-F238E27FC236}">
                    <a16:creationId xmlns:a16="http://schemas.microsoft.com/office/drawing/2014/main" id="{054CAF11-EE17-943F-1419-6D5F87C90B4A}"/>
                  </a:ext>
                </a:extLst>
              </p:cNvPr>
              <p:cNvSpPr txBox="1">
                <a:spLocks noRot="1" noChangeAspect="1" noMove="1" noResize="1" noEditPoints="1" noAdjustHandles="1" noChangeArrowheads="1" noChangeShapeType="1" noTextEdit="1"/>
              </p:cNvSpPr>
              <p:nvPr/>
            </p:nvSpPr>
            <p:spPr>
              <a:xfrm>
                <a:off x="3840392" y="-1012821"/>
                <a:ext cx="7671091" cy="5120640"/>
              </a:xfrm>
              <a:prstGeom prst="rect">
                <a:avLst/>
              </a:prstGeom>
              <a:blipFill>
                <a:blip r:embed="rId4"/>
                <a:stretch>
                  <a:fillRect l="-992"/>
                </a:stretch>
              </a:blipFill>
            </p:spPr>
            <p:txBody>
              <a:bodyPr/>
              <a:lstStyle/>
              <a:p>
                <a:r>
                  <a:rPr lang="en-US">
                    <a:noFill/>
                  </a:rPr>
                  <a:t> </a:t>
                </a:r>
              </a:p>
            </p:txBody>
          </p:sp>
        </mc:Fallback>
      </mc:AlternateContent>
    </p:spTree>
    <p:extLst>
      <p:ext uri="{BB962C8B-B14F-4D97-AF65-F5344CB8AC3E}">
        <p14:creationId xmlns:p14="http://schemas.microsoft.com/office/powerpoint/2010/main" val="492911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95BAC56-CA4A-5645-A2DD-69531453893A}"/>
                  </a:ext>
                </a:extLst>
              </p:cNvPr>
              <p:cNvSpPr>
                <a:spLocks noGrp="1"/>
              </p:cNvSpPr>
              <p:nvPr>
                <p:ph type="title"/>
              </p:nvPr>
            </p:nvSpPr>
            <p:spPr/>
            <p:txBody>
              <a:bodyPr/>
              <a:lstStyle/>
              <a:p>
                <a14:m>
                  <m:oMath xmlns:m="http://schemas.openxmlformats.org/officeDocument/2006/math">
                    <m:r>
                      <a:rPr lang="en-US" b="0" i="1" smtClean="0">
                        <a:latin typeface="Cambria Math" panose="02040503050406030204" pitchFamily="18" charset="0"/>
                      </a:rPr>
                      <m:t>𝑘</m:t>
                    </m:r>
                  </m:oMath>
                </a14:m>
                <a:r>
                  <a:rPr lang="en-US" dirty="0"/>
                  <a:t>-Nearest Neighbors (</a:t>
                </a:r>
                <a14:m>
                  <m:oMath xmlns:m="http://schemas.openxmlformats.org/officeDocument/2006/math">
                    <m:r>
                      <a:rPr lang="en-US" i="1">
                        <a:latin typeface="Cambria Math" panose="02040503050406030204" pitchFamily="18" charset="0"/>
                      </a:rPr>
                      <m:t>𝑘</m:t>
                    </m:r>
                  </m:oMath>
                </a14:m>
                <a:r>
                  <a:rPr lang="en-US" dirty="0"/>
                  <a:t>NN)</a:t>
                </a:r>
              </a:p>
            </p:txBody>
          </p:sp>
        </mc:Choice>
        <mc:Fallback xmlns="">
          <p:sp>
            <p:nvSpPr>
              <p:cNvPr id="2" name="Title 1">
                <a:extLst>
                  <a:ext uri="{FF2B5EF4-FFF2-40B4-BE49-F238E27FC236}">
                    <a16:creationId xmlns:a16="http://schemas.microsoft.com/office/drawing/2014/main" id="{F95BAC56-CA4A-5645-A2DD-69531453893A}"/>
                  </a:ext>
                </a:extLst>
              </p:cNvPr>
              <p:cNvSpPr>
                <a:spLocks noGrp="1" noRot="1" noChangeAspect="1" noMove="1" noResize="1" noEditPoints="1" noAdjustHandles="1" noChangeArrowheads="1" noChangeShapeType="1" noTextEdit="1"/>
              </p:cNvSpPr>
              <p:nvPr>
                <p:ph type="title"/>
              </p:nvPr>
            </p:nvSpPr>
            <p:spPr>
              <a:blipFill>
                <a:blip r:embed="rId3"/>
                <a:stretch>
                  <a:fillRect l="-59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F80F71-7C49-6E46-8C54-D73EAD422853}"/>
                  </a:ext>
                </a:extLst>
              </p:cNvPr>
              <p:cNvSpPr>
                <a:spLocks noGrp="1"/>
              </p:cNvSpPr>
              <p:nvPr>
                <p:ph idx="1"/>
              </p:nvPr>
            </p:nvSpPr>
            <p:spPr>
              <a:xfrm>
                <a:off x="3869267" y="864108"/>
                <a:ext cx="7685423" cy="5120640"/>
              </a:xfrm>
            </p:spPr>
            <p:txBody>
              <a:bodyPr>
                <a:noAutofit/>
              </a:bodyPr>
              <a:lstStyle/>
              <a:p>
                <a:pPr>
                  <a:lnSpc>
                    <a:spcPct val="130000"/>
                  </a:lnSpc>
                </a:pPr>
                <a:r>
                  <a:rPr lang="en-US" dirty="0"/>
                  <a:t>Classify a point as the most common label among the labels of the </a:t>
                </a:r>
                <a14:m>
                  <m:oMath xmlns:m="http://schemas.openxmlformats.org/officeDocument/2006/math">
                    <m:r>
                      <a:rPr lang="en-US" i="1">
                        <a:solidFill>
                          <a:schemeClr val="accent6">
                            <a:lumMod val="75000"/>
                          </a:schemeClr>
                        </a:solidFill>
                        <a:latin typeface="Cambria Math" panose="02040503050406030204" pitchFamily="18" charset="0"/>
                      </a:rPr>
                      <m:t>𝑘</m:t>
                    </m:r>
                  </m:oMath>
                </a14:m>
                <a:r>
                  <a:rPr lang="en-US" dirty="0"/>
                  <a:t> nearest training points</a:t>
                </a:r>
              </a:p>
              <a:p>
                <a:pPr>
                  <a:lnSpc>
                    <a:spcPct val="130000"/>
                  </a:lnSpc>
                </a:pPr>
                <a:r>
                  <a:rPr lang="en-US" dirty="0"/>
                  <a:t>Tie-breaking (in case of even </a:t>
                </a:r>
                <a14:m>
                  <m:oMath xmlns:m="http://schemas.openxmlformats.org/officeDocument/2006/math">
                    <m:r>
                      <a:rPr lang="en-US" i="1" smtClean="0">
                        <a:solidFill>
                          <a:schemeClr val="accent6">
                            <a:lumMod val="75000"/>
                          </a:schemeClr>
                        </a:solidFill>
                        <a:latin typeface="Cambria Math" panose="02040503050406030204" pitchFamily="18" charset="0"/>
                      </a:rPr>
                      <m:t>𝑘</m:t>
                    </m:r>
                  </m:oMath>
                </a14:m>
                <a:r>
                  <a:rPr lang="en-US" dirty="0"/>
                  <a:t> and/or more than 2 classes) </a:t>
                </a:r>
              </a:p>
              <a:p>
                <a:pPr lvl="1">
                  <a:lnSpc>
                    <a:spcPct val="130000"/>
                  </a:lnSpc>
                </a:pPr>
                <a:r>
                  <a:rPr lang="en-US" sz="2400" dirty="0"/>
                  <a:t>Weight votes by distance</a:t>
                </a:r>
              </a:p>
              <a:p>
                <a:pPr lvl="1">
                  <a:lnSpc>
                    <a:spcPct val="130000"/>
                  </a:lnSpc>
                </a:pPr>
                <a:r>
                  <a:rPr lang="en-US" sz="2400" dirty="0"/>
                  <a:t>Remove furthest neighbor</a:t>
                </a:r>
              </a:p>
              <a:p>
                <a:pPr lvl="1">
                  <a:lnSpc>
                    <a:spcPct val="130000"/>
                  </a:lnSpc>
                </a:pPr>
                <a:r>
                  <a:rPr lang="en-US" sz="2400" dirty="0"/>
                  <a:t>Add next closest neighbor</a:t>
                </a:r>
              </a:p>
              <a:p>
                <a:pPr lvl="1">
                  <a:lnSpc>
                    <a:spcPct val="130000"/>
                  </a:lnSpc>
                </a:pPr>
                <a:r>
                  <a:rPr lang="en-US" sz="2400" dirty="0"/>
                  <a:t>Use a different distance metric</a:t>
                </a:r>
              </a:p>
            </p:txBody>
          </p:sp>
        </mc:Choice>
        <mc:Fallback xmlns="">
          <p:sp>
            <p:nvSpPr>
              <p:cNvPr id="3" name="Content Placeholder 2">
                <a:extLst>
                  <a:ext uri="{FF2B5EF4-FFF2-40B4-BE49-F238E27FC236}">
                    <a16:creationId xmlns:a16="http://schemas.microsoft.com/office/drawing/2014/main" id="{F6F80F71-7C49-6E46-8C54-D73EAD422853}"/>
                  </a:ext>
                </a:extLst>
              </p:cNvPr>
              <p:cNvSpPr>
                <a:spLocks noGrp="1" noRot="1" noChangeAspect="1" noMove="1" noResize="1" noEditPoints="1" noAdjustHandles="1" noChangeArrowheads="1" noChangeShapeType="1" noTextEdit="1"/>
              </p:cNvSpPr>
              <p:nvPr>
                <p:ph idx="1"/>
              </p:nvPr>
            </p:nvSpPr>
            <p:spPr>
              <a:xfrm>
                <a:off x="3869267" y="864108"/>
                <a:ext cx="7685423" cy="5120640"/>
              </a:xfrm>
              <a:blipFill>
                <a:blip r:embed="rId4"/>
                <a:stretch>
                  <a:fillRect l="-825" r="-1815"/>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082B34F7-DE48-6043-8BF2-501991479B39}"/>
              </a:ext>
            </a:extLst>
          </p:cNvPr>
          <p:cNvSpPr>
            <a:spLocks noGrp="1"/>
          </p:cNvSpPr>
          <p:nvPr>
            <p:ph type="sldNum" sz="quarter" idx="12"/>
          </p:nvPr>
        </p:nvSpPr>
        <p:spPr/>
        <p:txBody>
          <a:bodyPr/>
          <a:lstStyle/>
          <a:p>
            <a:fld id="{4FAB73BC-B049-4115-A692-8D63A059BFB8}" type="slidenum">
              <a:rPr lang="en-US" smtClean="0"/>
              <a:pPr/>
              <a:t>19</a:t>
            </a:fld>
            <a:endParaRPr lang="en-US"/>
          </a:p>
        </p:txBody>
      </p:sp>
    </p:spTree>
    <p:extLst>
      <p:ext uri="{BB962C8B-B14F-4D97-AF65-F5344CB8AC3E}">
        <p14:creationId xmlns:p14="http://schemas.microsoft.com/office/powerpoint/2010/main" val="4114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mc:AlternateContent xmlns:mc="http://schemas.openxmlformats.org/markup-compatibility/2006" xmlns:a14="http://schemas.microsoft.com/office/drawing/2010/main">
        <mc:Choice Requires="a14">
          <p:sp>
            <p:nvSpPr>
              <p:cNvPr id="6" name="Title 5"/>
              <p:cNvSpPr>
                <a:spLocks noGrp="1"/>
              </p:cNvSpPr>
              <p:nvPr>
                <p:ph type="title"/>
              </p:nvPr>
            </p:nvSpPr>
            <p:spPr>
              <a:xfrm>
                <a:off x="1069849" y="1298448"/>
                <a:ext cx="3258688" cy="3255264"/>
              </a:xfrm>
            </p:spPr>
            <p:txBody>
              <a:bodyPr vert="horz" lIns="91440" tIns="45720" rIns="91440" bIns="45720" rtlCol="0" anchor="b">
                <a:normAutofit/>
              </a:bodyPr>
              <a:lstStyle/>
              <a:p>
                <a14:m>
                  <m:oMath xmlns:m="http://schemas.openxmlformats.org/officeDocument/2006/math">
                    <m:r>
                      <a:rPr lang="en-US" sz="6000" i="1">
                        <a:latin typeface="Cambria Math" panose="02040503050406030204" pitchFamily="18" charset="0"/>
                      </a:rPr>
                      <m:t>𝑘</m:t>
                    </m:r>
                  </m:oMath>
                </a14:m>
                <a:r>
                  <a:rPr lang="en-US" sz="6000" spc="-100"/>
                  <a:t>NN on Fisher Iris Data</a:t>
                </a:r>
              </a:p>
            </p:txBody>
          </p:sp>
        </mc:Choice>
        <mc:Fallback xmlns="">
          <p:sp>
            <p:nvSpPr>
              <p:cNvPr id="6" name="Title 5"/>
              <p:cNvSpPr>
                <a:spLocks noGrp="1" noRot="1" noChangeAspect="1" noMove="1" noResize="1" noEditPoints="1" noAdjustHandles="1" noChangeArrowheads="1" noChangeShapeType="1" noTextEdit="1"/>
              </p:cNvSpPr>
              <p:nvPr>
                <p:ph type="title"/>
              </p:nvPr>
            </p:nvSpPr>
            <p:spPr>
              <a:xfrm>
                <a:off x="1069849" y="1298448"/>
                <a:ext cx="3258688" cy="3255264"/>
              </a:xfrm>
              <a:blipFill>
                <a:blip r:embed="rId2"/>
                <a:stretch>
                  <a:fillRect l="-11284" r="-8949" b="-12840"/>
                </a:stretch>
              </a:blipFill>
            </p:spPr>
            <p:txBody>
              <a:bodyPr/>
              <a:lstStyle/>
              <a:p>
                <a:r>
                  <a:rPr lang="en-US">
                    <a:noFill/>
                  </a:rPr>
                  <a:t> </a:t>
                </a:r>
              </a:p>
            </p:txBody>
          </p:sp>
        </mc:Fallback>
      </mc:AlternateContent>
      <p:pic>
        <p:nvPicPr>
          <p:cNvPr id="3" name="Content Placeholder 2"/>
          <p:cNvPicPr>
            <a:picLocks noGrp="1" noChangeAspect="1"/>
          </p:cNvPicPr>
          <p:nvPr>
            <p:ph idx="1"/>
          </p:nvPr>
        </p:nvPicPr>
        <p:blipFill>
          <a:blip r:embed="rId3"/>
          <a:srcRect/>
          <a:stretch/>
        </p:blipFill>
        <p:spPr>
          <a:xfrm>
            <a:off x="5120640" y="1037197"/>
            <a:ext cx="6367270" cy="4775453"/>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20</a:t>
            </a:fld>
            <a:endParaRPr lang="en-US" b="1" kern="1200">
              <a:solidFill>
                <a:schemeClr val="accent1"/>
              </a:solidFill>
            </a:endParaRPr>
          </a:p>
        </p:txBody>
      </p:sp>
      <p:sp>
        <p:nvSpPr>
          <p:cNvPr id="12" name="Date Placeholder 3">
            <a:extLst>
              <a:ext uri="{FF2B5EF4-FFF2-40B4-BE49-F238E27FC236}">
                <a16:creationId xmlns:a16="http://schemas.microsoft.com/office/drawing/2014/main" id="{05307215-CBAB-5D42-9EEA-9E6C1A42E834}"/>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p:spTree>
    <p:extLst>
      <p:ext uri="{BB962C8B-B14F-4D97-AF65-F5344CB8AC3E}">
        <p14:creationId xmlns:p14="http://schemas.microsoft.com/office/powerpoint/2010/main" val="945526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2"/>
          <a:srcRect/>
          <a:stretch/>
        </p:blipFill>
        <p:spPr>
          <a:xfrm>
            <a:off x="5120640" y="1037197"/>
            <a:ext cx="6367270" cy="4775453"/>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21</a:t>
            </a:fld>
            <a:endParaRPr lang="en-US" b="1" kern="1200">
              <a:solidFill>
                <a:schemeClr val="accent1"/>
              </a:solidFill>
            </a:endParaRPr>
          </a:p>
        </p:txBody>
      </p:sp>
      <p:sp>
        <p:nvSpPr>
          <p:cNvPr id="12" name="Date Placeholder 3">
            <a:extLst>
              <a:ext uri="{FF2B5EF4-FFF2-40B4-BE49-F238E27FC236}">
                <a16:creationId xmlns:a16="http://schemas.microsoft.com/office/drawing/2014/main" id="{9A5D33FC-3236-7B4D-B651-155F8933CCAC}"/>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20" name="Title 5">
                <a:extLst>
                  <a:ext uri="{FF2B5EF4-FFF2-40B4-BE49-F238E27FC236}">
                    <a16:creationId xmlns:a16="http://schemas.microsoft.com/office/drawing/2014/main" id="{64ACA665-A973-80FA-3889-979146FD1602}"/>
                  </a:ext>
                </a:extLst>
              </p:cNvPr>
              <p:cNvSpPr>
                <a:spLocks noGrp="1"/>
              </p:cNvSpPr>
              <p:nvPr>
                <p:ph type="title"/>
              </p:nvPr>
            </p:nvSpPr>
            <p:spPr>
              <a:xfrm>
                <a:off x="1069849" y="1298448"/>
                <a:ext cx="3258688" cy="3255264"/>
              </a:xfrm>
            </p:spPr>
            <p:txBody>
              <a:bodyPr vert="horz" lIns="91440" tIns="45720" rIns="91440" bIns="45720" rtlCol="0" anchor="b">
                <a:normAutofit/>
              </a:bodyPr>
              <a:lstStyle/>
              <a:p>
                <a14:m>
                  <m:oMath xmlns:m="http://schemas.openxmlformats.org/officeDocument/2006/math">
                    <m:r>
                      <a:rPr lang="en-US" sz="6000" i="1">
                        <a:latin typeface="Cambria Math" panose="02040503050406030204" pitchFamily="18" charset="0"/>
                      </a:rPr>
                      <m:t>𝑘</m:t>
                    </m:r>
                  </m:oMath>
                </a14:m>
                <a:r>
                  <a:rPr lang="en-US" sz="6000" spc="-100"/>
                  <a:t>NN on Fisher Iris Data</a:t>
                </a:r>
              </a:p>
            </p:txBody>
          </p:sp>
        </mc:Choice>
        <mc:Fallback xmlns="">
          <p:sp>
            <p:nvSpPr>
              <p:cNvPr id="20" name="Title 5">
                <a:extLst>
                  <a:ext uri="{FF2B5EF4-FFF2-40B4-BE49-F238E27FC236}">
                    <a16:creationId xmlns:a16="http://schemas.microsoft.com/office/drawing/2014/main" id="{64ACA665-A973-80FA-3889-979146FD1602}"/>
                  </a:ext>
                </a:extLst>
              </p:cNvPr>
              <p:cNvSpPr>
                <a:spLocks noGrp="1" noRot="1" noChangeAspect="1" noMove="1" noResize="1" noEditPoints="1" noAdjustHandles="1" noChangeArrowheads="1" noChangeShapeType="1" noTextEdit="1"/>
              </p:cNvSpPr>
              <p:nvPr>
                <p:ph type="title"/>
              </p:nvPr>
            </p:nvSpPr>
            <p:spPr>
              <a:xfrm>
                <a:off x="1069849" y="1298448"/>
                <a:ext cx="3258688" cy="3255264"/>
              </a:xfrm>
              <a:blipFill>
                <a:blip r:embed="rId3"/>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225893312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2"/>
          <a:srcRect/>
          <a:stretch/>
        </p:blipFill>
        <p:spPr>
          <a:xfrm>
            <a:off x="5120640" y="1037197"/>
            <a:ext cx="6367270" cy="4775452"/>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22</a:t>
            </a:fld>
            <a:endParaRPr lang="en-US" b="1" kern="1200">
              <a:solidFill>
                <a:schemeClr val="accent1"/>
              </a:solidFill>
            </a:endParaRPr>
          </a:p>
        </p:txBody>
      </p:sp>
      <p:sp>
        <p:nvSpPr>
          <p:cNvPr id="12" name="Date Placeholder 3">
            <a:extLst>
              <a:ext uri="{FF2B5EF4-FFF2-40B4-BE49-F238E27FC236}">
                <a16:creationId xmlns:a16="http://schemas.microsoft.com/office/drawing/2014/main" id="{05307215-CBAB-5D42-9EEA-9E6C1A42E834}"/>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10" name="Title 5">
                <a:extLst>
                  <a:ext uri="{FF2B5EF4-FFF2-40B4-BE49-F238E27FC236}">
                    <a16:creationId xmlns:a16="http://schemas.microsoft.com/office/drawing/2014/main" id="{E58CBB20-3784-74DE-FB20-0B70ED410F2A}"/>
                  </a:ext>
                </a:extLst>
              </p:cNvPr>
              <p:cNvSpPr txBox="1">
                <a:spLocks/>
              </p:cNvSpPr>
              <p:nvPr/>
            </p:nvSpPr>
            <p:spPr>
              <a:xfrm>
                <a:off x="1069849" y="1298448"/>
                <a:ext cx="3258688" cy="32552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14:m>
                  <m:oMath xmlns:m="http://schemas.openxmlformats.org/officeDocument/2006/math">
                    <m:r>
                      <a:rPr lang="en-US" sz="6000" i="1" smtClean="0">
                        <a:latin typeface="Cambria Math" panose="02040503050406030204" pitchFamily="18" charset="0"/>
                      </a:rPr>
                      <m:t>𝑘</m:t>
                    </m:r>
                  </m:oMath>
                </a14:m>
                <a:r>
                  <a:rPr lang="en-US" sz="6000" spc="-100"/>
                  <a:t>NN on Fisher Iris Data</a:t>
                </a:r>
              </a:p>
            </p:txBody>
          </p:sp>
        </mc:Choice>
        <mc:Fallback xmlns="">
          <p:sp>
            <p:nvSpPr>
              <p:cNvPr id="10" name="Title 5">
                <a:extLst>
                  <a:ext uri="{FF2B5EF4-FFF2-40B4-BE49-F238E27FC236}">
                    <a16:creationId xmlns:a16="http://schemas.microsoft.com/office/drawing/2014/main" id="{E58CBB20-3784-74DE-FB20-0B70ED410F2A}"/>
                  </a:ext>
                </a:extLst>
              </p:cNvPr>
              <p:cNvSpPr txBox="1">
                <a:spLocks noRot="1" noChangeAspect="1" noMove="1" noResize="1" noEditPoints="1" noAdjustHandles="1" noChangeArrowheads="1" noChangeShapeType="1" noTextEdit="1"/>
              </p:cNvSpPr>
              <p:nvPr/>
            </p:nvSpPr>
            <p:spPr>
              <a:xfrm>
                <a:off x="1069849" y="1298448"/>
                <a:ext cx="3258688" cy="3255264"/>
              </a:xfrm>
              <a:prstGeom prst="rect">
                <a:avLst/>
              </a:prstGeom>
              <a:blipFill>
                <a:blip r:embed="rId3"/>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35576230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2"/>
          <a:srcRect/>
          <a:stretch/>
        </p:blipFill>
        <p:spPr>
          <a:xfrm>
            <a:off x="5120640" y="1037197"/>
            <a:ext cx="6367270" cy="4775452"/>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23</a:t>
            </a:fld>
            <a:endParaRPr lang="en-US" b="1" kern="1200">
              <a:solidFill>
                <a:schemeClr val="accent1"/>
              </a:solidFill>
            </a:endParaRPr>
          </a:p>
        </p:txBody>
      </p:sp>
      <p:sp>
        <p:nvSpPr>
          <p:cNvPr id="12" name="Date Placeholder 3">
            <a:extLst>
              <a:ext uri="{FF2B5EF4-FFF2-40B4-BE49-F238E27FC236}">
                <a16:creationId xmlns:a16="http://schemas.microsoft.com/office/drawing/2014/main" id="{9A5D33FC-3236-7B4D-B651-155F8933CCAC}"/>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9" name="Title 5">
                <a:extLst>
                  <a:ext uri="{FF2B5EF4-FFF2-40B4-BE49-F238E27FC236}">
                    <a16:creationId xmlns:a16="http://schemas.microsoft.com/office/drawing/2014/main" id="{876FBA6B-62E4-3FAB-29AF-8148633E7490}"/>
                  </a:ext>
                </a:extLst>
              </p:cNvPr>
              <p:cNvSpPr txBox="1">
                <a:spLocks/>
              </p:cNvSpPr>
              <p:nvPr/>
            </p:nvSpPr>
            <p:spPr>
              <a:xfrm>
                <a:off x="1069849" y="1298448"/>
                <a:ext cx="3258688" cy="32552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14:m>
                  <m:oMath xmlns:m="http://schemas.openxmlformats.org/officeDocument/2006/math">
                    <m:r>
                      <a:rPr lang="en-US" sz="6000" i="1" smtClean="0">
                        <a:latin typeface="Cambria Math" panose="02040503050406030204" pitchFamily="18" charset="0"/>
                      </a:rPr>
                      <m:t>𝑘</m:t>
                    </m:r>
                  </m:oMath>
                </a14:m>
                <a:r>
                  <a:rPr lang="en-US" sz="6000" spc="-100"/>
                  <a:t>NN on Fisher Iris Data</a:t>
                </a:r>
              </a:p>
            </p:txBody>
          </p:sp>
        </mc:Choice>
        <mc:Fallback xmlns="">
          <p:sp>
            <p:nvSpPr>
              <p:cNvPr id="9" name="Title 5">
                <a:extLst>
                  <a:ext uri="{FF2B5EF4-FFF2-40B4-BE49-F238E27FC236}">
                    <a16:creationId xmlns:a16="http://schemas.microsoft.com/office/drawing/2014/main" id="{876FBA6B-62E4-3FAB-29AF-8148633E7490}"/>
                  </a:ext>
                </a:extLst>
              </p:cNvPr>
              <p:cNvSpPr txBox="1">
                <a:spLocks noRot="1" noChangeAspect="1" noMove="1" noResize="1" noEditPoints="1" noAdjustHandles="1" noChangeArrowheads="1" noChangeShapeType="1" noTextEdit="1"/>
              </p:cNvSpPr>
              <p:nvPr/>
            </p:nvSpPr>
            <p:spPr>
              <a:xfrm>
                <a:off x="1069849" y="1298448"/>
                <a:ext cx="3258688" cy="3255264"/>
              </a:xfrm>
              <a:prstGeom prst="rect">
                <a:avLst/>
              </a:prstGeom>
              <a:blipFill>
                <a:blip r:embed="rId3"/>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5689758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2"/>
          <a:srcRect/>
          <a:stretch/>
        </p:blipFill>
        <p:spPr>
          <a:xfrm>
            <a:off x="5120640" y="1037197"/>
            <a:ext cx="6367270" cy="4775452"/>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24</a:t>
            </a:fld>
            <a:endParaRPr lang="en-US" b="1" kern="1200">
              <a:solidFill>
                <a:schemeClr val="accent1"/>
              </a:solidFill>
            </a:endParaRPr>
          </a:p>
        </p:txBody>
      </p:sp>
      <p:sp>
        <p:nvSpPr>
          <p:cNvPr id="12" name="Date Placeholder 3">
            <a:extLst>
              <a:ext uri="{FF2B5EF4-FFF2-40B4-BE49-F238E27FC236}">
                <a16:creationId xmlns:a16="http://schemas.microsoft.com/office/drawing/2014/main" id="{05307215-CBAB-5D42-9EEA-9E6C1A42E834}"/>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8" name="Title 5">
                <a:extLst>
                  <a:ext uri="{FF2B5EF4-FFF2-40B4-BE49-F238E27FC236}">
                    <a16:creationId xmlns:a16="http://schemas.microsoft.com/office/drawing/2014/main" id="{78D23381-E15A-4A37-688B-1B7FA1302883}"/>
                  </a:ext>
                </a:extLst>
              </p:cNvPr>
              <p:cNvSpPr>
                <a:spLocks noGrp="1"/>
              </p:cNvSpPr>
              <p:nvPr>
                <p:ph type="title"/>
              </p:nvPr>
            </p:nvSpPr>
            <p:spPr>
              <a:xfrm>
                <a:off x="1069849" y="1298448"/>
                <a:ext cx="3258688" cy="3255264"/>
              </a:xfrm>
            </p:spPr>
            <p:txBody>
              <a:bodyPr vert="horz" lIns="91440" tIns="45720" rIns="91440" bIns="45720" rtlCol="0" anchor="b">
                <a:normAutofit/>
              </a:bodyPr>
              <a:lstStyle/>
              <a:p>
                <a14:m>
                  <m:oMath xmlns:m="http://schemas.openxmlformats.org/officeDocument/2006/math">
                    <m:r>
                      <a:rPr lang="en-US" sz="6000" i="1">
                        <a:latin typeface="Cambria Math" panose="02040503050406030204" pitchFamily="18" charset="0"/>
                      </a:rPr>
                      <m:t>𝑘</m:t>
                    </m:r>
                  </m:oMath>
                </a14:m>
                <a:r>
                  <a:rPr lang="en-US" sz="6000" spc="-100"/>
                  <a:t>NN on Fisher Iris Data</a:t>
                </a:r>
              </a:p>
            </p:txBody>
          </p:sp>
        </mc:Choice>
        <mc:Fallback xmlns="">
          <p:sp>
            <p:nvSpPr>
              <p:cNvPr id="8" name="Title 5">
                <a:extLst>
                  <a:ext uri="{FF2B5EF4-FFF2-40B4-BE49-F238E27FC236}">
                    <a16:creationId xmlns:a16="http://schemas.microsoft.com/office/drawing/2014/main" id="{78D23381-E15A-4A37-688B-1B7FA1302883}"/>
                  </a:ext>
                </a:extLst>
              </p:cNvPr>
              <p:cNvSpPr>
                <a:spLocks noGrp="1" noRot="1" noChangeAspect="1" noMove="1" noResize="1" noEditPoints="1" noAdjustHandles="1" noChangeArrowheads="1" noChangeShapeType="1" noTextEdit="1"/>
              </p:cNvSpPr>
              <p:nvPr>
                <p:ph type="title"/>
              </p:nvPr>
            </p:nvSpPr>
            <p:spPr>
              <a:xfrm>
                <a:off x="1069849" y="1298448"/>
                <a:ext cx="3258688" cy="3255264"/>
              </a:xfrm>
              <a:blipFill>
                <a:blip r:embed="rId3"/>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76988347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2"/>
          <a:srcRect/>
          <a:stretch/>
        </p:blipFill>
        <p:spPr>
          <a:xfrm>
            <a:off x="5120640" y="1037197"/>
            <a:ext cx="6367270" cy="4775452"/>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25</a:t>
            </a:fld>
            <a:endParaRPr lang="en-US" b="1" kern="1200">
              <a:solidFill>
                <a:schemeClr val="accent1"/>
              </a:solidFill>
            </a:endParaRPr>
          </a:p>
        </p:txBody>
      </p:sp>
      <p:sp>
        <p:nvSpPr>
          <p:cNvPr id="12" name="Date Placeholder 3">
            <a:extLst>
              <a:ext uri="{FF2B5EF4-FFF2-40B4-BE49-F238E27FC236}">
                <a16:creationId xmlns:a16="http://schemas.microsoft.com/office/drawing/2014/main" id="{9A5D33FC-3236-7B4D-B651-155F8933CCAC}"/>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7" name="Title 5">
                <a:extLst>
                  <a:ext uri="{FF2B5EF4-FFF2-40B4-BE49-F238E27FC236}">
                    <a16:creationId xmlns:a16="http://schemas.microsoft.com/office/drawing/2014/main" id="{06E266D1-F23C-D1D5-6775-0D20B30B5644}"/>
                  </a:ext>
                </a:extLst>
              </p:cNvPr>
              <p:cNvSpPr>
                <a:spLocks noGrp="1"/>
              </p:cNvSpPr>
              <p:nvPr>
                <p:ph type="title"/>
              </p:nvPr>
            </p:nvSpPr>
            <p:spPr>
              <a:xfrm>
                <a:off x="1069849" y="1298448"/>
                <a:ext cx="3258688" cy="3255264"/>
              </a:xfrm>
            </p:spPr>
            <p:txBody>
              <a:bodyPr vert="horz" lIns="91440" tIns="45720" rIns="91440" bIns="45720" rtlCol="0" anchor="b">
                <a:normAutofit/>
              </a:bodyPr>
              <a:lstStyle/>
              <a:p>
                <a14:m>
                  <m:oMath xmlns:m="http://schemas.openxmlformats.org/officeDocument/2006/math">
                    <m:r>
                      <a:rPr lang="en-US" sz="6000" i="1">
                        <a:latin typeface="Cambria Math" panose="02040503050406030204" pitchFamily="18" charset="0"/>
                      </a:rPr>
                      <m:t>𝑘</m:t>
                    </m:r>
                  </m:oMath>
                </a14:m>
                <a:r>
                  <a:rPr lang="en-US" sz="6000" spc="-100"/>
                  <a:t>NN on Fisher Iris Data</a:t>
                </a:r>
              </a:p>
            </p:txBody>
          </p:sp>
        </mc:Choice>
        <mc:Fallback xmlns="">
          <p:sp>
            <p:nvSpPr>
              <p:cNvPr id="7" name="Title 5">
                <a:extLst>
                  <a:ext uri="{FF2B5EF4-FFF2-40B4-BE49-F238E27FC236}">
                    <a16:creationId xmlns:a16="http://schemas.microsoft.com/office/drawing/2014/main" id="{06E266D1-F23C-D1D5-6775-0D20B30B5644}"/>
                  </a:ext>
                </a:extLst>
              </p:cNvPr>
              <p:cNvSpPr>
                <a:spLocks noGrp="1" noRot="1" noChangeAspect="1" noMove="1" noResize="1" noEditPoints="1" noAdjustHandles="1" noChangeArrowheads="1" noChangeShapeType="1" noTextEdit="1"/>
              </p:cNvSpPr>
              <p:nvPr>
                <p:ph type="title"/>
              </p:nvPr>
            </p:nvSpPr>
            <p:spPr>
              <a:xfrm>
                <a:off x="1069849" y="1298448"/>
                <a:ext cx="3258688" cy="3255264"/>
              </a:xfrm>
              <a:blipFill>
                <a:blip r:embed="rId3"/>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171797912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2"/>
          <a:srcRect/>
          <a:stretch/>
        </p:blipFill>
        <p:spPr>
          <a:xfrm>
            <a:off x="5120640" y="1037197"/>
            <a:ext cx="6367269" cy="4775452"/>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26</a:t>
            </a:fld>
            <a:endParaRPr lang="en-US" b="1" kern="1200">
              <a:solidFill>
                <a:schemeClr val="accent1"/>
              </a:solidFill>
            </a:endParaRPr>
          </a:p>
        </p:txBody>
      </p:sp>
      <p:sp>
        <p:nvSpPr>
          <p:cNvPr id="12" name="Date Placeholder 3">
            <a:extLst>
              <a:ext uri="{FF2B5EF4-FFF2-40B4-BE49-F238E27FC236}">
                <a16:creationId xmlns:a16="http://schemas.microsoft.com/office/drawing/2014/main" id="{9A5D33FC-3236-7B4D-B651-155F8933CCAC}"/>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7" name="Title 5">
                <a:extLst>
                  <a:ext uri="{FF2B5EF4-FFF2-40B4-BE49-F238E27FC236}">
                    <a16:creationId xmlns:a16="http://schemas.microsoft.com/office/drawing/2014/main" id="{33EA31E6-DDFD-0F4F-04FE-B461C66B96B6}"/>
                  </a:ext>
                </a:extLst>
              </p:cNvPr>
              <p:cNvSpPr>
                <a:spLocks noGrp="1"/>
              </p:cNvSpPr>
              <p:nvPr>
                <p:ph type="title"/>
              </p:nvPr>
            </p:nvSpPr>
            <p:spPr>
              <a:xfrm>
                <a:off x="1069849" y="1298448"/>
                <a:ext cx="3258688" cy="3255264"/>
              </a:xfrm>
            </p:spPr>
            <p:txBody>
              <a:bodyPr vert="horz" lIns="91440" tIns="45720" rIns="91440" bIns="45720" rtlCol="0" anchor="b">
                <a:normAutofit/>
              </a:bodyPr>
              <a:lstStyle/>
              <a:p>
                <a14:m>
                  <m:oMath xmlns:m="http://schemas.openxmlformats.org/officeDocument/2006/math">
                    <m:r>
                      <a:rPr lang="en-US" sz="6000" i="1">
                        <a:latin typeface="Cambria Math" panose="02040503050406030204" pitchFamily="18" charset="0"/>
                      </a:rPr>
                      <m:t>𝑘</m:t>
                    </m:r>
                  </m:oMath>
                </a14:m>
                <a:r>
                  <a:rPr lang="en-US" sz="6000" spc="-100"/>
                  <a:t>NN on Fisher Iris Data</a:t>
                </a:r>
              </a:p>
            </p:txBody>
          </p:sp>
        </mc:Choice>
        <mc:Fallback xmlns="">
          <p:sp>
            <p:nvSpPr>
              <p:cNvPr id="7" name="Title 5">
                <a:extLst>
                  <a:ext uri="{FF2B5EF4-FFF2-40B4-BE49-F238E27FC236}">
                    <a16:creationId xmlns:a16="http://schemas.microsoft.com/office/drawing/2014/main" id="{33EA31E6-DDFD-0F4F-04FE-B461C66B96B6}"/>
                  </a:ext>
                </a:extLst>
              </p:cNvPr>
              <p:cNvSpPr>
                <a:spLocks noGrp="1" noRot="1" noChangeAspect="1" noMove="1" noResize="1" noEditPoints="1" noAdjustHandles="1" noChangeArrowheads="1" noChangeShapeType="1" noTextEdit="1"/>
              </p:cNvSpPr>
              <p:nvPr>
                <p:ph type="title"/>
              </p:nvPr>
            </p:nvSpPr>
            <p:spPr>
              <a:xfrm>
                <a:off x="1069849" y="1298448"/>
                <a:ext cx="3258688" cy="3255264"/>
              </a:xfrm>
              <a:blipFill>
                <a:blip r:embed="rId3"/>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150280645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2"/>
          <a:srcRect/>
          <a:stretch/>
        </p:blipFill>
        <p:spPr>
          <a:xfrm>
            <a:off x="5120640" y="1037197"/>
            <a:ext cx="6367269" cy="4775452"/>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27</a:t>
            </a:fld>
            <a:endParaRPr lang="en-US" b="1" kern="1200">
              <a:solidFill>
                <a:schemeClr val="accent1"/>
              </a:solidFill>
            </a:endParaRPr>
          </a:p>
        </p:txBody>
      </p:sp>
      <p:sp>
        <p:nvSpPr>
          <p:cNvPr id="12" name="Date Placeholder 3">
            <a:extLst>
              <a:ext uri="{FF2B5EF4-FFF2-40B4-BE49-F238E27FC236}">
                <a16:creationId xmlns:a16="http://schemas.microsoft.com/office/drawing/2014/main" id="{05307215-CBAB-5D42-9EEA-9E6C1A42E834}"/>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8" name="Title 5">
                <a:extLst>
                  <a:ext uri="{FF2B5EF4-FFF2-40B4-BE49-F238E27FC236}">
                    <a16:creationId xmlns:a16="http://schemas.microsoft.com/office/drawing/2014/main" id="{F6DC2388-4313-3BB4-60A2-3EE7B71D196C}"/>
                  </a:ext>
                </a:extLst>
              </p:cNvPr>
              <p:cNvSpPr>
                <a:spLocks noGrp="1"/>
              </p:cNvSpPr>
              <p:nvPr>
                <p:ph type="title"/>
              </p:nvPr>
            </p:nvSpPr>
            <p:spPr>
              <a:xfrm>
                <a:off x="1069849" y="1298448"/>
                <a:ext cx="3258688" cy="3255264"/>
              </a:xfrm>
            </p:spPr>
            <p:txBody>
              <a:bodyPr vert="horz" lIns="91440" tIns="45720" rIns="91440" bIns="45720" rtlCol="0" anchor="b">
                <a:normAutofit/>
              </a:bodyPr>
              <a:lstStyle/>
              <a:p>
                <a14:m>
                  <m:oMath xmlns:m="http://schemas.openxmlformats.org/officeDocument/2006/math">
                    <m:r>
                      <a:rPr lang="en-US" sz="6000" i="1">
                        <a:latin typeface="Cambria Math" panose="02040503050406030204" pitchFamily="18" charset="0"/>
                      </a:rPr>
                      <m:t>𝑘</m:t>
                    </m:r>
                  </m:oMath>
                </a14:m>
                <a:r>
                  <a:rPr lang="en-US" sz="6000" spc="-100"/>
                  <a:t>NN on Fisher Iris Data</a:t>
                </a:r>
              </a:p>
            </p:txBody>
          </p:sp>
        </mc:Choice>
        <mc:Fallback xmlns="">
          <p:sp>
            <p:nvSpPr>
              <p:cNvPr id="8" name="Title 5">
                <a:extLst>
                  <a:ext uri="{FF2B5EF4-FFF2-40B4-BE49-F238E27FC236}">
                    <a16:creationId xmlns:a16="http://schemas.microsoft.com/office/drawing/2014/main" id="{F6DC2388-4313-3BB4-60A2-3EE7B71D196C}"/>
                  </a:ext>
                </a:extLst>
              </p:cNvPr>
              <p:cNvSpPr>
                <a:spLocks noGrp="1" noRot="1" noChangeAspect="1" noMove="1" noResize="1" noEditPoints="1" noAdjustHandles="1" noChangeArrowheads="1" noChangeShapeType="1" noTextEdit="1"/>
              </p:cNvSpPr>
              <p:nvPr>
                <p:ph type="title"/>
              </p:nvPr>
            </p:nvSpPr>
            <p:spPr>
              <a:xfrm>
                <a:off x="1069849" y="1298448"/>
                <a:ext cx="3258688" cy="3255264"/>
              </a:xfrm>
              <a:blipFill>
                <a:blip r:embed="rId3"/>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405100537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2"/>
          <a:srcRect/>
          <a:stretch/>
        </p:blipFill>
        <p:spPr>
          <a:xfrm>
            <a:off x="5120640" y="1037197"/>
            <a:ext cx="6367269" cy="4775452"/>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28</a:t>
            </a:fld>
            <a:endParaRPr lang="en-US" b="1" kern="1200">
              <a:solidFill>
                <a:schemeClr val="accent1"/>
              </a:solidFill>
            </a:endParaRPr>
          </a:p>
        </p:txBody>
      </p:sp>
      <p:sp>
        <p:nvSpPr>
          <p:cNvPr id="12" name="Date Placeholder 3">
            <a:extLst>
              <a:ext uri="{FF2B5EF4-FFF2-40B4-BE49-F238E27FC236}">
                <a16:creationId xmlns:a16="http://schemas.microsoft.com/office/drawing/2014/main" id="{9A5D33FC-3236-7B4D-B651-155F8933CCAC}"/>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7" name="Title 5">
                <a:extLst>
                  <a:ext uri="{FF2B5EF4-FFF2-40B4-BE49-F238E27FC236}">
                    <a16:creationId xmlns:a16="http://schemas.microsoft.com/office/drawing/2014/main" id="{0CB8FCB9-58AD-BE66-1C1C-DDA8935B7F55}"/>
                  </a:ext>
                </a:extLst>
              </p:cNvPr>
              <p:cNvSpPr>
                <a:spLocks noGrp="1"/>
              </p:cNvSpPr>
              <p:nvPr>
                <p:ph type="title"/>
              </p:nvPr>
            </p:nvSpPr>
            <p:spPr>
              <a:xfrm>
                <a:off x="1069849" y="1298448"/>
                <a:ext cx="3258688" cy="3255264"/>
              </a:xfrm>
            </p:spPr>
            <p:txBody>
              <a:bodyPr vert="horz" lIns="91440" tIns="45720" rIns="91440" bIns="45720" rtlCol="0" anchor="b">
                <a:normAutofit/>
              </a:bodyPr>
              <a:lstStyle/>
              <a:p>
                <a14:m>
                  <m:oMath xmlns:m="http://schemas.openxmlformats.org/officeDocument/2006/math">
                    <m:r>
                      <a:rPr lang="en-US" sz="6000" i="1">
                        <a:latin typeface="Cambria Math" panose="02040503050406030204" pitchFamily="18" charset="0"/>
                      </a:rPr>
                      <m:t>𝑘</m:t>
                    </m:r>
                  </m:oMath>
                </a14:m>
                <a:r>
                  <a:rPr lang="en-US" sz="6000" spc="-100"/>
                  <a:t>NN on Fisher Iris Data</a:t>
                </a:r>
              </a:p>
            </p:txBody>
          </p:sp>
        </mc:Choice>
        <mc:Fallback xmlns="">
          <p:sp>
            <p:nvSpPr>
              <p:cNvPr id="7" name="Title 5">
                <a:extLst>
                  <a:ext uri="{FF2B5EF4-FFF2-40B4-BE49-F238E27FC236}">
                    <a16:creationId xmlns:a16="http://schemas.microsoft.com/office/drawing/2014/main" id="{0CB8FCB9-58AD-BE66-1C1C-DDA8935B7F55}"/>
                  </a:ext>
                </a:extLst>
              </p:cNvPr>
              <p:cNvSpPr>
                <a:spLocks noGrp="1" noRot="1" noChangeAspect="1" noMove="1" noResize="1" noEditPoints="1" noAdjustHandles="1" noChangeArrowheads="1" noChangeShapeType="1" noTextEdit="1"/>
              </p:cNvSpPr>
              <p:nvPr>
                <p:ph type="title"/>
              </p:nvPr>
            </p:nvSpPr>
            <p:spPr>
              <a:xfrm>
                <a:off x="1069849" y="1298448"/>
                <a:ext cx="3258688" cy="3255264"/>
              </a:xfrm>
              <a:blipFill>
                <a:blip r:embed="rId3"/>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20204124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3"/>
          <a:srcRect/>
          <a:stretch/>
        </p:blipFill>
        <p:spPr>
          <a:xfrm>
            <a:off x="5120640" y="1037197"/>
            <a:ext cx="6367269" cy="4775451"/>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29</a:t>
            </a:fld>
            <a:endParaRPr lang="en-US" b="1" kern="1200">
              <a:solidFill>
                <a:schemeClr val="accent1"/>
              </a:solidFill>
            </a:endParaRPr>
          </a:p>
        </p:txBody>
      </p:sp>
      <p:sp>
        <p:nvSpPr>
          <p:cNvPr id="12" name="Date Placeholder 3">
            <a:extLst>
              <a:ext uri="{FF2B5EF4-FFF2-40B4-BE49-F238E27FC236}">
                <a16:creationId xmlns:a16="http://schemas.microsoft.com/office/drawing/2014/main" id="{9A5D33FC-3236-7B4D-B651-155F8933CCAC}"/>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7" name="Title 5">
                <a:extLst>
                  <a:ext uri="{FF2B5EF4-FFF2-40B4-BE49-F238E27FC236}">
                    <a16:creationId xmlns:a16="http://schemas.microsoft.com/office/drawing/2014/main" id="{F760DAED-692D-9E88-81C4-2B61ABBD00AD}"/>
                  </a:ext>
                </a:extLst>
              </p:cNvPr>
              <p:cNvSpPr>
                <a:spLocks noGrp="1"/>
              </p:cNvSpPr>
              <p:nvPr>
                <p:ph type="title"/>
              </p:nvPr>
            </p:nvSpPr>
            <p:spPr>
              <a:xfrm>
                <a:off x="1069849" y="1298448"/>
                <a:ext cx="3258688" cy="3255264"/>
              </a:xfrm>
            </p:spPr>
            <p:txBody>
              <a:bodyPr vert="horz" lIns="91440" tIns="45720" rIns="91440" bIns="45720" rtlCol="0" anchor="b">
                <a:normAutofit/>
              </a:bodyPr>
              <a:lstStyle/>
              <a:p>
                <a14:m>
                  <m:oMath xmlns:m="http://schemas.openxmlformats.org/officeDocument/2006/math">
                    <m:r>
                      <a:rPr lang="en-US" sz="6000" i="1">
                        <a:latin typeface="Cambria Math" panose="02040503050406030204" pitchFamily="18" charset="0"/>
                      </a:rPr>
                      <m:t>𝑘</m:t>
                    </m:r>
                  </m:oMath>
                </a14:m>
                <a:r>
                  <a:rPr lang="en-US" sz="6000" spc="-100"/>
                  <a:t>NN on Fisher Iris Data</a:t>
                </a:r>
              </a:p>
            </p:txBody>
          </p:sp>
        </mc:Choice>
        <mc:Fallback xmlns="">
          <p:sp>
            <p:nvSpPr>
              <p:cNvPr id="7" name="Title 5">
                <a:extLst>
                  <a:ext uri="{FF2B5EF4-FFF2-40B4-BE49-F238E27FC236}">
                    <a16:creationId xmlns:a16="http://schemas.microsoft.com/office/drawing/2014/main" id="{F760DAED-692D-9E88-81C4-2B61ABBD00AD}"/>
                  </a:ext>
                </a:extLst>
              </p:cNvPr>
              <p:cNvSpPr>
                <a:spLocks noGrp="1" noRot="1" noChangeAspect="1" noMove="1" noResize="1" noEditPoints="1" noAdjustHandles="1" noChangeArrowheads="1" noChangeShapeType="1" noTextEdit="1"/>
              </p:cNvSpPr>
              <p:nvPr>
                <p:ph type="title"/>
              </p:nvPr>
            </p:nvSpPr>
            <p:spPr>
              <a:xfrm>
                <a:off x="1069849" y="1298448"/>
                <a:ext cx="3258688" cy="3255264"/>
              </a:xfrm>
              <a:blipFill>
                <a:blip r:embed="rId4"/>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360241712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p:cNvPicPr>
            <a:picLocks noGrp="1" noChangeAspect="1"/>
          </p:cNvPicPr>
          <p:nvPr>
            <p:ph idx="1"/>
          </p:nvPr>
        </p:nvPicPr>
        <p:blipFill>
          <a:blip r:embed="rId2"/>
          <a:srcRect/>
          <a:stretch/>
        </p:blipFill>
        <p:spPr>
          <a:xfrm>
            <a:off x="5120640" y="1037197"/>
            <a:ext cx="6367269" cy="4775451"/>
          </a:xfrm>
          <a:prstGeom prst="rect">
            <a:avLst/>
          </a:prstGeom>
        </p:spPr>
      </p:pic>
      <p:sp>
        <p:nvSpPr>
          <p:cNvPr id="19" name="Rectangle 18">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a:xfrm>
            <a:off x="10634135" y="6356350"/>
            <a:ext cx="1530927" cy="365125"/>
          </a:xfrm>
        </p:spPr>
        <p:txBody>
          <a:bodyPr vert="horz" lIns="91440" tIns="45720" rIns="91440" bIns="45720" rtlCol="0" anchor="ctr">
            <a:normAutofit/>
          </a:bodyPr>
          <a:lstStyle/>
          <a:p>
            <a:pPr>
              <a:spcAft>
                <a:spcPts val="600"/>
              </a:spcAft>
            </a:pPr>
            <a:fld id="{E5445004-F4FB-5345-992E-498B4C43F562}" type="slidenum">
              <a:rPr lang="en-US" b="1" kern="1200" dirty="0">
                <a:solidFill>
                  <a:schemeClr val="accent1"/>
                </a:solidFill>
              </a:rPr>
              <a:pPr>
                <a:spcAft>
                  <a:spcPts val="600"/>
                </a:spcAft>
              </a:pPr>
              <a:t>30</a:t>
            </a:fld>
            <a:endParaRPr lang="en-US" b="1" kern="1200">
              <a:solidFill>
                <a:schemeClr val="accent1"/>
              </a:solidFill>
            </a:endParaRPr>
          </a:p>
        </p:txBody>
      </p:sp>
      <p:sp>
        <p:nvSpPr>
          <p:cNvPr id="12" name="Date Placeholder 3">
            <a:extLst>
              <a:ext uri="{FF2B5EF4-FFF2-40B4-BE49-F238E27FC236}">
                <a16:creationId xmlns:a16="http://schemas.microsoft.com/office/drawing/2014/main" id="{9A5D33FC-3236-7B4D-B651-155F8933CCAC}"/>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7" name="Title 5">
                <a:extLst>
                  <a:ext uri="{FF2B5EF4-FFF2-40B4-BE49-F238E27FC236}">
                    <a16:creationId xmlns:a16="http://schemas.microsoft.com/office/drawing/2014/main" id="{9DABF3AD-4ADD-E7BE-86DD-1DFDD8CC3693}"/>
                  </a:ext>
                </a:extLst>
              </p:cNvPr>
              <p:cNvSpPr>
                <a:spLocks noGrp="1"/>
              </p:cNvSpPr>
              <p:nvPr>
                <p:ph type="title"/>
              </p:nvPr>
            </p:nvSpPr>
            <p:spPr>
              <a:xfrm>
                <a:off x="1069849" y="1298448"/>
                <a:ext cx="3258688" cy="3255264"/>
              </a:xfrm>
            </p:spPr>
            <p:txBody>
              <a:bodyPr vert="horz" lIns="91440" tIns="45720" rIns="91440" bIns="45720" rtlCol="0" anchor="b">
                <a:normAutofit/>
              </a:bodyPr>
              <a:lstStyle/>
              <a:p>
                <a14:m>
                  <m:oMath xmlns:m="http://schemas.openxmlformats.org/officeDocument/2006/math">
                    <m:r>
                      <a:rPr lang="en-US" sz="6000" i="1">
                        <a:latin typeface="Cambria Math" panose="02040503050406030204" pitchFamily="18" charset="0"/>
                      </a:rPr>
                      <m:t>𝑘</m:t>
                    </m:r>
                  </m:oMath>
                </a14:m>
                <a:r>
                  <a:rPr lang="en-US" sz="6000" spc="-100"/>
                  <a:t>NN on Fisher Iris Data</a:t>
                </a:r>
              </a:p>
            </p:txBody>
          </p:sp>
        </mc:Choice>
        <mc:Fallback xmlns="">
          <p:sp>
            <p:nvSpPr>
              <p:cNvPr id="7" name="Title 5">
                <a:extLst>
                  <a:ext uri="{FF2B5EF4-FFF2-40B4-BE49-F238E27FC236}">
                    <a16:creationId xmlns:a16="http://schemas.microsoft.com/office/drawing/2014/main" id="{9DABF3AD-4ADD-E7BE-86DD-1DFDD8CC3693}"/>
                  </a:ext>
                </a:extLst>
              </p:cNvPr>
              <p:cNvSpPr>
                <a:spLocks noGrp="1" noRot="1" noChangeAspect="1" noMove="1" noResize="1" noEditPoints="1" noAdjustHandles="1" noChangeArrowheads="1" noChangeShapeType="1" noTextEdit="1"/>
              </p:cNvSpPr>
              <p:nvPr>
                <p:ph type="title"/>
              </p:nvPr>
            </p:nvSpPr>
            <p:spPr>
              <a:xfrm>
                <a:off x="1069849" y="1298448"/>
                <a:ext cx="3258688" cy="3255264"/>
              </a:xfrm>
              <a:blipFill>
                <a:blip r:embed="rId3"/>
                <a:stretch>
                  <a:fillRect l="-11284" r="-8949" b="-12840"/>
                </a:stretch>
              </a:blipFill>
            </p:spPr>
            <p:txBody>
              <a:bodyPr/>
              <a:lstStyle/>
              <a:p>
                <a:r>
                  <a:rPr lang="en-US">
                    <a:noFill/>
                  </a:rPr>
                  <a:t> </a:t>
                </a:r>
              </a:p>
            </p:txBody>
          </p:sp>
        </mc:Fallback>
      </mc:AlternateContent>
    </p:spTree>
    <p:extLst>
      <p:ext uri="{BB962C8B-B14F-4D97-AF65-F5344CB8AC3E}">
        <p14:creationId xmlns:p14="http://schemas.microsoft.com/office/powerpoint/2010/main" val="334459144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8C9101E-8410-B554-CA41-F4989112E756}"/>
                  </a:ext>
                </a:extLst>
              </p:cNvPr>
              <p:cNvSpPr>
                <a:spLocks noGrp="1"/>
              </p:cNvSpPr>
              <p:nvPr>
                <p:ph type="title"/>
              </p:nvPr>
            </p:nvSpPr>
            <p:spPr/>
            <p:txBody>
              <a:bodyPr/>
              <a:lstStyle/>
              <a:p>
                <a:r>
                  <a:rPr lang="en-US"/>
                  <a:t>Aside: </a:t>
                </a:r>
                <a14:m>
                  <m:oMath xmlns:m="http://schemas.openxmlformats.org/officeDocument/2006/math">
                    <m:r>
                      <a:rPr lang="en-US" i="1" smtClean="0">
                        <a:latin typeface="Cambria Math" panose="02040503050406030204" pitchFamily="18" charset="0"/>
                      </a:rPr>
                      <m:t>𝑘</m:t>
                    </m:r>
                  </m:oMath>
                </a14:m>
                <a:r>
                  <a:rPr lang="en-US"/>
                  <a:t>NN and Categorical Features</a:t>
                </a:r>
              </a:p>
            </p:txBody>
          </p:sp>
        </mc:Choice>
        <mc:Fallback xmlns="">
          <p:sp>
            <p:nvSpPr>
              <p:cNvPr id="2" name="Title 1">
                <a:extLst>
                  <a:ext uri="{FF2B5EF4-FFF2-40B4-BE49-F238E27FC236}">
                    <a16:creationId xmlns:a16="http://schemas.microsoft.com/office/drawing/2014/main" id="{18C9101E-8410-B554-CA41-F4989112E756}"/>
                  </a:ext>
                </a:extLst>
              </p:cNvPr>
              <p:cNvSpPr>
                <a:spLocks noGrp="1" noRot="1" noChangeAspect="1" noMove="1" noResize="1" noEditPoints="1" noAdjustHandles="1" noChangeArrowheads="1" noChangeShapeType="1" noTextEdit="1"/>
              </p:cNvSpPr>
              <p:nvPr>
                <p:ph type="title"/>
              </p:nvPr>
            </p:nvSpPr>
            <p:spPr>
              <a:blipFill>
                <a:blip r:embed="rId2"/>
                <a:stretch>
                  <a:fillRect l="-5983" r="-8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7F376B-6CA6-FE7B-8953-F6FA82C021CB}"/>
                  </a:ext>
                </a:extLst>
              </p:cNvPr>
              <p:cNvSpPr>
                <a:spLocks noGrp="1"/>
              </p:cNvSpPr>
              <p:nvPr>
                <p:ph idx="1"/>
              </p:nvPr>
            </p:nvSpPr>
            <p:spPr>
              <a:xfrm>
                <a:off x="3869267" y="864108"/>
                <a:ext cx="7430103" cy="5120640"/>
              </a:xfrm>
            </p:spPr>
            <p:txBody>
              <a:bodyPr>
                <a:noAutofit/>
              </a:bodyPr>
              <a:lstStyle/>
              <a:p>
                <a:pPr>
                  <a:lnSpc>
                    <a:spcPct val="130000"/>
                  </a:lnSpc>
                </a:pPr>
                <a14:m>
                  <m:oMath xmlns:m="http://schemas.openxmlformats.org/officeDocument/2006/math">
                    <m:r>
                      <a:rPr lang="en-US" i="1" smtClean="0">
                        <a:latin typeface="Cambria Math" panose="02040503050406030204" pitchFamily="18" charset="0"/>
                      </a:rPr>
                      <m:t>𝑘</m:t>
                    </m:r>
                  </m:oMath>
                </a14:m>
                <a:r>
                  <a:rPr lang="en-US"/>
                  <a:t>NNs are compatible with categorical features, either by:</a:t>
                </a:r>
              </a:p>
              <a:p>
                <a:pPr marL="960120" lvl="1" indent="-457200">
                  <a:lnSpc>
                    <a:spcPct val="130000"/>
                  </a:lnSpc>
                  <a:buFont typeface="+mj-lt"/>
                  <a:buAutoNum type="arabicPeriod"/>
                </a:pPr>
                <a:r>
                  <a:rPr lang="en-US" sz="2400"/>
                  <a:t>Converting categorical features into binary ones:</a:t>
                </a:r>
              </a:p>
              <a:p>
                <a:pPr marL="960120" lvl="1" indent="-457200">
                  <a:lnSpc>
                    <a:spcPct val="130000"/>
                  </a:lnSpc>
                  <a:buFont typeface="+mj-lt"/>
                  <a:buAutoNum type="arabicPeriod"/>
                </a:pPr>
                <a:endParaRPr lang="en-US" sz="2400"/>
              </a:p>
              <a:p>
                <a:pPr marL="960120" lvl="1" indent="-457200">
                  <a:lnSpc>
                    <a:spcPct val="130000"/>
                  </a:lnSpc>
                  <a:buFont typeface="+mj-lt"/>
                  <a:buAutoNum type="arabicPeriod"/>
                </a:pPr>
                <a:endParaRPr lang="en-US" sz="2400"/>
              </a:p>
              <a:p>
                <a:pPr marL="960120" lvl="1" indent="-457200">
                  <a:lnSpc>
                    <a:spcPct val="130000"/>
                  </a:lnSpc>
                  <a:buFont typeface="+mj-lt"/>
                  <a:buAutoNum type="arabicPeriod"/>
                </a:pPr>
                <a:endParaRPr lang="en-US" sz="2400"/>
              </a:p>
              <a:p>
                <a:pPr marL="960120" lvl="1" indent="-457200">
                  <a:lnSpc>
                    <a:spcPct val="130000"/>
                  </a:lnSpc>
                  <a:buFont typeface="+mj-lt"/>
                  <a:buAutoNum type="arabicPeriod"/>
                </a:pPr>
                <a:endParaRPr lang="en-US" sz="2400"/>
              </a:p>
              <a:p>
                <a:pPr marL="960120" lvl="1" indent="-457200">
                  <a:lnSpc>
                    <a:spcPct val="130000"/>
                  </a:lnSpc>
                  <a:buFont typeface="+mj-lt"/>
                  <a:buAutoNum type="arabicPeriod"/>
                </a:pPr>
                <a:r>
                  <a:rPr lang="en-US" sz="2400"/>
                  <a:t>Using a distance metric that works over categorical features e.g., the Hamming distance: </a:t>
                </a:r>
              </a:p>
              <a:p>
                <a:pPr marL="0" indent="0">
                  <a:lnSpc>
                    <a:spcPct val="100000"/>
                  </a:lnSpc>
                  <a:buNone/>
                </a:pPr>
                <a14:m>
                  <m:oMathPara xmlns:m="http://schemas.openxmlformats.org/officeDocument/2006/math">
                    <m:oMath>
                      <m:r>
                        <a:rPr lang="en-US" b="0" i="1" smtClean="0">
                          <a:solidFill>
                            <a:schemeClr val="accent6">
                              <a:lumMod val="75000"/>
                            </a:schemeClr>
                          </a:solidFill>
                          <a:latin typeface="Cambria Math" panose="02040503050406030204" pitchFamily="18" charset="0"/>
                        </a:rPr>
                        <m:t>𝑑</m:t>
                      </m:r>
                      <m:d>
                        <m:dPr>
                          <m:ctrlPr>
                            <a:rPr lang="en-US" b="1" i="1" smtClean="0">
                              <a:solidFill>
                                <a:schemeClr val="accent6">
                                  <a:lumMod val="75000"/>
                                </a:schemeClr>
                              </a:solidFill>
                              <a:latin typeface="Cambria Math" panose="02040503050406030204" pitchFamily="18" charset="0"/>
                            </a:rPr>
                          </m:ctrlPr>
                        </m:dPr>
                        <m:e>
                          <m:r>
                            <a:rPr lang="en-US" b="1" i="1" smtClean="0">
                              <a:solidFill>
                                <a:schemeClr val="accent6">
                                  <a:lumMod val="75000"/>
                                </a:schemeClr>
                              </a:solidFill>
                              <a:latin typeface="Cambria Math" panose="02040503050406030204" pitchFamily="18" charset="0"/>
                            </a:rPr>
                            <m:t>𝒙</m:t>
                          </m:r>
                          <m:r>
                            <a:rPr lang="en-US" b="0" i="1" smtClean="0">
                              <a:solidFill>
                                <a:schemeClr val="accent6">
                                  <a:lumMod val="75000"/>
                                </a:schemeClr>
                              </a:solidFill>
                              <a:latin typeface="Cambria Math" panose="02040503050406030204" pitchFamily="18" charset="0"/>
                            </a:rPr>
                            <m:t>,</m:t>
                          </m:r>
                          <m:sSup>
                            <m:sSupPr>
                              <m:ctrlPr>
                                <a:rPr lang="en-US" b="1" i="1" smtClean="0">
                                  <a:solidFill>
                                    <a:schemeClr val="accent6">
                                      <a:lumMod val="75000"/>
                                    </a:schemeClr>
                                  </a:solidFill>
                                  <a:latin typeface="Cambria Math" panose="02040503050406030204" pitchFamily="18" charset="0"/>
                                </a:rPr>
                              </m:ctrlPr>
                            </m:sSupPr>
                            <m:e>
                              <m:r>
                                <a:rPr lang="en-US" b="1" i="1" smtClean="0">
                                  <a:solidFill>
                                    <a:schemeClr val="accent6">
                                      <a:lumMod val="75000"/>
                                    </a:schemeClr>
                                  </a:solidFill>
                                  <a:latin typeface="Cambria Math" panose="02040503050406030204" pitchFamily="18" charset="0"/>
                                </a:rPr>
                                <m:t>𝒙</m:t>
                              </m:r>
                            </m:e>
                            <m:sup>
                              <m:r>
                                <a:rPr lang="en-US" b="0" i="1" smtClean="0">
                                  <a:solidFill>
                                    <a:schemeClr val="accent6">
                                      <a:lumMod val="75000"/>
                                    </a:schemeClr>
                                  </a:solidFill>
                                  <a:latin typeface="Cambria Math" panose="02040503050406030204" pitchFamily="18" charset="0"/>
                                </a:rPr>
                                <m:t>′</m:t>
                              </m:r>
                            </m:sup>
                          </m:sSup>
                        </m:e>
                      </m:d>
                      <m:r>
                        <a:rPr lang="en-US" b="0" i="1" smtClean="0">
                          <a:solidFill>
                            <a:schemeClr val="accent6">
                              <a:lumMod val="75000"/>
                            </a:schemeClr>
                          </a:solidFill>
                          <a:latin typeface="Cambria Math" panose="02040503050406030204" pitchFamily="18" charset="0"/>
                        </a:rPr>
                        <m:t>=</m:t>
                      </m:r>
                      <m:nary>
                        <m:naryPr>
                          <m:chr m:val="∑"/>
                          <m:ctrlPr>
                            <a:rPr lang="en-US" b="0" i="1" smtClean="0">
                              <a:solidFill>
                                <a:schemeClr val="accent6">
                                  <a:lumMod val="75000"/>
                                </a:schemeClr>
                              </a:solidFill>
                              <a:latin typeface="Cambria Math" panose="02040503050406030204" pitchFamily="18" charset="0"/>
                            </a:rPr>
                          </m:ctrlPr>
                        </m:naryPr>
                        <m:sub>
                          <m:r>
                            <m:rPr>
                              <m:brk m:alnAt="23"/>
                            </m:rPr>
                            <a:rPr lang="en-US" b="0" i="1" smtClean="0">
                              <a:solidFill>
                                <a:schemeClr val="accent6">
                                  <a:lumMod val="75000"/>
                                </a:schemeClr>
                              </a:solidFill>
                              <a:latin typeface="Cambria Math" panose="02040503050406030204" pitchFamily="18" charset="0"/>
                            </a:rPr>
                            <m:t>𝑑</m:t>
                          </m:r>
                          <m:r>
                            <a:rPr lang="en-US" b="0" i="1" smtClean="0">
                              <a:solidFill>
                                <a:schemeClr val="accent6">
                                  <a:lumMod val="75000"/>
                                </a:schemeClr>
                              </a:solidFill>
                              <a:latin typeface="Cambria Math" panose="02040503050406030204" pitchFamily="18" charset="0"/>
                            </a:rPr>
                            <m:t>=1</m:t>
                          </m:r>
                        </m:sub>
                        <m:sup>
                          <m:r>
                            <a:rPr lang="en-US" b="0" i="1" smtClean="0">
                              <a:solidFill>
                                <a:schemeClr val="accent6">
                                  <a:lumMod val="75000"/>
                                </a:schemeClr>
                              </a:solidFill>
                              <a:latin typeface="Cambria Math" panose="02040503050406030204" pitchFamily="18" charset="0"/>
                            </a:rPr>
                            <m:t>𝐷</m:t>
                          </m:r>
                        </m:sup>
                        <m:e>
                          <m:r>
                            <m:rPr>
                              <m:nor/>
                            </m:rPr>
                            <a:rPr lang="en-US" i="0">
                              <a:solidFill>
                                <a:schemeClr val="accent6">
                                  <a:lumMod val="75000"/>
                                </a:schemeClr>
                              </a:solidFill>
                            </a:rPr>
                            <m:t>𝟙</m:t>
                          </m:r>
                          <m:d>
                            <m:dPr>
                              <m:ctrlPr>
                                <a:rPr lang="en-US" b="0" i="1" smtClean="0">
                                  <a:solidFill>
                                    <a:schemeClr val="accent6">
                                      <a:lumMod val="75000"/>
                                    </a:schemeClr>
                                  </a:solidFill>
                                  <a:latin typeface="Cambria Math" panose="02040503050406030204" pitchFamily="18" charset="0"/>
                                </a:rPr>
                              </m:ctrlPr>
                            </m:dPr>
                            <m:e>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𝑑</m:t>
                                  </m:r>
                                </m:sub>
                              </m:sSub>
                              <m:r>
                                <a:rPr lang="en-US" b="0" i="1" smtClean="0">
                                  <a:solidFill>
                                    <a:schemeClr val="accent6">
                                      <a:lumMod val="75000"/>
                                    </a:schemeClr>
                                  </a:solidFill>
                                  <a:latin typeface="Cambria Math" panose="02040503050406030204" pitchFamily="18" charset="0"/>
                                </a:rPr>
                                <m:t>=</m:t>
                              </m:r>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𝑥</m:t>
                                  </m:r>
                                </m:e>
                                <m:sub>
                                  <m:r>
                                    <a:rPr lang="en-US" b="0" i="1" smtClean="0">
                                      <a:solidFill>
                                        <a:schemeClr val="accent6">
                                          <a:lumMod val="75000"/>
                                        </a:schemeClr>
                                      </a:solidFill>
                                      <a:latin typeface="Cambria Math" panose="02040503050406030204" pitchFamily="18" charset="0"/>
                                    </a:rPr>
                                    <m:t>𝑑</m:t>
                                  </m:r>
                                </m:sub>
                                <m:sup>
                                  <m:r>
                                    <a:rPr lang="en-US" b="0" i="1" smtClean="0">
                                      <a:solidFill>
                                        <a:schemeClr val="accent6">
                                          <a:lumMod val="75000"/>
                                        </a:schemeClr>
                                      </a:solidFill>
                                      <a:latin typeface="Cambria Math" panose="02040503050406030204" pitchFamily="18" charset="0"/>
                                    </a:rPr>
                                    <m:t>′</m:t>
                                  </m:r>
                                </m:sup>
                              </m:sSubSup>
                            </m:e>
                          </m:d>
                        </m:e>
                      </m:nary>
                    </m:oMath>
                  </m:oMathPara>
                </a14:m>
                <a:endParaRPr lang="en-US"/>
              </a:p>
            </p:txBody>
          </p:sp>
        </mc:Choice>
        <mc:Fallback xmlns="">
          <p:sp>
            <p:nvSpPr>
              <p:cNvPr id="3" name="Content Placeholder 2">
                <a:extLst>
                  <a:ext uri="{FF2B5EF4-FFF2-40B4-BE49-F238E27FC236}">
                    <a16:creationId xmlns:a16="http://schemas.microsoft.com/office/drawing/2014/main" id="{B07F376B-6CA6-FE7B-8953-F6FA82C021CB}"/>
                  </a:ext>
                </a:extLst>
              </p:cNvPr>
              <p:cNvSpPr>
                <a:spLocks noGrp="1" noRot="1" noChangeAspect="1" noMove="1" noResize="1" noEditPoints="1" noAdjustHandles="1" noChangeArrowheads="1" noChangeShapeType="1" noTextEdit="1"/>
              </p:cNvSpPr>
              <p:nvPr>
                <p:ph idx="1"/>
              </p:nvPr>
            </p:nvSpPr>
            <p:spPr>
              <a:xfrm>
                <a:off x="3869267" y="864108"/>
                <a:ext cx="7430103" cy="5120640"/>
              </a:xfrm>
              <a:blipFill>
                <a:blip r:embed="rId3"/>
                <a:stretch>
                  <a:fillRect l="-853" t="-1980" r="-2048" b="-3787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77762386-8771-ABAF-53F2-D97D5605DCD5}"/>
              </a:ext>
            </a:extLst>
          </p:cNvPr>
          <p:cNvSpPr>
            <a:spLocks noGrp="1"/>
          </p:cNvSpPr>
          <p:nvPr>
            <p:ph type="sldNum" sz="quarter" idx="12"/>
          </p:nvPr>
        </p:nvSpPr>
        <p:spPr/>
        <p:txBody>
          <a:bodyPr/>
          <a:lstStyle/>
          <a:p>
            <a:fld id="{4FAB73BC-B049-4115-A692-8D63A059BFB8}" type="slidenum">
              <a:rPr lang="en-US" smtClean="0"/>
              <a:pPr/>
              <a:t>31</a:t>
            </a:fld>
            <a:endParaRPr lang="en-US"/>
          </a:p>
        </p:txBody>
      </p:sp>
      <p:graphicFrame>
        <p:nvGraphicFramePr>
          <p:cNvPr id="6" name="Table 6">
            <a:extLst>
              <a:ext uri="{FF2B5EF4-FFF2-40B4-BE49-F238E27FC236}">
                <a16:creationId xmlns:a16="http://schemas.microsoft.com/office/drawing/2014/main" id="{2B58B4A4-7B40-E97A-12BA-94FB9B78E242}"/>
              </a:ext>
            </a:extLst>
          </p:cNvPr>
          <p:cNvGraphicFramePr>
            <a:graphicFrameLocks noGrp="1"/>
          </p:cNvGraphicFramePr>
          <p:nvPr>
            <p:extLst>
              <p:ext uri="{D42A27DB-BD31-4B8C-83A1-F6EECF244321}">
                <p14:modId xmlns:p14="http://schemas.microsoft.com/office/powerpoint/2010/main" val="3969673312"/>
              </p:ext>
            </p:extLst>
          </p:nvPr>
        </p:nvGraphicFramePr>
        <p:xfrm>
          <a:off x="4931863" y="1994587"/>
          <a:ext cx="1496646" cy="1737360"/>
        </p:xfrm>
        <a:graphic>
          <a:graphicData uri="http://schemas.openxmlformats.org/drawingml/2006/table">
            <a:tbl>
              <a:tblPr firstRow="1" bandRow="1">
                <a:tableStyleId>{5C22544A-7EE6-4342-B048-85BDC9FD1C3A}</a:tableStyleId>
              </a:tblPr>
              <a:tblGrid>
                <a:gridCol w="1496646">
                  <a:extLst>
                    <a:ext uri="{9D8B030D-6E8A-4147-A177-3AD203B41FA5}">
                      <a16:colId xmlns:a16="http://schemas.microsoft.com/office/drawing/2014/main" val="1112518968"/>
                    </a:ext>
                  </a:extLst>
                </a:gridCol>
              </a:tblGrid>
              <a:tr h="206945">
                <a:tc>
                  <a:txBody>
                    <a:bodyPr/>
                    <a:lstStyle/>
                    <a:p>
                      <a:r>
                        <a:rPr lang="en-US" b="0"/>
                        <a:t>Cholesterol </a:t>
                      </a:r>
                    </a:p>
                    <a:p>
                      <a:endParaRPr lang="en-US" b="0"/>
                    </a:p>
                  </a:txBody>
                  <a:tcPr anchor="ctr"/>
                </a:tc>
                <a:extLst>
                  <a:ext uri="{0D108BD9-81ED-4DB2-BD59-A6C34878D82A}">
                    <a16:rowId xmlns:a16="http://schemas.microsoft.com/office/drawing/2014/main" val="2762800643"/>
                  </a:ext>
                </a:extLst>
              </a:tr>
              <a:tr h="206945">
                <a:tc>
                  <a:txBody>
                    <a:bodyPr/>
                    <a:lstStyle/>
                    <a:p>
                      <a:r>
                        <a:rPr lang="en-US" b="0"/>
                        <a:t>Normal</a:t>
                      </a:r>
                    </a:p>
                  </a:txBody>
                  <a:tcPr anchor="ctr"/>
                </a:tc>
                <a:extLst>
                  <a:ext uri="{0D108BD9-81ED-4DB2-BD59-A6C34878D82A}">
                    <a16:rowId xmlns:a16="http://schemas.microsoft.com/office/drawing/2014/main" val="929761177"/>
                  </a:ext>
                </a:extLst>
              </a:tr>
              <a:tr h="206945">
                <a:tc>
                  <a:txBody>
                    <a:bodyPr/>
                    <a:lstStyle/>
                    <a:p>
                      <a:r>
                        <a:rPr lang="en-US" b="0"/>
                        <a:t>Normal</a:t>
                      </a:r>
                    </a:p>
                  </a:txBody>
                  <a:tcPr anchor="ctr"/>
                </a:tc>
                <a:extLst>
                  <a:ext uri="{0D108BD9-81ED-4DB2-BD59-A6C34878D82A}">
                    <a16:rowId xmlns:a16="http://schemas.microsoft.com/office/drawing/2014/main" val="2907543712"/>
                  </a:ext>
                </a:extLst>
              </a:tr>
              <a:tr h="206945">
                <a:tc>
                  <a:txBody>
                    <a:bodyPr/>
                    <a:lstStyle/>
                    <a:p>
                      <a:r>
                        <a:rPr lang="en-US" b="0"/>
                        <a:t>Abnormal</a:t>
                      </a:r>
                    </a:p>
                  </a:txBody>
                  <a:tcPr anchor="ctr"/>
                </a:tc>
                <a:extLst>
                  <a:ext uri="{0D108BD9-81ED-4DB2-BD59-A6C34878D82A}">
                    <a16:rowId xmlns:a16="http://schemas.microsoft.com/office/drawing/2014/main" val="2869373414"/>
                  </a:ext>
                </a:extLst>
              </a:tr>
            </a:tbl>
          </a:graphicData>
        </a:graphic>
      </p:graphicFrame>
      <p:cxnSp>
        <p:nvCxnSpPr>
          <p:cNvPr id="8" name="Straight Arrow Connector 7">
            <a:extLst>
              <a:ext uri="{FF2B5EF4-FFF2-40B4-BE49-F238E27FC236}">
                <a16:creationId xmlns:a16="http://schemas.microsoft.com/office/drawing/2014/main" id="{EE93E808-3B6A-04B3-1FE3-84773517744B}"/>
              </a:ext>
            </a:extLst>
          </p:cNvPr>
          <p:cNvCxnSpPr/>
          <p:nvPr/>
        </p:nvCxnSpPr>
        <p:spPr>
          <a:xfrm>
            <a:off x="6709863" y="2986492"/>
            <a:ext cx="914400" cy="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9" name="Table 6">
                <a:extLst>
                  <a:ext uri="{FF2B5EF4-FFF2-40B4-BE49-F238E27FC236}">
                    <a16:creationId xmlns:a16="http://schemas.microsoft.com/office/drawing/2014/main" id="{4C74CA78-ADCF-EEE8-D046-ACDBD55A35BA}"/>
                  </a:ext>
                </a:extLst>
              </p:cNvPr>
              <p:cNvGraphicFramePr>
                <a:graphicFrameLocks noGrp="1"/>
              </p:cNvGraphicFramePr>
              <p:nvPr>
                <p:extLst>
                  <p:ext uri="{D42A27DB-BD31-4B8C-83A1-F6EECF244321}">
                    <p14:modId xmlns:p14="http://schemas.microsoft.com/office/powerpoint/2010/main" val="1391896418"/>
                  </p:ext>
                </p:extLst>
              </p:nvPr>
            </p:nvGraphicFramePr>
            <p:xfrm>
              <a:off x="7905616" y="1994587"/>
              <a:ext cx="2999232" cy="1737360"/>
            </p:xfrm>
            <a:graphic>
              <a:graphicData uri="http://schemas.openxmlformats.org/drawingml/2006/table">
                <a:tbl>
                  <a:tblPr firstRow="1" bandRow="1">
                    <a:tableStyleId>{5C22544A-7EE6-4342-B048-85BDC9FD1C3A}</a:tableStyleId>
                  </a:tblPr>
                  <a:tblGrid>
                    <a:gridCol w="1499616">
                      <a:extLst>
                        <a:ext uri="{9D8B030D-6E8A-4147-A177-3AD203B41FA5}">
                          <a16:colId xmlns:a16="http://schemas.microsoft.com/office/drawing/2014/main" val="1112518968"/>
                        </a:ext>
                      </a:extLst>
                    </a:gridCol>
                    <a:gridCol w="1499616">
                      <a:extLst>
                        <a:ext uri="{9D8B030D-6E8A-4147-A177-3AD203B41FA5}">
                          <a16:colId xmlns:a16="http://schemas.microsoft.com/office/drawing/2014/main" val="4205034681"/>
                        </a:ext>
                      </a:extLst>
                    </a:gridCol>
                  </a:tblGrid>
                  <a:tr h="206945">
                    <a:tc>
                      <a:txBody>
                        <a:bodyPr/>
                        <a:lstStyle/>
                        <a:p>
                          <a:r>
                            <a:rPr lang="en-US" b="0"/>
                            <a:t>Normal Cholesterol?</a:t>
                          </a:r>
                        </a:p>
                      </a:txBody>
                      <a:tcPr anchor="ctr"/>
                    </a:tc>
                    <a:tc>
                      <a:txBody>
                        <a:bodyPr/>
                        <a:lstStyle/>
                        <a:p>
                          <a:r>
                            <a:rPr lang="en-US" b="0"/>
                            <a:t>Abnormal Cholesterol?</a:t>
                          </a:r>
                        </a:p>
                      </a:txBody>
                      <a:tcPr anchor="ctr"/>
                    </a:tc>
                    <a:extLst>
                      <a:ext uri="{0D108BD9-81ED-4DB2-BD59-A6C34878D82A}">
                        <a16:rowId xmlns:a16="http://schemas.microsoft.com/office/drawing/2014/main" val="2762800643"/>
                      </a:ext>
                    </a:extLst>
                  </a:tr>
                  <a:tr h="206945">
                    <a:tc>
                      <a:txBody>
                        <a:bodyPr/>
                        <a:lstStyle/>
                        <a:p>
                          <a:pPr algn="l"/>
                          <a14:m>
                            <m:oMathPara xmlns:m="http://schemas.openxmlformats.org/officeDocument/2006/math">
                              <m:oMath>
                                <m:r>
                                  <a:rPr lang="en-US" b="0" i="1" dirty="0" smtClean="0">
                                    <a:latin typeface="Cambria Math" panose="02040503050406030204" pitchFamily="18" charset="0"/>
                                  </a:rPr>
                                  <m:t>1</m:t>
                                </m:r>
                              </m:oMath>
                            </m:oMathPara>
                          </a14:m>
                          <a:endParaRPr lang="en-US" b="0"/>
                        </a:p>
                      </a:txBody>
                      <a:tcPr anchor="ctr"/>
                    </a:tc>
                    <a:tc>
                      <a:txBody>
                        <a:bodyPr/>
                        <a:lstStyle/>
                        <a:p>
                          <a:pPr algn="l"/>
                          <a14:m>
                            <m:oMathPara xmlns:m="http://schemas.openxmlformats.org/officeDocument/2006/math">
                              <m:oMath>
                                <m:r>
                                  <a:rPr lang="en-US" b="0" i="1" smtClean="0">
                                    <a:latin typeface="Cambria Math" panose="02040503050406030204" pitchFamily="18" charset="0"/>
                                  </a:rPr>
                                  <m:t>0</m:t>
                                </m:r>
                              </m:oMath>
                            </m:oMathPara>
                          </a14:m>
                          <a:endParaRPr lang="en-US" b="0"/>
                        </a:p>
                      </a:txBody>
                      <a:tcPr anchor="ctr"/>
                    </a:tc>
                    <a:extLst>
                      <a:ext uri="{0D108BD9-81ED-4DB2-BD59-A6C34878D82A}">
                        <a16:rowId xmlns:a16="http://schemas.microsoft.com/office/drawing/2014/main" val="929761177"/>
                      </a:ext>
                    </a:extLst>
                  </a:tr>
                  <a:tr h="206945">
                    <a:tc>
                      <a:txBody>
                        <a:bodyPr/>
                        <a:lstStyle/>
                        <a:p>
                          <a:pPr algn="l"/>
                          <a14:m>
                            <m:oMathPara xmlns:m="http://schemas.openxmlformats.org/officeDocument/2006/math">
                              <m:oMath>
                                <m:r>
                                  <a:rPr lang="en-US" b="0" i="1" smtClean="0">
                                    <a:latin typeface="Cambria Math" panose="02040503050406030204" pitchFamily="18" charset="0"/>
                                  </a:rPr>
                                  <m:t>1</m:t>
                                </m:r>
                              </m:oMath>
                            </m:oMathPara>
                          </a14:m>
                          <a:endParaRPr lang="en-US" b="0"/>
                        </a:p>
                      </a:txBody>
                      <a:tcPr anchor="ctr"/>
                    </a:tc>
                    <a:tc>
                      <a:txBody>
                        <a:bodyPr/>
                        <a:lstStyle/>
                        <a:p>
                          <a:pPr algn="l"/>
                          <a14:m>
                            <m:oMathPara xmlns:m="http://schemas.openxmlformats.org/officeDocument/2006/math">
                              <m:oMath>
                                <m:r>
                                  <a:rPr lang="en-US" b="0" i="1" smtClean="0">
                                    <a:latin typeface="Cambria Math" panose="02040503050406030204" pitchFamily="18" charset="0"/>
                                  </a:rPr>
                                  <m:t>0</m:t>
                                </m:r>
                              </m:oMath>
                            </m:oMathPara>
                          </a14:m>
                          <a:endParaRPr lang="en-US" b="0"/>
                        </a:p>
                      </a:txBody>
                      <a:tcPr anchor="ctr"/>
                    </a:tc>
                    <a:extLst>
                      <a:ext uri="{0D108BD9-81ED-4DB2-BD59-A6C34878D82A}">
                        <a16:rowId xmlns:a16="http://schemas.microsoft.com/office/drawing/2014/main" val="2907543712"/>
                      </a:ext>
                    </a:extLst>
                  </a:tr>
                  <a:tr h="206945">
                    <a:tc>
                      <a:txBody>
                        <a:bodyPr/>
                        <a:lstStyle/>
                        <a:p>
                          <a:pPr algn="l"/>
                          <a14:m>
                            <m:oMathPara xmlns:m="http://schemas.openxmlformats.org/officeDocument/2006/math">
                              <m:oMath>
                                <m:r>
                                  <a:rPr lang="en-US" b="0" i="1" smtClean="0">
                                    <a:latin typeface="Cambria Math" panose="02040503050406030204" pitchFamily="18" charset="0"/>
                                  </a:rPr>
                                  <m:t>0</m:t>
                                </m:r>
                              </m:oMath>
                            </m:oMathPara>
                          </a14:m>
                          <a:endParaRPr lang="en-US" b="0"/>
                        </a:p>
                      </a:txBody>
                      <a:tcPr anchor="ctr"/>
                    </a:tc>
                    <a:tc>
                      <a:txBody>
                        <a:bodyPr/>
                        <a:lstStyle/>
                        <a:p>
                          <a:pPr algn="l"/>
                          <a14:m>
                            <m:oMathPara xmlns:m="http://schemas.openxmlformats.org/officeDocument/2006/math">
                              <m:oMath>
                                <m:r>
                                  <a:rPr lang="en-US" b="0" i="1" dirty="0" smtClean="0">
                                    <a:latin typeface="Cambria Math" panose="02040503050406030204" pitchFamily="18" charset="0"/>
                                  </a:rPr>
                                  <m:t>1</m:t>
                                </m:r>
                              </m:oMath>
                            </m:oMathPara>
                          </a14:m>
                          <a:endParaRPr lang="en-US" b="0"/>
                        </a:p>
                      </a:txBody>
                      <a:tcPr anchor="ctr"/>
                    </a:tc>
                    <a:extLst>
                      <a:ext uri="{0D108BD9-81ED-4DB2-BD59-A6C34878D82A}">
                        <a16:rowId xmlns:a16="http://schemas.microsoft.com/office/drawing/2014/main" val="2869373414"/>
                      </a:ext>
                    </a:extLst>
                  </a:tr>
                </a:tbl>
              </a:graphicData>
            </a:graphic>
          </p:graphicFrame>
        </mc:Choice>
        <mc:Fallback xmlns="">
          <p:graphicFrame>
            <p:nvGraphicFramePr>
              <p:cNvPr id="9" name="Table 6">
                <a:extLst>
                  <a:ext uri="{FF2B5EF4-FFF2-40B4-BE49-F238E27FC236}">
                    <a16:creationId xmlns:a16="http://schemas.microsoft.com/office/drawing/2014/main" id="{4C74CA78-ADCF-EEE8-D046-ACDBD55A35BA}"/>
                  </a:ext>
                </a:extLst>
              </p:cNvPr>
              <p:cNvGraphicFramePr>
                <a:graphicFrameLocks noGrp="1"/>
              </p:cNvGraphicFramePr>
              <p:nvPr>
                <p:extLst>
                  <p:ext uri="{D42A27DB-BD31-4B8C-83A1-F6EECF244321}">
                    <p14:modId xmlns:p14="http://schemas.microsoft.com/office/powerpoint/2010/main" val="1391896418"/>
                  </p:ext>
                </p:extLst>
              </p:nvPr>
            </p:nvGraphicFramePr>
            <p:xfrm>
              <a:off x="7905616" y="1994587"/>
              <a:ext cx="2999232" cy="1737360"/>
            </p:xfrm>
            <a:graphic>
              <a:graphicData uri="http://schemas.openxmlformats.org/drawingml/2006/table">
                <a:tbl>
                  <a:tblPr firstRow="1" bandRow="1">
                    <a:tableStyleId>{5C22544A-7EE6-4342-B048-85BDC9FD1C3A}</a:tableStyleId>
                  </a:tblPr>
                  <a:tblGrid>
                    <a:gridCol w="1499616">
                      <a:extLst>
                        <a:ext uri="{9D8B030D-6E8A-4147-A177-3AD203B41FA5}">
                          <a16:colId xmlns:a16="http://schemas.microsoft.com/office/drawing/2014/main" val="1112518968"/>
                        </a:ext>
                      </a:extLst>
                    </a:gridCol>
                    <a:gridCol w="1499616">
                      <a:extLst>
                        <a:ext uri="{9D8B030D-6E8A-4147-A177-3AD203B41FA5}">
                          <a16:colId xmlns:a16="http://schemas.microsoft.com/office/drawing/2014/main" val="4205034681"/>
                        </a:ext>
                      </a:extLst>
                    </a:gridCol>
                  </a:tblGrid>
                  <a:tr h="640080">
                    <a:tc>
                      <a:txBody>
                        <a:bodyPr/>
                        <a:lstStyle/>
                        <a:p>
                          <a:r>
                            <a:rPr lang="en-US" b="0"/>
                            <a:t>Normal Cholesterol?</a:t>
                          </a:r>
                        </a:p>
                      </a:txBody>
                      <a:tcPr anchor="ctr"/>
                    </a:tc>
                    <a:tc>
                      <a:txBody>
                        <a:bodyPr/>
                        <a:lstStyle/>
                        <a:p>
                          <a:r>
                            <a:rPr lang="en-US" b="0"/>
                            <a:t>Abnormal Cholesterol?</a:t>
                          </a:r>
                        </a:p>
                      </a:txBody>
                      <a:tcPr anchor="ctr"/>
                    </a:tc>
                    <a:extLst>
                      <a:ext uri="{0D108BD9-81ED-4DB2-BD59-A6C34878D82A}">
                        <a16:rowId xmlns:a16="http://schemas.microsoft.com/office/drawing/2014/main" val="2762800643"/>
                      </a:ext>
                    </a:extLst>
                  </a:tr>
                  <a:tr h="365760">
                    <a:tc>
                      <a:txBody>
                        <a:bodyPr/>
                        <a:lstStyle/>
                        <a:p>
                          <a:endParaRPr lang="en-US"/>
                        </a:p>
                      </a:txBody>
                      <a:tcPr anchor="ctr">
                        <a:blipFill>
                          <a:blip r:embed="rId4"/>
                          <a:stretch>
                            <a:fillRect l="-840" t="-179310" r="-101681" b="-206897"/>
                          </a:stretch>
                        </a:blipFill>
                      </a:tcPr>
                    </a:tc>
                    <a:tc>
                      <a:txBody>
                        <a:bodyPr/>
                        <a:lstStyle/>
                        <a:p>
                          <a:endParaRPr lang="en-US"/>
                        </a:p>
                      </a:txBody>
                      <a:tcPr anchor="ctr">
                        <a:blipFill>
                          <a:blip r:embed="rId4"/>
                          <a:stretch>
                            <a:fillRect l="-101695" t="-179310" r="-2542" b="-206897"/>
                          </a:stretch>
                        </a:blipFill>
                      </a:tcPr>
                    </a:tc>
                    <a:extLst>
                      <a:ext uri="{0D108BD9-81ED-4DB2-BD59-A6C34878D82A}">
                        <a16:rowId xmlns:a16="http://schemas.microsoft.com/office/drawing/2014/main" val="929761177"/>
                      </a:ext>
                    </a:extLst>
                  </a:tr>
                  <a:tr h="365760">
                    <a:tc>
                      <a:txBody>
                        <a:bodyPr/>
                        <a:lstStyle/>
                        <a:p>
                          <a:endParaRPr lang="en-US"/>
                        </a:p>
                      </a:txBody>
                      <a:tcPr anchor="ctr">
                        <a:blipFill>
                          <a:blip r:embed="rId4"/>
                          <a:stretch>
                            <a:fillRect l="-840" t="-279310" r="-101681" b="-106897"/>
                          </a:stretch>
                        </a:blipFill>
                      </a:tcPr>
                    </a:tc>
                    <a:tc>
                      <a:txBody>
                        <a:bodyPr/>
                        <a:lstStyle/>
                        <a:p>
                          <a:endParaRPr lang="en-US"/>
                        </a:p>
                      </a:txBody>
                      <a:tcPr anchor="ctr">
                        <a:blipFill>
                          <a:blip r:embed="rId4"/>
                          <a:stretch>
                            <a:fillRect l="-101695" t="-279310" r="-2542" b="-106897"/>
                          </a:stretch>
                        </a:blipFill>
                      </a:tcPr>
                    </a:tc>
                    <a:extLst>
                      <a:ext uri="{0D108BD9-81ED-4DB2-BD59-A6C34878D82A}">
                        <a16:rowId xmlns:a16="http://schemas.microsoft.com/office/drawing/2014/main" val="2907543712"/>
                      </a:ext>
                    </a:extLst>
                  </a:tr>
                  <a:tr h="365760">
                    <a:tc>
                      <a:txBody>
                        <a:bodyPr/>
                        <a:lstStyle/>
                        <a:p>
                          <a:endParaRPr lang="en-US"/>
                        </a:p>
                      </a:txBody>
                      <a:tcPr anchor="ctr">
                        <a:blipFill>
                          <a:blip r:embed="rId4"/>
                          <a:stretch>
                            <a:fillRect l="-840" t="-379310" r="-101681" b="-6897"/>
                          </a:stretch>
                        </a:blipFill>
                      </a:tcPr>
                    </a:tc>
                    <a:tc>
                      <a:txBody>
                        <a:bodyPr/>
                        <a:lstStyle/>
                        <a:p>
                          <a:endParaRPr lang="en-US"/>
                        </a:p>
                      </a:txBody>
                      <a:tcPr anchor="ctr">
                        <a:blipFill>
                          <a:blip r:embed="rId4"/>
                          <a:stretch>
                            <a:fillRect l="-101695" t="-379310" r="-2542" b="-6897"/>
                          </a:stretch>
                        </a:blipFill>
                      </a:tcPr>
                    </a:tc>
                    <a:extLst>
                      <a:ext uri="{0D108BD9-81ED-4DB2-BD59-A6C34878D82A}">
                        <a16:rowId xmlns:a16="http://schemas.microsoft.com/office/drawing/2014/main" val="2869373414"/>
                      </a:ext>
                    </a:extLst>
                  </a:tr>
                </a:tbl>
              </a:graphicData>
            </a:graphic>
          </p:graphicFrame>
        </mc:Fallback>
      </mc:AlternateContent>
    </p:spTree>
    <p:extLst>
      <p:ext uri="{BB962C8B-B14F-4D97-AF65-F5344CB8AC3E}">
        <p14:creationId xmlns:p14="http://schemas.microsoft.com/office/powerpoint/2010/main" val="341559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250"/>
                                        <p:tgtEl>
                                          <p:spTgt spid="6"/>
                                        </p:tgtEl>
                                      </p:cBhvr>
                                    </p:animEffect>
                                  </p:childTnLst>
                                </p:cTn>
                              </p:par>
                              <p:par>
                                <p:cTn id="13" presetID="9"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250"/>
                                        <p:tgtEl>
                                          <p:spTgt spid="8"/>
                                        </p:tgtEl>
                                      </p:cBhvr>
                                    </p:animEffect>
                                  </p:childTnLst>
                                </p:cTn>
                              </p:par>
                              <p:par>
                                <p:cTn id="16" presetID="9"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25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dissolve">
                                      <p:cBhvr>
                                        <p:cTn id="23" dur="250"/>
                                        <p:tgtEl>
                                          <p:spTgt spid="3">
                                            <p:txEl>
                                              <p:pRg st="6" end="6"/>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dissolve">
                                      <p:cBhvr>
                                        <p:cTn id="26" dur="25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93E709-B89B-AF42-A423-DA7F64BFA5CD}"/>
                  </a:ext>
                </a:extLst>
              </p:cNvPr>
              <p:cNvSpPr>
                <a:spLocks noGrp="1"/>
              </p:cNvSpPr>
              <p:nvPr>
                <p:ph idx="1"/>
              </p:nvPr>
            </p:nvSpPr>
            <p:spPr>
              <a:xfrm>
                <a:off x="3869267" y="864108"/>
                <a:ext cx="7680960" cy="5120640"/>
              </a:xfrm>
            </p:spPr>
            <p:txBody>
              <a:bodyPr>
                <a:noAutofit/>
              </a:bodyPr>
              <a:lstStyle/>
              <a:p>
                <a:pPr>
                  <a:lnSpc>
                    <a:spcPct val="120000"/>
                  </a:lnSpc>
                </a:pPr>
                <a:r>
                  <a:rPr lang="en-US" dirty="0"/>
                  <a:t>What is the inductive bias of a </a:t>
                </a:r>
                <a14:m>
                  <m:oMath xmlns:m="http://schemas.openxmlformats.org/officeDocument/2006/math">
                    <m:r>
                      <a:rPr lang="en-US" i="1">
                        <a:latin typeface="Cambria Math" panose="02040503050406030204" pitchFamily="18" charset="0"/>
                      </a:rPr>
                      <m:t>𝑘</m:t>
                    </m:r>
                  </m:oMath>
                </a14:m>
                <a:r>
                  <a:rPr lang="en-US" dirty="0"/>
                  <a:t>NN model that uses the Euclidean distance metric?</a:t>
                </a:r>
              </a:p>
              <a:p>
                <a:pPr>
                  <a:lnSpc>
                    <a:spcPct val="120000"/>
                  </a:lnSpc>
                </a:pPr>
                <a:r>
                  <a:rPr lang="en-US" sz="2400" dirty="0"/>
                  <a:t>Similar </a:t>
                </a:r>
                <a:r>
                  <a:rPr lang="en-US" dirty="0"/>
                  <a:t>points should have similar labels and </a:t>
                </a:r>
                <a:r>
                  <a:rPr lang="en-US" i="1" dirty="0"/>
                  <a:t>all features are equivalently important for determining similarity</a:t>
                </a:r>
                <a:endParaRPr lang="en-US" sz="2400" i="1" dirty="0"/>
              </a:p>
              <a:p>
                <a:pPr>
                  <a:lnSpc>
                    <a:spcPct val="120000"/>
                  </a:lnSpc>
                </a:pPr>
                <a:endParaRPr lang="en-US" i="1" dirty="0"/>
              </a:p>
              <a:p>
                <a:pPr>
                  <a:lnSpc>
                    <a:spcPct val="120000"/>
                  </a:lnSpc>
                </a:pPr>
                <a:endParaRPr lang="en-US" sz="2400" i="1" dirty="0"/>
              </a:p>
              <a:p>
                <a:pPr>
                  <a:lnSpc>
                    <a:spcPct val="120000"/>
                  </a:lnSpc>
                </a:pPr>
                <a:endParaRPr lang="en-US" sz="2400" i="1" dirty="0"/>
              </a:p>
              <a:p>
                <a:pPr>
                  <a:lnSpc>
                    <a:spcPct val="120000"/>
                  </a:lnSpc>
                </a:pPr>
                <a:endParaRPr lang="en-US" i="1" dirty="0"/>
              </a:p>
              <a:p>
                <a:pPr>
                  <a:lnSpc>
                    <a:spcPct val="120000"/>
                  </a:lnSpc>
                </a:pPr>
                <a:endParaRPr lang="en-US" sz="2400" i="1" dirty="0"/>
              </a:p>
              <a:p>
                <a:pPr>
                  <a:lnSpc>
                    <a:spcPct val="120000"/>
                  </a:lnSpc>
                </a:pPr>
                <a:endParaRPr lang="en-US" i="1" dirty="0"/>
              </a:p>
              <a:p>
                <a:pPr>
                  <a:lnSpc>
                    <a:spcPct val="120000"/>
                  </a:lnSpc>
                </a:pPr>
                <a:r>
                  <a:rPr lang="en-US" dirty="0"/>
                  <a:t>Feature scale can dramatically influence results!</a:t>
                </a:r>
                <a:endParaRPr lang="en-US" sz="2400" dirty="0"/>
              </a:p>
            </p:txBody>
          </p:sp>
        </mc:Choice>
        <mc:Fallback xmlns="">
          <p:sp>
            <p:nvSpPr>
              <p:cNvPr id="3" name="Content Placeholder 2">
                <a:extLst>
                  <a:ext uri="{FF2B5EF4-FFF2-40B4-BE49-F238E27FC236}">
                    <a16:creationId xmlns:a16="http://schemas.microsoft.com/office/drawing/2014/main" id="{ED93E709-B89B-AF42-A423-DA7F64BFA5CD}"/>
                  </a:ext>
                </a:extLst>
              </p:cNvPr>
              <p:cNvSpPr>
                <a:spLocks noGrp="1" noRot="1" noChangeAspect="1" noMove="1" noResize="1" noEditPoints="1" noAdjustHandles="1" noChangeArrowheads="1" noChangeShapeType="1" noTextEdit="1"/>
              </p:cNvSpPr>
              <p:nvPr>
                <p:ph idx="1"/>
              </p:nvPr>
            </p:nvSpPr>
            <p:spPr>
              <a:xfrm>
                <a:off x="3869267" y="864108"/>
                <a:ext cx="7680960" cy="5120640"/>
              </a:xfrm>
              <a:blipFill>
                <a:blip r:embed="rId3"/>
                <a:stretch>
                  <a:fillRect l="-825" t="-9653" b="-123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2FBE412-3115-4244-B6A7-77184C56A8DE}"/>
                  </a:ext>
                </a:extLst>
              </p:cNvPr>
              <p:cNvSpPr>
                <a:spLocks noGrp="1"/>
              </p:cNvSpPr>
              <p:nvPr>
                <p:ph type="title"/>
              </p:nvPr>
            </p:nvSpPr>
            <p:spPr/>
            <p:txBody>
              <a:bodyPr/>
              <a:lstStyle/>
              <a:p>
                <a14:m>
                  <m:oMath xmlns:m="http://schemas.openxmlformats.org/officeDocument/2006/math">
                    <m:r>
                      <a:rPr lang="en-US" i="1">
                        <a:latin typeface="Cambria Math" panose="02040503050406030204" pitchFamily="18" charset="0"/>
                      </a:rPr>
                      <m:t>𝑘</m:t>
                    </m:r>
                  </m:oMath>
                </a14:m>
                <a:r>
                  <a:rPr lang="en-US"/>
                  <a:t>NN: </a:t>
                </a:r>
                <a:br>
                  <a:rPr lang="en-US"/>
                </a:br>
                <a:r>
                  <a:rPr lang="en-US"/>
                  <a:t>Inductive Bias</a:t>
                </a:r>
              </a:p>
            </p:txBody>
          </p:sp>
        </mc:Choice>
        <mc:Fallback xmlns="">
          <p:sp>
            <p:nvSpPr>
              <p:cNvPr id="2" name="Title 1">
                <a:extLst>
                  <a:ext uri="{FF2B5EF4-FFF2-40B4-BE49-F238E27FC236}">
                    <a16:creationId xmlns:a16="http://schemas.microsoft.com/office/drawing/2014/main" id="{92FBE412-3115-4244-B6A7-77184C56A8DE}"/>
                  </a:ext>
                </a:extLst>
              </p:cNvPr>
              <p:cNvSpPr>
                <a:spLocks noGrp="1" noRot="1" noChangeAspect="1" noMove="1" noResize="1" noEditPoints="1" noAdjustHandles="1" noChangeArrowheads="1" noChangeShapeType="1" noTextEdit="1"/>
              </p:cNvSpPr>
              <p:nvPr>
                <p:ph type="title"/>
              </p:nvPr>
            </p:nvSpPr>
            <p:spPr>
              <a:blipFill>
                <a:blip r:embed="rId4"/>
                <a:stretch>
                  <a:fillRect l="-5983"/>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E95224FF-41B3-6F4F-BA16-82206FFFC5D9}"/>
              </a:ext>
            </a:extLst>
          </p:cNvPr>
          <p:cNvSpPr>
            <a:spLocks noGrp="1"/>
          </p:cNvSpPr>
          <p:nvPr>
            <p:ph type="sldNum" sz="quarter" idx="12"/>
          </p:nvPr>
        </p:nvSpPr>
        <p:spPr/>
        <p:txBody>
          <a:bodyPr/>
          <a:lstStyle/>
          <a:p>
            <a:fld id="{4FAB73BC-B049-4115-A692-8D63A059BFB8}" type="slidenum">
              <a:rPr lang="en-US" smtClean="0"/>
              <a:pPr/>
              <a:t>32</a:t>
            </a:fld>
            <a:endParaRPr lang="en-US"/>
          </a:p>
        </p:txBody>
      </p:sp>
      <p:grpSp>
        <p:nvGrpSpPr>
          <p:cNvPr id="32" name="Group 31">
            <a:extLst>
              <a:ext uri="{FF2B5EF4-FFF2-40B4-BE49-F238E27FC236}">
                <a16:creationId xmlns:a16="http://schemas.microsoft.com/office/drawing/2014/main" id="{13D61922-561E-BB02-CA83-7781B9F7FCF4}"/>
              </a:ext>
            </a:extLst>
          </p:cNvPr>
          <p:cNvGrpSpPr/>
          <p:nvPr/>
        </p:nvGrpSpPr>
        <p:grpSpPr>
          <a:xfrm>
            <a:off x="3709965" y="2605930"/>
            <a:ext cx="3718872" cy="3378818"/>
            <a:chOff x="3757684" y="2244437"/>
            <a:chExt cx="3718872" cy="3378818"/>
          </a:xfrm>
        </p:grpSpPr>
        <p:grpSp>
          <p:nvGrpSpPr>
            <p:cNvPr id="7" name="Group 6">
              <a:extLst>
                <a:ext uri="{FF2B5EF4-FFF2-40B4-BE49-F238E27FC236}">
                  <a16:creationId xmlns:a16="http://schemas.microsoft.com/office/drawing/2014/main" id="{E273AE51-6DF4-EF6B-6ECD-65231A50B016}"/>
                </a:ext>
              </a:extLst>
            </p:cNvPr>
            <p:cNvGrpSpPr/>
            <p:nvPr/>
          </p:nvGrpSpPr>
          <p:grpSpPr>
            <a:xfrm>
              <a:off x="4430442" y="2244437"/>
              <a:ext cx="3046114" cy="2925473"/>
              <a:chOff x="1154405" y="4348727"/>
              <a:chExt cx="2092626" cy="1900188"/>
            </a:xfrm>
          </p:grpSpPr>
          <p:grpSp>
            <p:nvGrpSpPr>
              <p:cNvPr id="8" name="Group 7">
                <a:extLst>
                  <a:ext uri="{FF2B5EF4-FFF2-40B4-BE49-F238E27FC236}">
                    <a16:creationId xmlns:a16="http://schemas.microsoft.com/office/drawing/2014/main" id="{87E26CDF-614F-5DA6-D452-2328F241DC47}"/>
                  </a:ext>
                </a:extLst>
              </p:cNvPr>
              <p:cNvGrpSpPr/>
              <p:nvPr/>
            </p:nvGrpSpPr>
            <p:grpSpPr>
              <a:xfrm>
                <a:off x="1154405" y="4348727"/>
                <a:ext cx="2092626" cy="1900188"/>
                <a:chOff x="1284286" y="707085"/>
                <a:chExt cx="2092626" cy="1900188"/>
              </a:xfrm>
            </p:grpSpPr>
            <p:cxnSp>
              <p:nvCxnSpPr>
                <p:cNvPr id="15" name="Straight Connector 14">
                  <a:extLst>
                    <a:ext uri="{FF2B5EF4-FFF2-40B4-BE49-F238E27FC236}">
                      <a16:creationId xmlns:a16="http://schemas.microsoft.com/office/drawing/2014/main" id="{5EE36D32-E4AD-CAC4-E787-58B9E2BA8C4A}"/>
                    </a:ext>
                  </a:extLst>
                </p:cNvPr>
                <p:cNvCxnSpPr/>
                <p:nvPr/>
              </p:nvCxnSpPr>
              <p:spPr>
                <a:xfrm>
                  <a:off x="1284286" y="2607272"/>
                  <a:ext cx="2092626" cy="1"/>
                </a:xfrm>
                <a:prstGeom prst="line">
                  <a:avLst/>
                </a:prstGeom>
                <a:ln>
                  <a:tailEnd type="triangle" w="lg" len="lg"/>
                </a:ln>
                <a:effectLst/>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FD4F5867-A07D-199F-6455-8FAD18A7EC89}"/>
                    </a:ext>
                  </a:extLst>
                </p:cNvPr>
                <p:cNvCxnSpPr/>
                <p:nvPr/>
              </p:nvCxnSpPr>
              <p:spPr>
                <a:xfrm flipV="1">
                  <a:off x="1284286" y="707085"/>
                  <a:ext cx="0" cy="1900188"/>
                </a:xfrm>
                <a:prstGeom prst="line">
                  <a:avLst/>
                </a:prstGeom>
                <a:ln>
                  <a:tailEnd type="triangle" w="lg" len="lg"/>
                </a:ln>
                <a:effectLst/>
              </p:spPr>
              <p:style>
                <a:lnRef idx="2">
                  <a:schemeClr val="dk1"/>
                </a:lnRef>
                <a:fillRef idx="0">
                  <a:schemeClr val="dk1"/>
                </a:fillRef>
                <a:effectRef idx="1">
                  <a:schemeClr val="dk1"/>
                </a:effectRef>
                <a:fontRef idx="minor">
                  <a:schemeClr val="tx1"/>
                </a:fontRef>
              </p:style>
            </p:cxnSp>
          </p:grpSp>
          <p:sp>
            <p:nvSpPr>
              <p:cNvPr id="9" name="Oval 8">
                <a:extLst>
                  <a:ext uri="{FF2B5EF4-FFF2-40B4-BE49-F238E27FC236}">
                    <a16:creationId xmlns:a16="http://schemas.microsoft.com/office/drawing/2014/main" id="{F35D17EE-FD03-29A6-8DBB-9DF0D180844C}"/>
                  </a:ext>
                </a:extLst>
              </p:cNvPr>
              <p:cNvSpPr/>
              <p:nvPr/>
            </p:nvSpPr>
            <p:spPr>
              <a:xfrm>
                <a:off x="1284286" y="4699964"/>
                <a:ext cx="251599" cy="245663"/>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i="1">
                  <a:latin typeface="Times New Roman"/>
                  <a:cs typeface="Times New Roman"/>
                </a:endParaRPr>
              </a:p>
            </p:txBody>
          </p:sp>
          <p:sp>
            <p:nvSpPr>
              <p:cNvPr id="10" name="Cross 9">
                <a:extLst>
                  <a:ext uri="{FF2B5EF4-FFF2-40B4-BE49-F238E27FC236}">
                    <a16:creationId xmlns:a16="http://schemas.microsoft.com/office/drawing/2014/main" id="{322FAA7D-231D-DECC-4BF6-68F975FCD836}"/>
                  </a:ext>
                </a:extLst>
              </p:cNvPr>
              <p:cNvSpPr/>
              <p:nvPr/>
            </p:nvSpPr>
            <p:spPr>
              <a:xfrm>
                <a:off x="2545080" y="5539236"/>
                <a:ext cx="274320" cy="274320"/>
              </a:xfrm>
              <a:prstGeom prst="plus">
                <a:avLst>
                  <a:gd name="adj" fmla="val 40367"/>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07EACBEB-296E-2EE1-ACBF-761CFBCAD523}"/>
                  </a:ext>
                </a:extLst>
              </p:cNvPr>
              <p:cNvSpPr/>
              <p:nvPr/>
            </p:nvSpPr>
            <p:spPr>
              <a:xfrm>
                <a:off x="2682240" y="4945627"/>
                <a:ext cx="274320" cy="274320"/>
              </a:xfrm>
              <a:prstGeom prst="plus">
                <a:avLst>
                  <a:gd name="adj" fmla="val 40367"/>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Cross 11">
                <a:extLst>
                  <a:ext uri="{FF2B5EF4-FFF2-40B4-BE49-F238E27FC236}">
                    <a16:creationId xmlns:a16="http://schemas.microsoft.com/office/drawing/2014/main" id="{901D9A6B-349B-7F67-9817-079D2D274AB1}"/>
                  </a:ext>
                </a:extLst>
              </p:cNvPr>
              <p:cNvSpPr/>
              <p:nvPr/>
            </p:nvSpPr>
            <p:spPr>
              <a:xfrm>
                <a:off x="2063558" y="5622680"/>
                <a:ext cx="274320" cy="274320"/>
              </a:xfrm>
              <a:prstGeom prst="plus">
                <a:avLst>
                  <a:gd name="adj" fmla="val 40367"/>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FB2CDAC-87E9-D70E-1DA0-37C6BD7E2F6E}"/>
                  </a:ext>
                </a:extLst>
              </p:cNvPr>
              <p:cNvSpPr/>
              <p:nvPr/>
            </p:nvSpPr>
            <p:spPr>
              <a:xfrm>
                <a:off x="1731664" y="4640813"/>
                <a:ext cx="251599" cy="245663"/>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i="1">
                  <a:latin typeface="Times New Roman"/>
                  <a:cs typeface="Times New Roman"/>
                </a:endParaRPr>
              </a:p>
            </p:txBody>
          </p:sp>
          <p:sp>
            <p:nvSpPr>
              <p:cNvPr id="14" name="Oval 13">
                <a:extLst>
                  <a:ext uri="{FF2B5EF4-FFF2-40B4-BE49-F238E27FC236}">
                    <a16:creationId xmlns:a16="http://schemas.microsoft.com/office/drawing/2014/main" id="{D0C02C64-0FB3-1578-A038-349A3C1325D1}"/>
                  </a:ext>
                </a:extLst>
              </p:cNvPr>
              <p:cNvSpPr/>
              <p:nvPr/>
            </p:nvSpPr>
            <p:spPr>
              <a:xfrm>
                <a:off x="1410085" y="5124816"/>
                <a:ext cx="251599" cy="245663"/>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i="1">
                  <a:latin typeface="Times New Roman"/>
                  <a:cs typeface="Times New Roman"/>
                </a:endParaRPr>
              </a:p>
            </p:txBody>
          </p:sp>
        </p:grpSp>
        <p:sp>
          <p:nvSpPr>
            <p:cNvPr id="17" name="TextBox 16">
              <a:extLst>
                <a:ext uri="{FF2B5EF4-FFF2-40B4-BE49-F238E27FC236}">
                  <a16:creationId xmlns:a16="http://schemas.microsoft.com/office/drawing/2014/main" id="{7ED48D64-D96C-94E5-AC6C-F596F5132111}"/>
                </a:ext>
              </a:extLst>
            </p:cNvPr>
            <p:cNvSpPr txBox="1"/>
            <p:nvPr/>
          </p:nvSpPr>
          <p:spPr>
            <a:xfrm>
              <a:off x="3757684" y="2838202"/>
              <a:ext cx="759340" cy="2064684"/>
            </a:xfrm>
            <a:prstGeom prst="rect">
              <a:avLst/>
            </a:prstGeom>
            <a:noFill/>
          </p:spPr>
          <p:txBody>
            <a:bodyPr vert="vert270" wrap="square" rtlCol="0" anchor="ctr">
              <a:noAutofit/>
            </a:bodyPr>
            <a:lstStyle/>
            <a:p>
              <a:pPr algn="ctr"/>
              <a:r>
                <a:rPr lang="en-US">
                  <a:solidFill>
                    <a:schemeClr val="tx1">
                      <a:lumMod val="65000"/>
                      <a:lumOff val="35000"/>
                    </a:schemeClr>
                  </a:solidFill>
                  <a:latin typeface="Calibri" panose="020F0502020204030204" pitchFamily="34" charset="0"/>
                  <a:cs typeface="Calibri" panose="020F0502020204030204" pitchFamily="34" charset="0"/>
                </a:rPr>
                <a:t>sepal length (cm)</a:t>
              </a:r>
            </a:p>
          </p:txBody>
        </p:sp>
        <p:sp>
          <p:nvSpPr>
            <p:cNvPr id="18" name="TextBox 17">
              <a:extLst>
                <a:ext uri="{FF2B5EF4-FFF2-40B4-BE49-F238E27FC236}">
                  <a16:creationId xmlns:a16="http://schemas.microsoft.com/office/drawing/2014/main" id="{2655CB98-35E2-B604-828A-961C5B6105EF}"/>
                </a:ext>
              </a:extLst>
            </p:cNvPr>
            <p:cNvSpPr txBox="1"/>
            <p:nvPr/>
          </p:nvSpPr>
          <p:spPr>
            <a:xfrm>
              <a:off x="4473622" y="5072009"/>
              <a:ext cx="2673266" cy="551246"/>
            </a:xfrm>
            <a:prstGeom prst="rect">
              <a:avLst/>
            </a:prstGeom>
            <a:noFill/>
          </p:spPr>
          <p:txBody>
            <a:bodyPr wrap="square" rtlCol="0" anchor="ctr">
              <a:noAutofit/>
            </a:bodyPr>
            <a:lstStyle/>
            <a:p>
              <a:pPr algn="ctr"/>
              <a:r>
                <a:rPr lang="en-US">
                  <a:solidFill>
                    <a:schemeClr val="tx1">
                      <a:lumMod val="65000"/>
                      <a:lumOff val="35000"/>
                    </a:schemeClr>
                  </a:solidFill>
                  <a:latin typeface="Calibri" panose="020F0502020204030204" pitchFamily="34" charset="0"/>
                  <a:cs typeface="Calibri" panose="020F0502020204030204" pitchFamily="34" charset="0"/>
                </a:rPr>
                <a:t>sepal width (cm)</a:t>
              </a:r>
            </a:p>
          </p:txBody>
        </p:sp>
      </p:grpSp>
      <p:grpSp>
        <p:nvGrpSpPr>
          <p:cNvPr id="33" name="Group 32">
            <a:extLst>
              <a:ext uri="{FF2B5EF4-FFF2-40B4-BE49-F238E27FC236}">
                <a16:creationId xmlns:a16="http://schemas.microsoft.com/office/drawing/2014/main" id="{9DD19FA0-BB37-6C17-E592-5C3C5768C1CB}"/>
              </a:ext>
            </a:extLst>
          </p:cNvPr>
          <p:cNvGrpSpPr/>
          <p:nvPr/>
        </p:nvGrpSpPr>
        <p:grpSpPr>
          <a:xfrm>
            <a:off x="7346485" y="2600400"/>
            <a:ext cx="3697099" cy="3384348"/>
            <a:chOff x="7109446" y="2244436"/>
            <a:chExt cx="3697099" cy="3384348"/>
          </a:xfrm>
        </p:grpSpPr>
        <p:grpSp>
          <p:nvGrpSpPr>
            <p:cNvPr id="19" name="Group 18">
              <a:extLst>
                <a:ext uri="{FF2B5EF4-FFF2-40B4-BE49-F238E27FC236}">
                  <a16:creationId xmlns:a16="http://schemas.microsoft.com/office/drawing/2014/main" id="{49D389C4-BDFA-0EE1-DA5B-EACF95695FA3}"/>
                </a:ext>
              </a:extLst>
            </p:cNvPr>
            <p:cNvGrpSpPr/>
            <p:nvPr/>
          </p:nvGrpSpPr>
          <p:grpSpPr>
            <a:xfrm>
              <a:off x="7760431" y="2244436"/>
              <a:ext cx="3046114" cy="2925473"/>
              <a:chOff x="1154405" y="4348727"/>
              <a:chExt cx="2092626" cy="1900188"/>
            </a:xfrm>
          </p:grpSpPr>
          <p:grpSp>
            <p:nvGrpSpPr>
              <p:cNvPr id="20" name="Group 19">
                <a:extLst>
                  <a:ext uri="{FF2B5EF4-FFF2-40B4-BE49-F238E27FC236}">
                    <a16:creationId xmlns:a16="http://schemas.microsoft.com/office/drawing/2014/main" id="{54ABA8EB-819D-7FED-999D-306604008D77}"/>
                  </a:ext>
                </a:extLst>
              </p:cNvPr>
              <p:cNvGrpSpPr/>
              <p:nvPr/>
            </p:nvGrpSpPr>
            <p:grpSpPr>
              <a:xfrm>
                <a:off x="1154405" y="4348727"/>
                <a:ext cx="2092626" cy="1900188"/>
                <a:chOff x="1284286" y="707085"/>
                <a:chExt cx="2092626" cy="1900188"/>
              </a:xfrm>
            </p:grpSpPr>
            <p:cxnSp>
              <p:nvCxnSpPr>
                <p:cNvPr id="27" name="Straight Connector 26">
                  <a:extLst>
                    <a:ext uri="{FF2B5EF4-FFF2-40B4-BE49-F238E27FC236}">
                      <a16:creationId xmlns:a16="http://schemas.microsoft.com/office/drawing/2014/main" id="{917E3945-F345-56C2-692F-E94CAD1F653A}"/>
                    </a:ext>
                  </a:extLst>
                </p:cNvPr>
                <p:cNvCxnSpPr/>
                <p:nvPr/>
              </p:nvCxnSpPr>
              <p:spPr>
                <a:xfrm>
                  <a:off x="1284286" y="2607272"/>
                  <a:ext cx="2092626" cy="1"/>
                </a:xfrm>
                <a:prstGeom prst="line">
                  <a:avLst/>
                </a:prstGeom>
                <a:ln>
                  <a:tailEnd type="triangle" w="lg" len="lg"/>
                </a:ln>
                <a:effectLst/>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F13B2FD0-83D2-325D-C0E4-61A1431F2F8E}"/>
                    </a:ext>
                  </a:extLst>
                </p:cNvPr>
                <p:cNvCxnSpPr/>
                <p:nvPr/>
              </p:nvCxnSpPr>
              <p:spPr>
                <a:xfrm flipV="1">
                  <a:off x="1284286" y="707085"/>
                  <a:ext cx="0" cy="1900188"/>
                </a:xfrm>
                <a:prstGeom prst="line">
                  <a:avLst/>
                </a:prstGeom>
                <a:ln>
                  <a:tailEnd type="triangle" w="lg" len="lg"/>
                </a:ln>
                <a:effectLst/>
              </p:spPr>
              <p:style>
                <a:lnRef idx="2">
                  <a:schemeClr val="dk1"/>
                </a:lnRef>
                <a:fillRef idx="0">
                  <a:schemeClr val="dk1"/>
                </a:fillRef>
                <a:effectRef idx="1">
                  <a:schemeClr val="dk1"/>
                </a:effectRef>
                <a:fontRef idx="minor">
                  <a:schemeClr val="tx1"/>
                </a:fontRef>
              </p:style>
            </p:cxnSp>
          </p:grpSp>
          <p:sp>
            <p:nvSpPr>
              <p:cNvPr id="21" name="Oval 20">
                <a:extLst>
                  <a:ext uri="{FF2B5EF4-FFF2-40B4-BE49-F238E27FC236}">
                    <a16:creationId xmlns:a16="http://schemas.microsoft.com/office/drawing/2014/main" id="{D9F5EF55-11D9-2924-EFE4-53E63F93678E}"/>
                  </a:ext>
                </a:extLst>
              </p:cNvPr>
              <p:cNvSpPr/>
              <p:nvPr/>
            </p:nvSpPr>
            <p:spPr>
              <a:xfrm>
                <a:off x="1347786" y="4699964"/>
                <a:ext cx="251599" cy="245663"/>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i="1">
                  <a:latin typeface="Times New Roman"/>
                  <a:cs typeface="Times New Roman"/>
                </a:endParaRPr>
              </a:p>
            </p:txBody>
          </p:sp>
          <p:sp>
            <p:nvSpPr>
              <p:cNvPr id="22" name="Cross 21">
                <a:extLst>
                  <a:ext uri="{FF2B5EF4-FFF2-40B4-BE49-F238E27FC236}">
                    <a16:creationId xmlns:a16="http://schemas.microsoft.com/office/drawing/2014/main" id="{47912822-77E7-1583-7A9D-093E65350A67}"/>
                  </a:ext>
                </a:extLst>
              </p:cNvPr>
              <p:cNvSpPr/>
              <p:nvPr/>
            </p:nvSpPr>
            <p:spPr>
              <a:xfrm>
                <a:off x="1706880" y="5539236"/>
                <a:ext cx="274320" cy="274320"/>
              </a:xfrm>
              <a:prstGeom prst="plus">
                <a:avLst>
                  <a:gd name="adj" fmla="val 40367"/>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Cross 22">
                <a:extLst>
                  <a:ext uri="{FF2B5EF4-FFF2-40B4-BE49-F238E27FC236}">
                    <a16:creationId xmlns:a16="http://schemas.microsoft.com/office/drawing/2014/main" id="{15F246E9-CEE3-BC7F-06C6-861A89E80BB1}"/>
                  </a:ext>
                </a:extLst>
              </p:cNvPr>
              <p:cNvSpPr/>
              <p:nvPr/>
            </p:nvSpPr>
            <p:spPr>
              <a:xfrm>
                <a:off x="1742440" y="4945627"/>
                <a:ext cx="274320" cy="274320"/>
              </a:xfrm>
              <a:prstGeom prst="plus">
                <a:avLst>
                  <a:gd name="adj" fmla="val 40367"/>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Cross 23">
                <a:extLst>
                  <a:ext uri="{FF2B5EF4-FFF2-40B4-BE49-F238E27FC236}">
                    <a16:creationId xmlns:a16="http://schemas.microsoft.com/office/drawing/2014/main" id="{1811E814-F21D-E783-8FAC-34F96274DB47}"/>
                  </a:ext>
                </a:extLst>
              </p:cNvPr>
              <p:cNvSpPr/>
              <p:nvPr/>
            </p:nvSpPr>
            <p:spPr>
              <a:xfrm>
                <a:off x="1517458" y="5622680"/>
                <a:ext cx="274320" cy="274320"/>
              </a:xfrm>
              <a:prstGeom prst="plus">
                <a:avLst>
                  <a:gd name="adj" fmla="val 40367"/>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C8BF900-BF5B-C8FB-EBD1-40EF78C139B7}"/>
                  </a:ext>
                </a:extLst>
              </p:cNvPr>
              <p:cNvSpPr/>
              <p:nvPr/>
            </p:nvSpPr>
            <p:spPr>
              <a:xfrm>
                <a:off x="1541164" y="4640813"/>
                <a:ext cx="251599" cy="245663"/>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i="1">
                  <a:latin typeface="Times New Roman"/>
                  <a:cs typeface="Times New Roman"/>
                </a:endParaRPr>
              </a:p>
            </p:txBody>
          </p:sp>
          <p:sp>
            <p:nvSpPr>
              <p:cNvPr id="26" name="Oval 25">
                <a:extLst>
                  <a:ext uri="{FF2B5EF4-FFF2-40B4-BE49-F238E27FC236}">
                    <a16:creationId xmlns:a16="http://schemas.microsoft.com/office/drawing/2014/main" id="{6C5D3F29-EFC7-7033-E7DC-1AF68E229269}"/>
                  </a:ext>
                </a:extLst>
              </p:cNvPr>
              <p:cNvSpPr/>
              <p:nvPr/>
            </p:nvSpPr>
            <p:spPr>
              <a:xfrm>
                <a:off x="1410085" y="5124816"/>
                <a:ext cx="251599" cy="245663"/>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i="1">
                  <a:latin typeface="Times New Roman"/>
                  <a:cs typeface="Times New Roman"/>
                </a:endParaRPr>
              </a:p>
            </p:txBody>
          </p:sp>
        </p:grpSp>
        <p:sp>
          <p:nvSpPr>
            <p:cNvPr id="30" name="TextBox 29">
              <a:extLst>
                <a:ext uri="{FF2B5EF4-FFF2-40B4-BE49-F238E27FC236}">
                  <a16:creationId xmlns:a16="http://schemas.microsoft.com/office/drawing/2014/main" id="{52DAF370-297F-5455-6CFE-BD1C55B0FB8F}"/>
                </a:ext>
              </a:extLst>
            </p:cNvPr>
            <p:cNvSpPr txBox="1"/>
            <p:nvPr/>
          </p:nvSpPr>
          <p:spPr>
            <a:xfrm>
              <a:off x="7109446" y="2781783"/>
              <a:ext cx="759340" cy="2064684"/>
            </a:xfrm>
            <a:prstGeom prst="rect">
              <a:avLst/>
            </a:prstGeom>
            <a:noFill/>
          </p:spPr>
          <p:txBody>
            <a:bodyPr vert="vert270" wrap="square" rtlCol="0" anchor="ctr">
              <a:noAutofit/>
            </a:bodyPr>
            <a:lstStyle/>
            <a:p>
              <a:pPr algn="ctr"/>
              <a:r>
                <a:rPr lang="en-US">
                  <a:solidFill>
                    <a:schemeClr val="tx1">
                      <a:lumMod val="65000"/>
                      <a:lumOff val="35000"/>
                    </a:schemeClr>
                  </a:solidFill>
                  <a:latin typeface="Calibri" panose="020F0502020204030204" pitchFamily="34" charset="0"/>
                  <a:cs typeface="Calibri" panose="020F0502020204030204" pitchFamily="34" charset="0"/>
                </a:rPr>
                <a:t>sepal length (cm)</a:t>
              </a:r>
            </a:p>
          </p:txBody>
        </p:sp>
        <p:sp>
          <p:nvSpPr>
            <p:cNvPr id="31" name="TextBox 30">
              <a:extLst>
                <a:ext uri="{FF2B5EF4-FFF2-40B4-BE49-F238E27FC236}">
                  <a16:creationId xmlns:a16="http://schemas.microsoft.com/office/drawing/2014/main" id="{D8D8EA0F-EB6D-62A7-B7A1-1A2C6143F21B}"/>
                </a:ext>
              </a:extLst>
            </p:cNvPr>
            <p:cNvSpPr txBox="1"/>
            <p:nvPr/>
          </p:nvSpPr>
          <p:spPr>
            <a:xfrm>
              <a:off x="7888501" y="5077538"/>
              <a:ext cx="2673266" cy="551246"/>
            </a:xfrm>
            <a:prstGeom prst="rect">
              <a:avLst/>
            </a:prstGeom>
            <a:noFill/>
          </p:spPr>
          <p:txBody>
            <a:bodyPr wrap="square" rtlCol="0" anchor="ctr">
              <a:noAutofit/>
            </a:bodyPr>
            <a:lstStyle/>
            <a:p>
              <a:pPr algn="ctr"/>
              <a:r>
                <a:rPr lang="en-US">
                  <a:solidFill>
                    <a:schemeClr val="tx1">
                      <a:lumMod val="65000"/>
                      <a:lumOff val="35000"/>
                    </a:schemeClr>
                  </a:solidFill>
                  <a:latin typeface="Calibri" panose="020F0502020204030204" pitchFamily="34" charset="0"/>
                  <a:cs typeface="Calibri" panose="020F0502020204030204" pitchFamily="34" charset="0"/>
                </a:rPr>
                <a:t>sepal width (m)</a:t>
              </a:r>
            </a:p>
          </p:txBody>
        </p:sp>
      </p:grpSp>
      <p:sp>
        <p:nvSpPr>
          <p:cNvPr id="39" name="Date Placeholder 3">
            <a:extLst>
              <a:ext uri="{FF2B5EF4-FFF2-40B4-BE49-F238E27FC236}">
                <a16:creationId xmlns:a16="http://schemas.microsoft.com/office/drawing/2014/main" id="{42E23B82-3EAE-7D32-6413-C827F3E990EF}"/>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Figure courtesy of Matt Gormley</a:t>
            </a:r>
          </a:p>
        </p:txBody>
      </p:sp>
    </p:spTree>
    <p:extLst>
      <p:ext uri="{BB962C8B-B14F-4D97-AF65-F5344CB8AC3E}">
        <p14:creationId xmlns:p14="http://schemas.microsoft.com/office/powerpoint/2010/main" val="4267587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95BAC56-CA4A-5645-A2DD-69531453893A}"/>
                  </a:ext>
                </a:extLst>
              </p:cNvPr>
              <p:cNvSpPr>
                <a:spLocks noGrp="1"/>
              </p:cNvSpPr>
              <p:nvPr>
                <p:ph type="title"/>
              </p:nvPr>
            </p:nvSpPr>
            <p:spPr/>
            <p:txBody>
              <a:bodyPr/>
              <a:lstStyle/>
              <a:p>
                <a:r>
                  <a:rPr lang="en-US"/>
                  <a:t>Setting </a:t>
                </a:r>
                <a14:m>
                  <m:oMath xmlns:m="http://schemas.openxmlformats.org/officeDocument/2006/math">
                    <m:r>
                      <a:rPr lang="en-US" i="1">
                        <a:latin typeface="Cambria Math" panose="02040503050406030204" pitchFamily="18" charset="0"/>
                      </a:rPr>
                      <m:t>𝑘</m:t>
                    </m:r>
                  </m:oMath>
                </a14:m>
                <a:endParaRPr lang="en-US"/>
              </a:p>
            </p:txBody>
          </p:sp>
        </mc:Choice>
        <mc:Fallback xmlns="">
          <p:sp>
            <p:nvSpPr>
              <p:cNvPr id="2" name="Title 1">
                <a:extLst>
                  <a:ext uri="{FF2B5EF4-FFF2-40B4-BE49-F238E27FC236}">
                    <a16:creationId xmlns:a16="http://schemas.microsoft.com/office/drawing/2014/main" id="{F95BAC56-CA4A-5645-A2DD-69531453893A}"/>
                  </a:ext>
                </a:extLst>
              </p:cNvPr>
              <p:cNvSpPr>
                <a:spLocks noGrp="1" noRot="1" noChangeAspect="1" noMove="1" noResize="1" noEditPoints="1" noAdjustHandles="1" noChangeArrowheads="1" noChangeShapeType="1" noTextEdit="1"/>
              </p:cNvSpPr>
              <p:nvPr>
                <p:ph type="title"/>
              </p:nvPr>
            </p:nvSpPr>
            <p:spPr>
              <a:blipFill>
                <a:blip r:embed="rId3"/>
                <a:stretch>
                  <a:fillRect l="-59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F80F71-7C49-6E46-8C54-D73EAD422853}"/>
                  </a:ext>
                </a:extLst>
              </p:cNvPr>
              <p:cNvSpPr>
                <a:spLocks noGrp="1"/>
              </p:cNvSpPr>
              <p:nvPr>
                <p:ph idx="1"/>
              </p:nvPr>
            </p:nvSpPr>
            <p:spPr>
              <a:xfrm>
                <a:off x="3869268" y="864108"/>
                <a:ext cx="7315200" cy="5120640"/>
              </a:xfrm>
            </p:spPr>
            <p:txBody>
              <a:bodyPr>
                <a:noAutofit/>
              </a:bodyPr>
              <a:lstStyle/>
              <a:p>
                <a:pPr>
                  <a:lnSpc>
                    <a:spcPct val="130000"/>
                  </a:lnSpc>
                </a:pPr>
                <a:r>
                  <a:rPr lang="en-US"/>
                  <a:t>When</a:t>
                </a:r>
                <a:r>
                  <a:rPr lang="en-US">
                    <a:solidFill>
                      <a:schemeClr val="accent6">
                        <a:lumMod val="75000"/>
                      </a:schemeClr>
                    </a:solidFill>
                  </a:rPr>
                  <a:t> </a:t>
                </a:r>
                <a14:m>
                  <m:oMath xmlns:m="http://schemas.openxmlformats.org/officeDocument/2006/math">
                    <m:r>
                      <a:rPr lang="en-US" i="1" smtClean="0">
                        <a:solidFill>
                          <a:schemeClr val="accent6">
                            <a:lumMod val="75000"/>
                          </a:schemeClr>
                        </a:solidFill>
                        <a:latin typeface="Cambria Math" panose="02040503050406030204" pitchFamily="18" charset="0"/>
                      </a:rPr>
                      <m:t>𝑘</m:t>
                    </m:r>
                    <m:r>
                      <a:rPr lang="en-US" b="0" i="1" smtClean="0">
                        <a:solidFill>
                          <a:schemeClr val="accent6">
                            <a:lumMod val="75000"/>
                          </a:schemeClr>
                        </a:solidFill>
                        <a:latin typeface="Cambria Math" panose="02040503050406030204" pitchFamily="18" charset="0"/>
                      </a:rPr>
                      <m:t>=1</m:t>
                    </m:r>
                  </m:oMath>
                </a14:m>
                <a:r>
                  <a:rPr lang="en-US"/>
                  <a:t>:</a:t>
                </a:r>
              </a:p>
              <a:p>
                <a:pPr lvl="1">
                  <a:lnSpc>
                    <a:spcPct val="130000"/>
                  </a:lnSpc>
                </a:pPr>
                <a:r>
                  <a:rPr lang="en-US" sz="2400"/>
                  <a:t>many, complicated decision boundaries </a:t>
                </a:r>
              </a:p>
              <a:p>
                <a:pPr lvl="1">
                  <a:lnSpc>
                    <a:spcPct val="130000"/>
                  </a:lnSpc>
                </a:pPr>
                <a:r>
                  <a:rPr lang="en-US" sz="2400"/>
                  <a:t>may </a:t>
                </a:r>
                <a:r>
                  <a:rPr lang="en-US" sz="2400" b="1" i="1"/>
                  <a:t>overfit</a:t>
                </a:r>
              </a:p>
              <a:p>
                <a:pPr>
                  <a:lnSpc>
                    <a:spcPct val="130000"/>
                  </a:lnSpc>
                </a:pPr>
                <a:r>
                  <a:rPr lang="en-US"/>
                  <a:t>When </a:t>
                </a:r>
                <a14:m>
                  <m:oMath xmlns:m="http://schemas.openxmlformats.org/officeDocument/2006/math">
                    <m:r>
                      <a:rPr lang="en-US" i="1" smtClean="0">
                        <a:solidFill>
                          <a:schemeClr val="accent6">
                            <a:lumMod val="75000"/>
                          </a:schemeClr>
                        </a:solidFill>
                        <a:latin typeface="Cambria Math" panose="02040503050406030204" pitchFamily="18" charset="0"/>
                      </a:rPr>
                      <m:t>𝑘</m:t>
                    </m:r>
                    <m:r>
                      <a:rPr lang="en-US" i="1" smtClean="0">
                        <a:solidFill>
                          <a:schemeClr val="accent6">
                            <a:lumMod val="75000"/>
                          </a:schemeClr>
                        </a:solidFill>
                        <a:latin typeface="Cambria Math" panose="02040503050406030204" pitchFamily="18" charset="0"/>
                      </a:rPr>
                      <m:t>=</m:t>
                    </m:r>
                    <m:r>
                      <a:rPr lang="en-US" b="0" i="1" smtClean="0">
                        <a:solidFill>
                          <a:schemeClr val="accent6">
                            <a:lumMod val="75000"/>
                          </a:schemeClr>
                        </a:solidFill>
                        <a:latin typeface="Cambria Math" panose="02040503050406030204" pitchFamily="18" charset="0"/>
                      </a:rPr>
                      <m:t>𝑁</m:t>
                    </m:r>
                  </m:oMath>
                </a14:m>
                <a:r>
                  <a:rPr lang="en-US"/>
                  <a:t>:</a:t>
                </a:r>
              </a:p>
              <a:p>
                <a:pPr lvl="1">
                  <a:lnSpc>
                    <a:spcPct val="130000"/>
                  </a:lnSpc>
                </a:pPr>
                <a:r>
                  <a:rPr lang="en-US" sz="2400"/>
                  <a:t>no decision boundaries; always predicts the most common label in the training data </a:t>
                </a:r>
              </a:p>
              <a:p>
                <a:pPr lvl="1">
                  <a:lnSpc>
                    <a:spcPct val="130000"/>
                  </a:lnSpc>
                </a:pPr>
                <a:r>
                  <a:rPr lang="en-US" sz="2400"/>
                  <a:t>may </a:t>
                </a:r>
                <a:r>
                  <a:rPr lang="en-US" sz="2400" b="1" i="1"/>
                  <a:t>underfit</a:t>
                </a:r>
              </a:p>
              <a:p>
                <a:pPr>
                  <a:lnSpc>
                    <a:spcPct val="130000"/>
                  </a:lnSpc>
                </a:pPr>
                <a14:m>
                  <m:oMath xmlns:m="http://schemas.openxmlformats.org/officeDocument/2006/math">
                    <m:r>
                      <a:rPr lang="en-US" i="1" smtClean="0">
                        <a:solidFill>
                          <a:schemeClr val="accent6">
                            <a:lumMod val="75000"/>
                          </a:schemeClr>
                        </a:solidFill>
                        <a:latin typeface="Cambria Math" panose="02040503050406030204" pitchFamily="18" charset="0"/>
                      </a:rPr>
                      <m:t>𝑘</m:t>
                    </m:r>
                  </m:oMath>
                </a14:m>
                <a:r>
                  <a:rPr lang="en-US">
                    <a:solidFill>
                      <a:schemeClr val="accent6">
                        <a:lumMod val="75000"/>
                      </a:schemeClr>
                    </a:solidFill>
                  </a:rPr>
                  <a:t> </a:t>
                </a:r>
                <a:r>
                  <a:rPr lang="en-US"/>
                  <a:t>controls the complexity of the hypothesis set </a:t>
                </a:r>
                <a14:m>
                  <m:oMath xmlns:m="http://schemas.openxmlformats.org/officeDocument/2006/math">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US" i="1" smtClean="0">
                        <a:solidFill>
                          <a:schemeClr val="accent6">
                            <a:lumMod val="75000"/>
                          </a:schemeClr>
                        </a:solidFill>
                        <a:latin typeface="Cambria Math" panose="02040503050406030204" pitchFamily="18" charset="0"/>
                      </a:rPr>
                      <m:t>𝑘</m:t>
                    </m:r>
                  </m:oMath>
                </a14:m>
                <a:r>
                  <a:rPr lang="en-US"/>
                  <a:t> affects how well the learned hypothesis will generalize</a:t>
                </a:r>
              </a:p>
            </p:txBody>
          </p:sp>
        </mc:Choice>
        <mc:Fallback xmlns="">
          <p:sp>
            <p:nvSpPr>
              <p:cNvPr id="3" name="Content Placeholder 2">
                <a:extLst>
                  <a:ext uri="{FF2B5EF4-FFF2-40B4-BE49-F238E27FC236}">
                    <a16:creationId xmlns:a16="http://schemas.microsoft.com/office/drawing/2014/main" id="{F6F80F71-7C49-6E46-8C54-D73EAD422853}"/>
                  </a:ext>
                </a:extLst>
              </p:cNvPr>
              <p:cNvSpPr>
                <a:spLocks noGrp="1" noRot="1" noChangeAspect="1" noMove="1" noResize="1" noEditPoints="1" noAdjustHandles="1" noChangeArrowheads="1" noChangeShapeType="1" noTextEdit="1"/>
              </p:cNvSpPr>
              <p:nvPr>
                <p:ph idx="1"/>
              </p:nvPr>
            </p:nvSpPr>
            <p:spPr>
              <a:xfrm>
                <a:off x="3869268" y="864108"/>
                <a:ext cx="7315200" cy="5120640"/>
              </a:xfrm>
              <a:blipFill>
                <a:blip r:embed="rId4"/>
                <a:stretch>
                  <a:fillRect l="-867" b="-990"/>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702BA642-4A64-434A-9003-71C8884285F0}"/>
              </a:ext>
            </a:extLst>
          </p:cNvPr>
          <p:cNvSpPr>
            <a:spLocks noGrp="1"/>
          </p:cNvSpPr>
          <p:nvPr>
            <p:ph type="sldNum" sz="quarter" idx="12"/>
          </p:nvPr>
        </p:nvSpPr>
        <p:spPr/>
        <p:txBody>
          <a:bodyPr/>
          <a:lstStyle/>
          <a:p>
            <a:fld id="{4FAB73BC-B049-4115-A692-8D63A059BFB8}" type="slidenum">
              <a:rPr lang="en-US" smtClean="0"/>
              <a:pPr/>
              <a:t>33</a:t>
            </a:fld>
            <a:endParaRPr lang="en-US"/>
          </a:p>
        </p:txBody>
      </p:sp>
    </p:spTree>
    <p:extLst>
      <p:ext uri="{BB962C8B-B14F-4D97-AF65-F5344CB8AC3E}">
        <p14:creationId xmlns:p14="http://schemas.microsoft.com/office/powerpoint/2010/main" val="3143653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25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25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25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95BAC56-CA4A-5645-A2DD-69531453893A}"/>
                  </a:ext>
                </a:extLst>
              </p:cNvPr>
              <p:cNvSpPr>
                <a:spLocks noGrp="1"/>
              </p:cNvSpPr>
              <p:nvPr>
                <p:ph type="title"/>
              </p:nvPr>
            </p:nvSpPr>
            <p:spPr/>
            <p:txBody>
              <a:bodyPr/>
              <a:lstStyle/>
              <a:p>
                <a:r>
                  <a:rPr lang="en-US"/>
                  <a:t>Setting </a:t>
                </a:r>
                <a14:m>
                  <m:oMath xmlns:m="http://schemas.openxmlformats.org/officeDocument/2006/math">
                    <m:r>
                      <a:rPr lang="en-US" i="1">
                        <a:latin typeface="Cambria Math" panose="02040503050406030204" pitchFamily="18" charset="0"/>
                      </a:rPr>
                      <m:t>𝑘</m:t>
                    </m:r>
                  </m:oMath>
                </a14:m>
                <a:endParaRPr lang="en-US"/>
              </a:p>
            </p:txBody>
          </p:sp>
        </mc:Choice>
        <mc:Fallback xmlns="">
          <p:sp>
            <p:nvSpPr>
              <p:cNvPr id="2" name="Title 1">
                <a:extLst>
                  <a:ext uri="{FF2B5EF4-FFF2-40B4-BE49-F238E27FC236}">
                    <a16:creationId xmlns:a16="http://schemas.microsoft.com/office/drawing/2014/main" id="{F95BAC56-CA4A-5645-A2DD-69531453893A}"/>
                  </a:ext>
                </a:extLst>
              </p:cNvPr>
              <p:cNvSpPr>
                <a:spLocks noGrp="1" noRot="1" noChangeAspect="1" noMove="1" noResize="1" noEditPoints="1" noAdjustHandles="1" noChangeArrowheads="1" noChangeShapeType="1" noTextEdit="1"/>
              </p:cNvSpPr>
              <p:nvPr>
                <p:ph type="title"/>
              </p:nvPr>
            </p:nvSpPr>
            <p:spPr>
              <a:blipFill>
                <a:blip r:embed="rId3"/>
                <a:stretch>
                  <a:fillRect l="-59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F80F71-7C49-6E46-8C54-D73EAD422853}"/>
                  </a:ext>
                </a:extLst>
              </p:cNvPr>
              <p:cNvSpPr>
                <a:spLocks noGrp="1"/>
              </p:cNvSpPr>
              <p:nvPr>
                <p:ph idx="1"/>
              </p:nvPr>
            </p:nvSpPr>
            <p:spPr>
              <a:xfrm>
                <a:off x="3869267" y="864108"/>
                <a:ext cx="7589520" cy="5120640"/>
              </a:xfrm>
            </p:spPr>
            <p:txBody>
              <a:bodyPr>
                <a:noAutofit/>
              </a:bodyPr>
              <a:lstStyle/>
              <a:p>
                <a:pPr>
                  <a:lnSpc>
                    <a:spcPct val="130000"/>
                  </a:lnSpc>
                </a:pPr>
                <a:r>
                  <a:rPr lang="en-US" dirty="0"/>
                  <a:t>Theorem: </a:t>
                </a:r>
              </a:p>
              <a:p>
                <a:pPr lvl="1">
                  <a:lnSpc>
                    <a:spcPct val="130000"/>
                  </a:lnSpc>
                </a:pPr>
                <a:r>
                  <a:rPr lang="en-US" sz="2400" dirty="0"/>
                  <a:t>If </a:t>
                </a:r>
                <a14:m>
                  <m:oMath xmlns:m="http://schemas.openxmlformats.org/officeDocument/2006/math">
                    <m:r>
                      <a:rPr lang="en-US" sz="2400" i="1" smtClean="0">
                        <a:solidFill>
                          <a:schemeClr val="accent6">
                            <a:lumMod val="75000"/>
                          </a:schemeClr>
                        </a:solidFill>
                        <a:latin typeface="Cambria Math" panose="02040503050406030204" pitchFamily="18" charset="0"/>
                      </a:rPr>
                      <m:t>𝑘</m:t>
                    </m:r>
                  </m:oMath>
                </a14:m>
                <a:r>
                  <a:rPr lang="en-US" sz="2400" dirty="0"/>
                  <a:t> is some function of </a:t>
                </a:r>
                <a14:m>
                  <m:oMath xmlns:m="http://schemas.openxmlformats.org/officeDocument/2006/math">
                    <m:r>
                      <a:rPr lang="en-US" sz="2400" b="0" i="1" smtClean="0">
                        <a:solidFill>
                          <a:schemeClr val="accent6">
                            <a:lumMod val="75000"/>
                          </a:schemeClr>
                        </a:solidFill>
                        <a:latin typeface="Cambria Math" panose="02040503050406030204" pitchFamily="18" charset="0"/>
                      </a:rPr>
                      <m:t>𝑁</m:t>
                    </m:r>
                  </m:oMath>
                </a14:m>
                <a:r>
                  <a:rPr lang="en-US" sz="2400" dirty="0"/>
                  <a:t> </a:t>
                </a:r>
                <a:r>
                  <a:rPr lang="en-US" sz="2400" dirty="0" err="1"/>
                  <a:t>s.t.</a:t>
                </a:r>
                <a:r>
                  <a:rPr lang="en-US" sz="2400" dirty="0"/>
                  <a:t> </a:t>
                </a:r>
                <a14:m>
                  <m:oMath xmlns:m="http://schemas.openxmlformats.org/officeDocument/2006/math">
                    <m:r>
                      <a:rPr lang="en-US" sz="2400" b="0" i="1" smtClean="0">
                        <a:solidFill>
                          <a:schemeClr val="accent6">
                            <a:lumMod val="75000"/>
                          </a:schemeClr>
                        </a:solidFill>
                        <a:latin typeface="Cambria Math" panose="02040503050406030204" pitchFamily="18" charset="0"/>
                      </a:rPr>
                      <m:t>𝑘</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𝑁</m:t>
                        </m:r>
                      </m:e>
                    </m:d>
                    <m:r>
                      <a:rPr lang="en-US" sz="2400" b="0" i="1" smtClean="0">
                        <a:solidFill>
                          <a:schemeClr val="accent6">
                            <a:lumMod val="75000"/>
                          </a:schemeClr>
                        </a:solidFill>
                        <a:latin typeface="Cambria Math" panose="02040503050406030204" pitchFamily="18" charset="0"/>
                      </a:rPr>
                      <m:t>→∞</m:t>
                    </m:r>
                  </m:oMath>
                </a14:m>
                <a:r>
                  <a:rPr lang="en-US" sz="2400" dirty="0">
                    <a:solidFill>
                      <a:schemeClr val="accent6">
                        <a:lumMod val="75000"/>
                      </a:schemeClr>
                    </a:solidFill>
                  </a:rPr>
                  <a:t> </a:t>
                </a:r>
                <a:r>
                  <a:rPr lang="en-US" sz="2400" dirty="0"/>
                  <a:t>and</a:t>
                </a:r>
                <a:r>
                  <a:rPr lang="en-US" sz="2400" dirty="0">
                    <a:solidFill>
                      <a:schemeClr val="accent6">
                        <a:lumMod val="75000"/>
                      </a:schemeClr>
                    </a:solidFill>
                  </a:rPr>
                  <a:t> </a:t>
                </a:r>
                <a14:m>
                  <m:oMath xmlns:m="http://schemas.openxmlformats.org/officeDocument/2006/math">
                    <m:f>
                      <m:fPr>
                        <m:ctrlPr>
                          <a:rPr lang="en-US" sz="2400" i="1">
                            <a:solidFill>
                              <a:schemeClr val="accent6">
                                <a:lumMod val="75000"/>
                              </a:schemeClr>
                            </a:solidFill>
                            <a:latin typeface="Cambria Math" panose="02040503050406030204" pitchFamily="18" charset="0"/>
                          </a:rPr>
                        </m:ctrlPr>
                      </m:fPr>
                      <m:num>
                        <m:r>
                          <a:rPr lang="en-US" sz="2400" i="1">
                            <a:solidFill>
                              <a:schemeClr val="accent6">
                                <a:lumMod val="75000"/>
                              </a:schemeClr>
                            </a:solidFill>
                            <a:latin typeface="Cambria Math" panose="02040503050406030204" pitchFamily="18" charset="0"/>
                          </a:rPr>
                          <m:t>𝑘</m:t>
                        </m:r>
                        <m:d>
                          <m:dPr>
                            <m:ctrlPr>
                              <a:rPr lang="en-US" sz="2400" b="0" i="1" smtClean="0">
                                <a:solidFill>
                                  <a:schemeClr val="accent6">
                                    <a:lumMod val="75000"/>
                                  </a:schemeClr>
                                </a:solidFill>
                                <a:latin typeface="Cambria Math" panose="02040503050406030204" pitchFamily="18" charset="0"/>
                              </a:rPr>
                            </m:ctrlPr>
                          </m:dPr>
                          <m:e>
                            <m:r>
                              <a:rPr lang="en-US" sz="2400" b="0" i="1" smtClean="0">
                                <a:solidFill>
                                  <a:schemeClr val="accent6">
                                    <a:lumMod val="75000"/>
                                  </a:schemeClr>
                                </a:solidFill>
                                <a:latin typeface="Cambria Math" panose="02040503050406030204" pitchFamily="18" charset="0"/>
                              </a:rPr>
                              <m:t>𝑁</m:t>
                            </m:r>
                          </m:e>
                        </m:d>
                      </m:num>
                      <m:den>
                        <m:r>
                          <a:rPr lang="en-US" sz="2400" b="0" i="1" smtClean="0">
                            <a:solidFill>
                              <a:schemeClr val="accent6">
                                <a:lumMod val="75000"/>
                              </a:schemeClr>
                            </a:solidFill>
                            <a:latin typeface="Cambria Math" panose="02040503050406030204" pitchFamily="18" charset="0"/>
                          </a:rPr>
                          <m:t>𝑁</m:t>
                        </m:r>
                      </m:den>
                    </m:f>
                    <m:r>
                      <a:rPr lang="en-US" sz="2400" i="1">
                        <a:solidFill>
                          <a:schemeClr val="accent6">
                            <a:lumMod val="75000"/>
                          </a:schemeClr>
                        </a:solidFill>
                        <a:latin typeface="Cambria Math" panose="02040503050406030204" pitchFamily="18" charset="0"/>
                      </a:rPr>
                      <m:t>→0</m:t>
                    </m:r>
                  </m:oMath>
                </a14:m>
                <a:r>
                  <a:rPr lang="en-US" sz="2400" dirty="0">
                    <a:solidFill>
                      <a:schemeClr val="accent6">
                        <a:lumMod val="75000"/>
                      </a:schemeClr>
                    </a:solidFill>
                  </a:rPr>
                  <a:t> </a:t>
                </a:r>
                <a:r>
                  <a:rPr lang="en-US" sz="2400" dirty="0"/>
                  <a:t>as </a:t>
                </a:r>
                <a14:m>
                  <m:oMath xmlns:m="http://schemas.openxmlformats.org/officeDocument/2006/math">
                    <m:r>
                      <a:rPr lang="en-US" sz="2400" b="0" i="1" smtClean="0">
                        <a:solidFill>
                          <a:schemeClr val="accent6">
                            <a:lumMod val="75000"/>
                          </a:schemeClr>
                        </a:solidFill>
                        <a:latin typeface="Cambria Math" panose="02040503050406030204" pitchFamily="18" charset="0"/>
                      </a:rPr>
                      <m:t>𝑁</m:t>
                    </m:r>
                    <m:r>
                      <a:rPr lang="en-US" sz="2400" b="0" i="1" smtClean="0">
                        <a:solidFill>
                          <a:schemeClr val="accent6">
                            <a:lumMod val="75000"/>
                          </a:schemeClr>
                        </a:solidFill>
                        <a:latin typeface="Cambria Math" panose="02040503050406030204" pitchFamily="18" charset="0"/>
                      </a:rPr>
                      <m:t>→∞</m:t>
                    </m:r>
                  </m:oMath>
                </a14:m>
                <a:r>
                  <a:rPr lang="en-US" sz="2400" dirty="0"/>
                  <a:t> … </a:t>
                </a:r>
              </a:p>
              <a:p>
                <a:pPr lvl="1">
                  <a:lnSpc>
                    <a:spcPct val="130000"/>
                  </a:lnSpc>
                </a:pPr>
                <a:r>
                  <a:rPr lang="en-US" sz="2400" dirty="0"/>
                  <a:t>… then (under certain assumptions) the true error of a </a:t>
                </a:r>
                <a14:m>
                  <m:oMath xmlns:m="http://schemas.openxmlformats.org/officeDocument/2006/math">
                    <m:r>
                      <a:rPr lang="en-US" sz="2400" i="1">
                        <a:latin typeface="Cambria Math" panose="02040503050406030204" pitchFamily="18" charset="0"/>
                      </a:rPr>
                      <m:t>𝑘</m:t>
                    </m:r>
                  </m:oMath>
                </a14:m>
                <a:r>
                  <a:rPr lang="en-US" sz="2400" dirty="0"/>
                  <a:t>NN model </a:t>
                </a:r>
                <a14:m>
                  <m:oMath xmlns:m="http://schemas.openxmlformats.org/officeDocument/2006/math">
                    <m:r>
                      <a:rPr lang="en-US" sz="2400" i="1" smtClean="0">
                        <a:solidFill>
                          <a:schemeClr val="accent6">
                            <a:lumMod val="75000"/>
                          </a:schemeClr>
                        </a:solidFill>
                        <a:latin typeface="Cambria Math" panose="02040503050406030204" pitchFamily="18" charset="0"/>
                      </a:rPr>
                      <m:t>→</m:t>
                    </m:r>
                    <m:r>
                      <a:rPr lang="en-US" sz="2400" i="1">
                        <a:solidFill>
                          <a:schemeClr val="accent6"/>
                        </a:solidFill>
                        <a:latin typeface="Cambria Math" panose="02040503050406030204" pitchFamily="18" charset="0"/>
                      </a:rPr>
                      <m:t> </m:t>
                    </m:r>
                  </m:oMath>
                </a14:m>
                <a:r>
                  <a:rPr lang="en-US" sz="2400" dirty="0"/>
                  <a:t>the Bayes error rate </a:t>
                </a:r>
              </a:p>
              <a:p>
                <a:pPr>
                  <a:lnSpc>
                    <a:spcPct val="130000"/>
                  </a:lnSpc>
                </a:pPr>
                <a:r>
                  <a:rPr lang="en-US" dirty="0"/>
                  <a:t>Practical heuristics:</a:t>
                </a:r>
              </a:p>
              <a:p>
                <a:pPr lvl="1">
                  <a:lnSpc>
                    <a:spcPct val="130000"/>
                  </a:lnSpc>
                </a:pPr>
                <a14:m>
                  <m:oMath xmlns:m="http://schemas.openxmlformats.org/officeDocument/2006/math">
                    <m:r>
                      <a:rPr lang="en-US" sz="2400" i="1" smtClean="0">
                        <a:solidFill>
                          <a:schemeClr val="accent6">
                            <a:lumMod val="75000"/>
                          </a:schemeClr>
                        </a:solidFill>
                        <a:latin typeface="Cambria Math" panose="02040503050406030204" pitchFamily="18" charset="0"/>
                      </a:rPr>
                      <m:t>𝑘</m:t>
                    </m:r>
                    <m:r>
                      <a:rPr lang="en-US" sz="2400" b="0" i="0" smtClean="0">
                        <a:solidFill>
                          <a:schemeClr val="accent6">
                            <a:lumMod val="75000"/>
                          </a:schemeClr>
                        </a:solidFill>
                        <a:latin typeface="Cambria Math" panose="02040503050406030204" pitchFamily="18" charset="0"/>
                      </a:rPr>
                      <m:t>=</m:t>
                    </m:r>
                    <m:d>
                      <m:dPr>
                        <m:begChr m:val="⌊"/>
                        <m:endChr m:val="⌋"/>
                        <m:ctrlPr>
                          <a:rPr lang="en-US" sz="2400" b="0" i="1" smtClean="0">
                            <a:solidFill>
                              <a:schemeClr val="accent6">
                                <a:lumMod val="75000"/>
                              </a:schemeClr>
                            </a:solidFill>
                            <a:latin typeface="Cambria Math" panose="02040503050406030204" pitchFamily="18" charset="0"/>
                          </a:rPr>
                        </m:ctrlPr>
                      </m:dPr>
                      <m:e>
                        <m:rad>
                          <m:radPr>
                            <m:degHide m:val="on"/>
                            <m:ctrlPr>
                              <a:rPr lang="en-US" sz="2400" b="0" i="1" smtClean="0">
                                <a:solidFill>
                                  <a:schemeClr val="accent6">
                                    <a:lumMod val="75000"/>
                                  </a:schemeClr>
                                </a:solidFill>
                                <a:latin typeface="Cambria Math" panose="02040503050406030204" pitchFamily="18" charset="0"/>
                              </a:rPr>
                            </m:ctrlPr>
                          </m:radPr>
                          <m:deg/>
                          <m:e>
                            <m:r>
                              <a:rPr lang="en-US" sz="2400" b="0" i="1" smtClean="0">
                                <a:solidFill>
                                  <a:schemeClr val="accent6">
                                    <a:lumMod val="75000"/>
                                  </a:schemeClr>
                                </a:solidFill>
                                <a:latin typeface="Cambria Math" panose="02040503050406030204" pitchFamily="18" charset="0"/>
                              </a:rPr>
                              <m:t>𝑁</m:t>
                            </m:r>
                          </m:e>
                        </m:rad>
                      </m:e>
                    </m:d>
                  </m:oMath>
                </a14:m>
                <a:endParaRPr lang="en-US" sz="2400" dirty="0">
                  <a:solidFill>
                    <a:schemeClr val="accent6">
                      <a:lumMod val="75000"/>
                    </a:schemeClr>
                  </a:solidFill>
                </a:endParaRPr>
              </a:p>
              <a:p>
                <a:pPr lvl="1">
                  <a:lnSpc>
                    <a:spcPct val="130000"/>
                  </a:lnSpc>
                </a:pPr>
                <a14:m>
                  <m:oMath xmlns:m="http://schemas.openxmlformats.org/officeDocument/2006/math">
                    <m:r>
                      <a:rPr lang="en-US" sz="2400" i="1">
                        <a:solidFill>
                          <a:schemeClr val="accent6">
                            <a:lumMod val="75000"/>
                          </a:schemeClr>
                        </a:solidFill>
                        <a:latin typeface="Cambria Math" panose="02040503050406030204" pitchFamily="18" charset="0"/>
                      </a:rPr>
                      <m:t>𝑘</m:t>
                    </m:r>
                    <m:r>
                      <a:rPr lang="en-US" sz="2400" i="1">
                        <a:solidFill>
                          <a:schemeClr val="accent6">
                            <a:lumMod val="75000"/>
                          </a:schemeClr>
                        </a:solidFill>
                        <a:latin typeface="Cambria Math" panose="02040503050406030204" pitchFamily="18" charset="0"/>
                      </a:rPr>
                      <m:t>=3</m:t>
                    </m:r>
                  </m:oMath>
                </a14:m>
                <a:endParaRPr lang="en-US" sz="2400" dirty="0">
                  <a:solidFill>
                    <a:schemeClr val="accent6">
                      <a:lumMod val="75000"/>
                    </a:schemeClr>
                  </a:solidFill>
                </a:endParaRPr>
              </a:p>
              <a:p>
                <a:pPr>
                  <a:lnSpc>
                    <a:spcPct val="130000"/>
                  </a:lnSpc>
                </a:pPr>
                <a:r>
                  <a:rPr lang="en-US" dirty="0"/>
                  <a:t>This is a question of </a:t>
                </a:r>
                <a:r>
                  <a:rPr lang="en-US" b="1" dirty="0"/>
                  <a:t>model selection</a:t>
                </a:r>
                <a:r>
                  <a:rPr lang="en-US" dirty="0"/>
                  <a:t>: each value of </a:t>
                </a:r>
                <a14:m>
                  <m:oMath xmlns:m="http://schemas.openxmlformats.org/officeDocument/2006/math">
                    <m:r>
                      <a:rPr lang="en-US" i="1">
                        <a:solidFill>
                          <a:schemeClr val="accent6">
                            <a:lumMod val="75000"/>
                          </a:schemeClr>
                        </a:solidFill>
                        <a:latin typeface="Cambria Math" panose="02040503050406030204" pitchFamily="18" charset="0"/>
                      </a:rPr>
                      <m:t>𝑘</m:t>
                    </m:r>
                  </m:oMath>
                </a14:m>
                <a:r>
                  <a:rPr lang="en-US" dirty="0"/>
                  <a:t> corresponds to a different “model”</a:t>
                </a:r>
              </a:p>
            </p:txBody>
          </p:sp>
        </mc:Choice>
        <mc:Fallback xmlns="">
          <p:sp>
            <p:nvSpPr>
              <p:cNvPr id="3" name="Content Placeholder 2">
                <a:extLst>
                  <a:ext uri="{FF2B5EF4-FFF2-40B4-BE49-F238E27FC236}">
                    <a16:creationId xmlns:a16="http://schemas.microsoft.com/office/drawing/2014/main" id="{F6F80F71-7C49-6E46-8C54-D73EAD422853}"/>
                  </a:ext>
                </a:extLst>
              </p:cNvPr>
              <p:cNvSpPr>
                <a:spLocks noGrp="1" noRot="1" noChangeAspect="1" noMove="1" noResize="1" noEditPoints="1" noAdjustHandles="1" noChangeArrowheads="1" noChangeShapeType="1" noTextEdit="1"/>
              </p:cNvSpPr>
              <p:nvPr>
                <p:ph idx="1"/>
              </p:nvPr>
            </p:nvSpPr>
            <p:spPr>
              <a:xfrm>
                <a:off x="3869267" y="864108"/>
                <a:ext cx="7589520" cy="5120640"/>
              </a:xfrm>
              <a:blipFill>
                <a:blip r:embed="rId4"/>
                <a:stretch>
                  <a:fillRect l="-835" t="-5446" r="-1836" b="-8663"/>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E7ABBD94-C176-6945-BF3B-0D5AE98F0AC3}"/>
              </a:ext>
            </a:extLst>
          </p:cNvPr>
          <p:cNvSpPr>
            <a:spLocks noGrp="1"/>
          </p:cNvSpPr>
          <p:nvPr>
            <p:ph type="sldNum" sz="quarter" idx="12"/>
          </p:nvPr>
        </p:nvSpPr>
        <p:spPr/>
        <p:txBody>
          <a:bodyPr/>
          <a:lstStyle/>
          <a:p>
            <a:fld id="{4FAB73BC-B049-4115-A692-8D63A059BFB8}" type="slidenum">
              <a:rPr lang="en-US" smtClean="0"/>
              <a:pPr/>
              <a:t>34</a:t>
            </a:fld>
            <a:endParaRPr lang="en-US"/>
          </a:p>
        </p:txBody>
      </p:sp>
    </p:spTree>
    <p:extLst>
      <p:ext uri="{BB962C8B-B14F-4D97-AF65-F5344CB8AC3E}">
        <p14:creationId xmlns:p14="http://schemas.microsoft.com/office/powerpoint/2010/main" val="1093724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25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25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25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25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500AE-C853-FA09-F053-D44162C92DE0}"/>
              </a:ext>
            </a:extLst>
          </p:cNvPr>
          <p:cNvSpPr>
            <a:spLocks noGrp="1"/>
          </p:cNvSpPr>
          <p:nvPr>
            <p:ph type="title"/>
          </p:nvPr>
        </p:nvSpPr>
        <p:spPr/>
        <p:txBody>
          <a:bodyPr/>
          <a:lstStyle/>
          <a:p>
            <a:r>
              <a:rPr lang="en-US"/>
              <a:t>Model Selection</a:t>
            </a:r>
          </a:p>
        </p:txBody>
      </p:sp>
      <p:sp>
        <p:nvSpPr>
          <p:cNvPr id="3" name="Content Placeholder 2">
            <a:extLst>
              <a:ext uri="{FF2B5EF4-FFF2-40B4-BE49-F238E27FC236}">
                <a16:creationId xmlns:a16="http://schemas.microsoft.com/office/drawing/2014/main" id="{0E70B1CE-01F7-EA17-AF0C-C7FF4DE56149}"/>
              </a:ext>
            </a:extLst>
          </p:cNvPr>
          <p:cNvSpPr>
            <a:spLocks noGrp="1"/>
          </p:cNvSpPr>
          <p:nvPr>
            <p:ph sz="half" idx="1"/>
          </p:nvPr>
        </p:nvSpPr>
        <p:spPr/>
        <p:txBody>
          <a:bodyPr>
            <a:noAutofit/>
          </a:bodyPr>
          <a:lstStyle/>
          <a:p>
            <a:r>
              <a:rPr lang="en-US" sz="2400"/>
              <a:t>A </a:t>
            </a:r>
            <a:r>
              <a:rPr lang="en-US" sz="2400" b="1"/>
              <a:t>model</a:t>
            </a:r>
            <a:r>
              <a:rPr lang="en-US" sz="2400"/>
              <a:t> is a (typically infinite) set of classifiers that a learning algorithm searches through to find the best one (the ”hypothesis space”)</a:t>
            </a:r>
          </a:p>
          <a:p>
            <a:r>
              <a:rPr lang="en-US" sz="2400" b="1"/>
              <a:t>Model parameters </a:t>
            </a:r>
            <a:r>
              <a:rPr lang="en-US" sz="2400"/>
              <a:t>are the numeric values or structure that are selected by the learning algorithm</a:t>
            </a:r>
          </a:p>
          <a:p>
            <a:r>
              <a:rPr lang="en-US" sz="2400" b="1"/>
              <a:t>Hyperparameters</a:t>
            </a:r>
            <a:r>
              <a:rPr lang="en-US" sz="2400"/>
              <a:t> are the tunable aspects of the model that are not selected by the learning algorithm</a:t>
            </a:r>
          </a:p>
        </p:txBody>
      </p:sp>
      <p:sp>
        <p:nvSpPr>
          <p:cNvPr id="4" name="Content Placeholder 3">
            <a:extLst>
              <a:ext uri="{FF2B5EF4-FFF2-40B4-BE49-F238E27FC236}">
                <a16:creationId xmlns:a16="http://schemas.microsoft.com/office/drawing/2014/main" id="{AC914728-2B5C-E455-3B8E-5D693BCBE56A}"/>
              </a:ext>
            </a:extLst>
          </p:cNvPr>
          <p:cNvSpPr>
            <a:spLocks noGrp="1"/>
          </p:cNvSpPr>
          <p:nvPr>
            <p:ph sz="half" idx="2"/>
          </p:nvPr>
        </p:nvSpPr>
        <p:spPr>
          <a:xfrm>
            <a:off x="7818120" y="949362"/>
            <a:ext cx="3474720" cy="5120640"/>
          </a:xfrm>
        </p:spPr>
        <p:txBody>
          <a:bodyPr>
            <a:noAutofit/>
          </a:bodyPr>
          <a:lstStyle/>
          <a:p>
            <a:pPr marL="0" indent="0">
              <a:buNone/>
            </a:pPr>
            <a:r>
              <a:rPr lang="en-US" sz="2400" b="1" dirty="0"/>
              <a:t>Example: Decision Trees</a:t>
            </a:r>
          </a:p>
          <a:p>
            <a:r>
              <a:rPr lang="en-US" sz="2400" dirty="0"/>
              <a:t>Model = set of all possible trees, potentially narrowed down according to the hyperparameters (see below)</a:t>
            </a:r>
          </a:p>
          <a:p>
            <a:r>
              <a:rPr lang="en-US" sz="2400" dirty="0"/>
              <a:t>Model parameters = structure of a specific tree e.g., splits, split order, predictions at leaf nodes, </a:t>
            </a:r>
          </a:p>
          <a:p>
            <a:r>
              <a:rPr lang="en-US" sz="2400" dirty="0"/>
              <a:t>Hyperparameters = splitting criterion, max-depth, tie-breaking procedures, </a:t>
            </a:r>
            <a:r>
              <a:rPr lang="en-US" sz="2400" dirty="0" err="1"/>
              <a:t>etc</a:t>
            </a:r>
            <a:r>
              <a:rPr lang="en-US" sz="2400" dirty="0"/>
              <a:t>…</a:t>
            </a:r>
          </a:p>
          <a:p>
            <a:endParaRPr lang="en-US" sz="2400" dirty="0"/>
          </a:p>
          <a:p>
            <a:endParaRPr lang="en-US" sz="2400" dirty="0"/>
          </a:p>
        </p:txBody>
      </p:sp>
      <p:sp>
        <p:nvSpPr>
          <p:cNvPr id="6" name="Slide Number Placeholder 5">
            <a:extLst>
              <a:ext uri="{FF2B5EF4-FFF2-40B4-BE49-F238E27FC236}">
                <a16:creationId xmlns:a16="http://schemas.microsoft.com/office/drawing/2014/main" id="{13E2BE88-5E09-ECEB-1EBD-5DA7433BBC8B}"/>
              </a:ext>
            </a:extLst>
          </p:cNvPr>
          <p:cNvSpPr>
            <a:spLocks noGrp="1"/>
          </p:cNvSpPr>
          <p:nvPr>
            <p:ph type="sldNum" sz="quarter" idx="12"/>
          </p:nvPr>
        </p:nvSpPr>
        <p:spPr/>
        <p:txBody>
          <a:bodyPr/>
          <a:lstStyle/>
          <a:p>
            <a:fld id="{4FAB73BC-B049-4115-A692-8D63A059BFB8}" type="slidenum">
              <a:rPr lang="en-US" smtClean="0"/>
              <a:pPr/>
              <a:t>35</a:t>
            </a:fld>
            <a:endParaRPr lang="en-US"/>
          </a:p>
        </p:txBody>
      </p:sp>
    </p:spTree>
    <p:extLst>
      <p:ext uri="{BB962C8B-B14F-4D97-AF65-F5344CB8AC3E}">
        <p14:creationId xmlns:p14="http://schemas.microsoft.com/office/powerpoint/2010/main" val="114235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25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dissolve">
                                      <p:cBhvr>
                                        <p:cTn id="17" dur="250"/>
                                        <p:tgtEl>
                                          <p:spTgt spid="4">
                                            <p:txEl>
                                              <p:pRg st="0" end="0"/>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dissolve">
                                      <p:cBhvr>
                                        <p:cTn id="20" dur="25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dissolve">
                                      <p:cBhvr>
                                        <p:cTn id="25" dur="250"/>
                                        <p:tgtEl>
                                          <p:spTgt spid="4">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dissolve">
                                      <p:cBhvr>
                                        <p:cTn id="30" dur="25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500AE-C853-FA09-F053-D44162C92DE0}"/>
              </a:ext>
            </a:extLst>
          </p:cNvPr>
          <p:cNvSpPr>
            <a:spLocks noGrp="1"/>
          </p:cNvSpPr>
          <p:nvPr>
            <p:ph type="title"/>
          </p:nvPr>
        </p:nvSpPr>
        <p:spPr/>
        <p:txBody>
          <a:bodyPr/>
          <a:lstStyle/>
          <a:p>
            <a:r>
              <a:rPr lang="en-US"/>
              <a:t>Model Selection</a:t>
            </a:r>
          </a:p>
        </p:txBody>
      </p:sp>
      <p:sp>
        <p:nvSpPr>
          <p:cNvPr id="3" name="Content Placeholder 2">
            <a:extLst>
              <a:ext uri="{FF2B5EF4-FFF2-40B4-BE49-F238E27FC236}">
                <a16:creationId xmlns:a16="http://schemas.microsoft.com/office/drawing/2014/main" id="{0E70B1CE-01F7-EA17-AF0C-C7FF4DE56149}"/>
              </a:ext>
            </a:extLst>
          </p:cNvPr>
          <p:cNvSpPr>
            <a:spLocks noGrp="1"/>
          </p:cNvSpPr>
          <p:nvPr>
            <p:ph sz="half" idx="1"/>
          </p:nvPr>
        </p:nvSpPr>
        <p:spPr/>
        <p:txBody>
          <a:bodyPr>
            <a:noAutofit/>
          </a:bodyPr>
          <a:lstStyle/>
          <a:p>
            <a:r>
              <a:rPr lang="en-US" sz="2400"/>
              <a:t>A </a:t>
            </a:r>
            <a:r>
              <a:rPr lang="en-US" sz="2400" b="1"/>
              <a:t>model</a:t>
            </a:r>
            <a:r>
              <a:rPr lang="en-US" sz="2400"/>
              <a:t> is a (typically infinite) set of classifiers that a learning algorithm searches through to find the best one (the ”hypothesis space”)</a:t>
            </a:r>
          </a:p>
          <a:p>
            <a:r>
              <a:rPr lang="en-US" sz="2400" b="1"/>
              <a:t>Model parameters </a:t>
            </a:r>
            <a:r>
              <a:rPr lang="en-US" sz="2400"/>
              <a:t>are the numeric values or structure that are selected by the learning algorithm</a:t>
            </a:r>
          </a:p>
          <a:p>
            <a:r>
              <a:rPr lang="en-US" sz="2400" b="1"/>
              <a:t>Hyperparameters</a:t>
            </a:r>
            <a:r>
              <a:rPr lang="en-US" sz="2400"/>
              <a:t> are the tunable aspects of the model that are not selected by the learning algorithm</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C914728-2B5C-E455-3B8E-5D693BCBE56A}"/>
                  </a:ext>
                </a:extLst>
              </p:cNvPr>
              <p:cNvSpPr>
                <a:spLocks noGrp="1"/>
              </p:cNvSpPr>
              <p:nvPr>
                <p:ph sz="half" idx="2"/>
              </p:nvPr>
            </p:nvSpPr>
            <p:spPr>
              <a:xfrm>
                <a:off x="7818120" y="197500"/>
                <a:ext cx="3474720" cy="5120640"/>
              </a:xfrm>
            </p:spPr>
            <p:txBody>
              <a:bodyPr>
                <a:noAutofit/>
              </a:bodyPr>
              <a:lstStyle/>
              <a:p>
                <a:pPr marL="0" indent="0">
                  <a:buNone/>
                </a:pPr>
                <a:r>
                  <a:rPr lang="en-US" sz="2400" b="1"/>
                  <a:t>Example: </a:t>
                </a:r>
                <a14:m>
                  <m:oMath xmlns:m="http://schemas.openxmlformats.org/officeDocument/2006/math">
                    <m:r>
                      <a:rPr lang="en-US" sz="2400" b="1" i="1" dirty="0" smtClean="0">
                        <a:latin typeface="Cambria Math" panose="02040503050406030204" pitchFamily="18" charset="0"/>
                      </a:rPr>
                      <m:t>𝒌</m:t>
                    </m:r>
                  </m:oMath>
                </a14:m>
                <a:r>
                  <a:rPr lang="en-US" sz="2400" b="1" err="1"/>
                  <a:t>NN</a:t>
                </a:r>
                <a:endParaRPr lang="en-US" sz="2400" b="1"/>
              </a:p>
              <a:p>
                <a:r>
                  <a:rPr lang="en-US" sz="2400"/>
                  <a:t>Model = set of all possible nearest neighbors classifiers</a:t>
                </a:r>
              </a:p>
              <a:p>
                <a:endParaRPr lang="en-US" sz="2400"/>
              </a:p>
              <a:p>
                <a:endParaRPr lang="en-US" sz="2400"/>
              </a:p>
              <a:p>
                <a:r>
                  <a:rPr lang="en-US" sz="2400"/>
                  <a:t>Model parameters = none! </a:t>
                </a:r>
                <a14:m>
                  <m:oMath xmlns:m="http://schemas.openxmlformats.org/officeDocument/2006/math">
                    <m:r>
                      <a:rPr lang="en-US" sz="2400" b="0" i="1" dirty="0" smtClean="0">
                        <a:latin typeface="Cambria Math" panose="02040503050406030204" pitchFamily="18" charset="0"/>
                      </a:rPr>
                      <m:t>𝑘</m:t>
                    </m:r>
                  </m:oMath>
                </a14:m>
                <a:r>
                  <a:rPr lang="en-US" sz="2400"/>
                  <a:t>NN is a “non-parametric model”</a:t>
                </a:r>
              </a:p>
              <a:p>
                <a:pPr marL="0" indent="0">
                  <a:buNone/>
                </a:pPr>
                <a:br>
                  <a:rPr lang="en-US"/>
                </a:br>
                <a:endParaRPr lang="en-US"/>
              </a:p>
              <a:p>
                <a:r>
                  <a:rPr lang="en-US" sz="2400"/>
                  <a:t>Hyperparameters = </a:t>
                </a:r>
                <a14:m>
                  <m:oMath xmlns:m="http://schemas.openxmlformats.org/officeDocument/2006/math">
                    <m:r>
                      <a:rPr lang="en-US" sz="2400" b="0" i="1" dirty="0" smtClean="0">
                        <a:latin typeface="Cambria Math" panose="02040503050406030204" pitchFamily="18" charset="0"/>
                      </a:rPr>
                      <m:t>𝑘</m:t>
                    </m:r>
                  </m:oMath>
                </a14:m>
                <a:endParaRPr lang="en-US" sz="2400"/>
              </a:p>
              <a:p>
                <a:endParaRPr lang="en-US" sz="2400"/>
              </a:p>
            </p:txBody>
          </p:sp>
        </mc:Choice>
        <mc:Fallback xmlns="">
          <p:sp>
            <p:nvSpPr>
              <p:cNvPr id="4" name="Content Placeholder 3">
                <a:extLst>
                  <a:ext uri="{FF2B5EF4-FFF2-40B4-BE49-F238E27FC236}">
                    <a16:creationId xmlns:a16="http://schemas.microsoft.com/office/drawing/2014/main" id="{AC914728-2B5C-E455-3B8E-5D693BCBE56A}"/>
                  </a:ext>
                </a:extLst>
              </p:cNvPr>
              <p:cNvSpPr>
                <a:spLocks noGrp="1" noRot="1" noChangeAspect="1" noMove="1" noResize="1" noEditPoints="1" noAdjustHandles="1" noChangeArrowheads="1" noChangeShapeType="1" noTextEdit="1"/>
              </p:cNvSpPr>
              <p:nvPr>
                <p:ph sz="half" idx="2"/>
              </p:nvPr>
            </p:nvSpPr>
            <p:spPr>
              <a:xfrm>
                <a:off x="7818120" y="197500"/>
                <a:ext cx="3474720" cy="5120640"/>
              </a:xfrm>
              <a:blipFill>
                <a:blip r:embed="rId2"/>
                <a:stretch>
                  <a:fillRect l="-2545" t="-3465"/>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13E2BE88-5E09-ECEB-1EBD-5DA7433BBC8B}"/>
              </a:ext>
            </a:extLst>
          </p:cNvPr>
          <p:cNvSpPr>
            <a:spLocks noGrp="1"/>
          </p:cNvSpPr>
          <p:nvPr>
            <p:ph type="sldNum" sz="quarter" idx="12"/>
          </p:nvPr>
        </p:nvSpPr>
        <p:spPr/>
        <p:txBody>
          <a:bodyPr/>
          <a:lstStyle/>
          <a:p>
            <a:fld id="{4FAB73BC-B049-4115-A692-8D63A059BFB8}" type="slidenum">
              <a:rPr lang="en-US" smtClean="0"/>
              <a:pPr/>
              <a:t>36</a:t>
            </a:fld>
            <a:endParaRPr lang="en-US"/>
          </a:p>
        </p:txBody>
      </p:sp>
    </p:spTree>
    <p:extLst>
      <p:ext uri="{BB962C8B-B14F-4D97-AF65-F5344CB8AC3E}">
        <p14:creationId xmlns:p14="http://schemas.microsoft.com/office/powerpoint/2010/main" val="285881554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5EBF-89FB-314E-9E95-7C7C61A53A4D}"/>
              </a:ext>
            </a:extLst>
          </p:cNvPr>
          <p:cNvSpPr>
            <a:spLocks noGrp="1"/>
          </p:cNvSpPr>
          <p:nvPr>
            <p:ph type="title"/>
          </p:nvPr>
        </p:nvSpPr>
        <p:spPr/>
        <p:txBody>
          <a:bodyPr/>
          <a:lstStyle/>
          <a:p>
            <a:r>
              <a:rPr lang="en-US"/>
              <a:t>Model Selection </a:t>
            </a:r>
            <a:br>
              <a:rPr lang="en-US"/>
            </a:br>
            <a:r>
              <a:rPr lang="en-US"/>
              <a:t>with </a:t>
            </a:r>
            <a:br>
              <a:rPr lang="en-US"/>
            </a:br>
            <a:r>
              <a:rPr lang="en-US"/>
              <a:t>Test Sets</a:t>
            </a:r>
          </a:p>
        </p:txBody>
      </p:sp>
      <p:sp>
        <p:nvSpPr>
          <p:cNvPr id="4" name="Slide Number Placeholder 3">
            <a:extLst>
              <a:ext uri="{FF2B5EF4-FFF2-40B4-BE49-F238E27FC236}">
                <a16:creationId xmlns:a16="http://schemas.microsoft.com/office/drawing/2014/main" id="{05DA2F36-0093-D34E-A1F5-A9FC2195704D}"/>
              </a:ext>
            </a:extLst>
          </p:cNvPr>
          <p:cNvSpPr>
            <a:spLocks noGrp="1"/>
          </p:cNvSpPr>
          <p:nvPr>
            <p:ph type="sldNum" sz="quarter" idx="12"/>
          </p:nvPr>
        </p:nvSpPr>
        <p:spPr/>
        <p:txBody>
          <a:bodyPr/>
          <a:lstStyle/>
          <a:p>
            <a:fld id="{4FAB73BC-B049-4115-A692-8D63A059BFB8}" type="slidenum">
              <a:rPr lang="en-US" smtClean="0"/>
              <a:pPr/>
              <a:t>37</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E89E215A-2338-5841-9C02-AAEA1377B991}"/>
                  </a:ext>
                </a:extLst>
              </p:cNvPr>
              <p:cNvSpPr>
                <a:spLocks noGrp="1"/>
              </p:cNvSpPr>
              <p:nvPr>
                <p:ph idx="1"/>
              </p:nvPr>
            </p:nvSpPr>
            <p:spPr>
              <a:xfrm>
                <a:off x="3869267" y="864108"/>
                <a:ext cx="7685423" cy="5120640"/>
              </a:xfrm>
            </p:spPr>
            <p:txBody>
              <a:bodyPr>
                <a:normAutofit/>
              </a:bodyPr>
              <a:lstStyle/>
              <a:p>
                <a:pPr>
                  <a:lnSpc>
                    <a:spcPct val="130000"/>
                  </a:lnSpc>
                </a:pPr>
                <a:r>
                  <a:rPr lang="en-US"/>
                  <a:t>Given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r>
                      <a:rPr lang="en-US"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𝑡𝑟𝑎𝑖𝑛</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oMath>
                </a14:m>
                <a:r>
                  <a:rPr lang="en-US"/>
                  <a:t>, suppose we have multiple candidate models: </a:t>
                </a:r>
                <a:br>
                  <a:rPr lang="en-US"/>
                </a:b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 </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oMath>
                </a14:m>
                <a:endParaRPr lang="en-US"/>
              </a:p>
              <a:p>
                <a:pPr>
                  <a:lnSpc>
                    <a:spcPct val="130000"/>
                  </a:lnSpc>
                </a:pPr>
                <a:r>
                  <a:rPr lang="en-US"/>
                  <a:t>Learn a classifier from each model using only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𝑡𝑟𝑎𝑖𝑛</m:t>
                        </m:r>
                      </m:sub>
                    </m:sSub>
                  </m:oMath>
                </a14:m>
                <a:r>
                  <a:rPr lang="en-US"/>
                  <a:t>: </a:t>
                </a:r>
                <a:br>
                  <a:rPr lang="en-US"/>
                </a:b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m:t>
                    </m:r>
                    <m:r>
                      <a:rPr lang="en-US" b="0" i="1" smtClean="0">
                        <a:solidFill>
                          <a:schemeClr val="accent6">
                            <a:lumMod val="75000"/>
                          </a:schemeClr>
                        </a:solidFill>
                        <a:latin typeface="Cambria Math" panose="02040503050406030204" pitchFamily="18" charset="0"/>
                        <a:ea typeface="Cambria Math" panose="02040503050406030204" pitchFamily="18" charset="0"/>
                      </a:rPr>
                      <m:t> </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oMath>
                </a14:m>
                <a:endParaRPr lang="en-US"/>
              </a:p>
              <a:p>
                <a:pPr>
                  <a:lnSpc>
                    <a:spcPct val="130000"/>
                  </a:lnSpc>
                </a:pPr>
                <a:r>
                  <a:rPr lang="en-US"/>
                  <a:t>Evaluate each one using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oMath>
                </a14:m>
                <a:r>
                  <a:rPr lang="en-US"/>
                  <a:t> and choose the one with lowest test error:</a:t>
                </a:r>
              </a:p>
              <a:p>
                <a:pPr marL="0" indent="0">
                  <a:lnSpc>
                    <a:spcPct val="130000"/>
                  </a:lnSpc>
                  <a:buNone/>
                </a:pPr>
                <a14:m>
                  <m:oMathPara xmlns:m="http://schemas.openxmlformats.org/officeDocument/2006/math">
                    <m:oMath>
                      <m:acc>
                        <m:accPr>
                          <m:chr m:val="̂"/>
                          <m:ctrlPr>
                            <a:rPr lang="en-US" b="0" i="1" dirty="0" smtClean="0">
                              <a:solidFill>
                                <a:schemeClr val="accent6">
                                  <a:lumMod val="75000"/>
                                </a:schemeClr>
                              </a:solidFill>
                              <a:latin typeface="Cambria Math" panose="02040503050406030204" pitchFamily="18" charset="0"/>
                              <a:ea typeface="Cambria Math" panose="02040503050406030204" pitchFamily="18" charset="0"/>
                            </a:rPr>
                          </m:ctrlPr>
                        </m:accPr>
                        <m:e>
                          <m:r>
                            <a:rPr lang="en-US" b="0" i="1" dirty="0" smtClean="0">
                              <a:solidFill>
                                <a:schemeClr val="accent6">
                                  <a:lumMod val="75000"/>
                                </a:schemeClr>
                              </a:solidFill>
                              <a:latin typeface="Cambria Math" panose="02040503050406030204" pitchFamily="18" charset="0"/>
                              <a:ea typeface="Cambria Math" panose="02040503050406030204" pitchFamily="18" charset="0"/>
                            </a:rPr>
                            <m:t>𝑚</m:t>
                          </m:r>
                        </m:e>
                      </m:acc>
                      <m:r>
                        <a:rPr lang="en-US" b="0" i="1" dirty="0" smtClean="0">
                          <a:solidFill>
                            <a:schemeClr val="accent6">
                              <a:lumMod val="75000"/>
                            </a:schemeClr>
                          </a:solidFill>
                          <a:latin typeface="Cambria Math" panose="02040503050406030204" pitchFamily="18" charset="0"/>
                        </a:rPr>
                        <m:t>=</m:t>
                      </m:r>
                      <m:func>
                        <m:funcPr>
                          <m:ctrlPr>
                            <a:rPr lang="en-US" b="0" i="1" dirty="0" smtClean="0">
                              <a:solidFill>
                                <a:schemeClr val="accent6">
                                  <a:lumMod val="75000"/>
                                </a:schemeClr>
                              </a:solidFill>
                              <a:latin typeface="Cambria Math" panose="02040503050406030204" pitchFamily="18" charset="0"/>
                            </a:rPr>
                          </m:ctrlPr>
                        </m:funcPr>
                        <m:fName>
                          <m:limLow>
                            <m:limLowPr>
                              <m:ctrlPr>
                                <a:rPr lang="en-US" b="0" i="0" dirty="0" smtClean="0">
                                  <a:solidFill>
                                    <a:schemeClr val="accent6">
                                      <a:lumMod val="75000"/>
                                    </a:schemeClr>
                                  </a:solidFill>
                                  <a:latin typeface="Cambria Math" panose="02040503050406030204" pitchFamily="18" charset="0"/>
                                </a:rPr>
                              </m:ctrlPr>
                            </m:limLowPr>
                            <m:e>
                              <m:r>
                                <m:rPr>
                                  <m:sty m:val="p"/>
                                </m:rPr>
                                <a:rPr lang="en-US" b="0" i="0" dirty="0" smtClean="0">
                                  <a:solidFill>
                                    <a:schemeClr val="accent6">
                                      <a:lumMod val="75000"/>
                                    </a:schemeClr>
                                  </a:solidFill>
                                  <a:latin typeface="Cambria Math" panose="02040503050406030204" pitchFamily="18" charset="0"/>
                                </a:rPr>
                                <m:t>argmin</m:t>
                              </m:r>
                            </m:e>
                            <m:lim>
                              <m:r>
                                <a:rPr lang="en-US" b="0" i="1" dirty="0" smtClean="0">
                                  <a:solidFill>
                                    <a:schemeClr val="accent6">
                                      <a:lumMod val="75000"/>
                                    </a:schemeClr>
                                  </a:solidFill>
                                  <a:latin typeface="Cambria Math" panose="02040503050406030204" pitchFamily="18" charset="0"/>
                                </a:rPr>
                                <m:t>𝑚</m:t>
                              </m:r>
                              <m:r>
                                <a:rPr lang="en-US" b="0" i="1" dirty="0" smtClean="0">
                                  <a:solidFill>
                                    <a:schemeClr val="accent6">
                                      <a:lumMod val="75000"/>
                                    </a:schemeClr>
                                  </a:solidFill>
                                  <a:latin typeface="Cambria Math" panose="02040503050406030204" pitchFamily="18" charset="0"/>
                                </a:rPr>
                                <m:t>∈</m:t>
                              </m:r>
                              <m:r>
                                <m:rPr>
                                  <m:lit/>
                                </m:rPr>
                                <a:rPr lang="en-US" b="0" i="1" dirty="0" smtClean="0">
                                  <a:solidFill>
                                    <a:schemeClr val="accent6">
                                      <a:lumMod val="75000"/>
                                    </a:schemeClr>
                                  </a:solidFill>
                                  <a:latin typeface="Cambria Math" panose="02040503050406030204" pitchFamily="18" charset="0"/>
                                </a:rPr>
                                <m:t>{</m:t>
                              </m:r>
                              <m:r>
                                <a:rPr lang="en-US" b="0" i="1" dirty="0" smtClean="0">
                                  <a:solidFill>
                                    <a:schemeClr val="accent6">
                                      <a:lumMod val="75000"/>
                                    </a:schemeClr>
                                  </a:solidFill>
                                  <a:latin typeface="Cambria Math" panose="02040503050406030204" pitchFamily="18" charset="0"/>
                                </a:rPr>
                                <m:t>1,…,</m:t>
                              </m:r>
                              <m:r>
                                <a:rPr lang="en-US" b="0" i="1" dirty="0" smtClean="0">
                                  <a:solidFill>
                                    <a:schemeClr val="accent6">
                                      <a:lumMod val="75000"/>
                                    </a:schemeClr>
                                  </a:solidFill>
                                  <a:latin typeface="Cambria Math" panose="02040503050406030204" pitchFamily="18" charset="0"/>
                                </a:rPr>
                                <m:t>𝑀</m:t>
                              </m:r>
                              <m:r>
                                <a:rPr lang="en-US" b="0" i="1" dirty="0" smtClean="0">
                                  <a:solidFill>
                                    <a:schemeClr val="accent6">
                                      <a:lumMod val="75000"/>
                                    </a:schemeClr>
                                  </a:solidFill>
                                  <a:latin typeface="Cambria Math" panose="02040503050406030204" pitchFamily="18" charset="0"/>
                                </a:rPr>
                                <m:t>}</m:t>
                              </m:r>
                            </m:lim>
                          </m:limLow>
                        </m:fName>
                        <m:e>
                          <m:r>
                            <a:rPr lang="en-US" b="0" i="1" dirty="0" smtClean="0">
                              <a:solidFill>
                                <a:schemeClr val="accent6">
                                  <a:lumMod val="75000"/>
                                </a:schemeClr>
                              </a:solidFill>
                              <a:latin typeface="Cambria Math" panose="02040503050406030204" pitchFamily="18" charset="0"/>
                            </a:rPr>
                            <m:t>𝑒𝑟𝑟</m:t>
                          </m:r>
                          <m:d>
                            <m:dPr>
                              <m:ctrlPr>
                                <a:rPr lang="en-US" b="0" i="1" dirty="0" smtClean="0">
                                  <a:solidFill>
                                    <a:schemeClr val="accent6">
                                      <a:lumMod val="75000"/>
                                    </a:schemeClr>
                                  </a:solidFill>
                                  <a:latin typeface="Cambria Math" panose="02040503050406030204" pitchFamily="18" charset="0"/>
                                </a:rPr>
                              </m:ctrlPr>
                            </m:dPr>
                            <m:e>
                              <m:sSub>
                                <m:sSubPr>
                                  <m:ctrlPr>
                                    <a:rPr lang="en-US" b="0" i="1" dirty="0" smtClean="0">
                                      <a:solidFill>
                                        <a:schemeClr val="accent6">
                                          <a:lumMod val="75000"/>
                                        </a:schemeClr>
                                      </a:solidFill>
                                      <a:latin typeface="Cambria Math" panose="02040503050406030204" pitchFamily="18" charset="0"/>
                                    </a:rPr>
                                  </m:ctrlPr>
                                </m:sSubPr>
                                <m:e>
                                  <m:r>
                                    <a:rPr lang="en-US" b="0" i="1" dirty="0" smtClean="0">
                                      <a:solidFill>
                                        <a:schemeClr val="accent6">
                                          <a:lumMod val="75000"/>
                                        </a:schemeClr>
                                      </a:solidFill>
                                      <a:latin typeface="Cambria Math" panose="02040503050406030204" pitchFamily="18" charset="0"/>
                                    </a:rPr>
                                    <m:t>ℎ</m:t>
                                  </m:r>
                                </m:e>
                                <m:sub>
                                  <m:r>
                                    <a:rPr lang="en-US" b="0" i="1" dirty="0" smtClean="0">
                                      <a:solidFill>
                                        <a:schemeClr val="accent6">
                                          <a:lumMod val="75000"/>
                                        </a:schemeClr>
                                      </a:solidFill>
                                      <a:latin typeface="Cambria Math" panose="02040503050406030204" pitchFamily="18" charset="0"/>
                                    </a:rPr>
                                    <m:t>𝑚</m:t>
                                  </m:r>
                                </m:sub>
                              </m:sSub>
                              <m:r>
                                <a:rPr lang="en-US" b="0" i="1" dirty="0" smtClean="0">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e>
                          </m:d>
                        </m:e>
                      </m:func>
                    </m:oMath>
                  </m:oMathPara>
                </a14:m>
                <a:endParaRPr lang="en-US">
                  <a:solidFill>
                    <a:schemeClr val="accent6">
                      <a:lumMod val="75000"/>
                    </a:schemeClr>
                  </a:solidFill>
                  <a:ea typeface="Cambria Math" panose="02040503050406030204" pitchFamily="18" charset="0"/>
                </a:endParaRPr>
              </a:p>
              <a:p>
                <a:pPr marL="0" indent="0">
                  <a:lnSpc>
                    <a:spcPct val="130000"/>
                  </a:lnSpc>
                  <a:buNone/>
                </a:pPr>
                <a:endParaRPr lang="en-US"/>
              </a:p>
            </p:txBody>
          </p:sp>
        </mc:Choice>
        <mc:Fallback xmlns="">
          <p:sp>
            <p:nvSpPr>
              <p:cNvPr id="8" name="Content Placeholder 2">
                <a:extLst>
                  <a:ext uri="{FF2B5EF4-FFF2-40B4-BE49-F238E27FC236}">
                    <a16:creationId xmlns:a16="http://schemas.microsoft.com/office/drawing/2014/main" id="{E89E215A-2338-5841-9C02-AAEA1377B991}"/>
                  </a:ext>
                </a:extLst>
              </p:cNvPr>
              <p:cNvSpPr>
                <a:spLocks noGrp="1" noRot="1" noChangeAspect="1" noMove="1" noResize="1" noEditPoints="1" noAdjustHandles="1" noChangeArrowheads="1" noChangeShapeType="1" noTextEdit="1"/>
              </p:cNvSpPr>
              <p:nvPr>
                <p:ph idx="1"/>
              </p:nvPr>
            </p:nvSpPr>
            <p:spPr>
              <a:xfrm>
                <a:off x="3869267" y="864108"/>
                <a:ext cx="7685423" cy="5120640"/>
              </a:xfrm>
              <a:blipFill>
                <a:blip r:embed="rId3"/>
                <a:stretch>
                  <a:fillRect l="-825"/>
                </a:stretch>
              </a:blipFill>
            </p:spPr>
            <p:txBody>
              <a:bodyPr/>
              <a:lstStyle/>
              <a:p>
                <a:r>
                  <a:rPr lang="en-US">
                    <a:noFill/>
                  </a:rPr>
                  <a:t> </a:t>
                </a:r>
              </a:p>
            </p:txBody>
          </p:sp>
        </mc:Fallback>
      </mc:AlternateContent>
    </p:spTree>
    <p:extLst>
      <p:ext uri="{BB962C8B-B14F-4D97-AF65-F5344CB8AC3E}">
        <p14:creationId xmlns:p14="http://schemas.microsoft.com/office/powerpoint/2010/main" val="255892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dissolve">
                                      <p:cBhvr>
                                        <p:cTn id="7" dur="25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dissolve">
                                      <p:cBhvr>
                                        <p:cTn id="12" dur="250"/>
                                        <p:tgtEl>
                                          <p:spTgt spid="8">
                                            <p:txEl>
                                              <p:pRg st="2" end="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Effect transition="in" filter="dissolve">
                                      <p:cBhvr>
                                        <p:cTn id="15" dur="25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5EBF-89FB-314E-9E95-7C7C61A53A4D}"/>
              </a:ext>
            </a:extLst>
          </p:cNvPr>
          <p:cNvSpPr>
            <a:spLocks noGrp="1"/>
          </p:cNvSpPr>
          <p:nvPr>
            <p:ph type="title"/>
          </p:nvPr>
        </p:nvSpPr>
        <p:spPr/>
        <p:txBody>
          <a:bodyPr/>
          <a:lstStyle/>
          <a:p>
            <a:r>
              <a:rPr lang="en-US"/>
              <a:t>Model Selection </a:t>
            </a:r>
            <a:br>
              <a:rPr lang="en-US"/>
            </a:br>
            <a:r>
              <a:rPr lang="en-US"/>
              <a:t>with </a:t>
            </a:r>
            <a:br>
              <a:rPr lang="en-US"/>
            </a:br>
            <a:r>
              <a:rPr lang="en-US"/>
              <a:t>Test Sets?</a:t>
            </a:r>
          </a:p>
        </p:txBody>
      </p:sp>
      <p:sp>
        <p:nvSpPr>
          <p:cNvPr id="4" name="Slide Number Placeholder 3">
            <a:extLst>
              <a:ext uri="{FF2B5EF4-FFF2-40B4-BE49-F238E27FC236}">
                <a16:creationId xmlns:a16="http://schemas.microsoft.com/office/drawing/2014/main" id="{05DA2F36-0093-D34E-A1F5-A9FC2195704D}"/>
              </a:ext>
            </a:extLst>
          </p:cNvPr>
          <p:cNvSpPr>
            <a:spLocks noGrp="1"/>
          </p:cNvSpPr>
          <p:nvPr>
            <p:ph type="sldNum" sz="quarter" idx="12"/>
          </p:nvPr>
        </p:nvSpPr>
        <p:spPr/>
        <p:txBody>
          <a:bodyPr/>
          <a:lstStyle/>
          <a:p>
            <a:fld id="{4FAB73BC-B049-4115-A692-8D63A059BFB8}" type="slidenum">
              <a:rPr lang="en-US" smtClean="0"/>
              <a:pPr/>
              <a:t>38</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E89E215A-2338-5841-9C02-AAEA1377B991}"/>
                  </a:ext>
                </a:extLst>
              </p:cNvPr>
              <p:cNvSpPr>
                <a:spLocks noGrp="1"/>
              </p:cNvSpPr>
              <p:nvPr>
                <p:ph idx="1"/>
              </p:nvPr>
            </p:nvSpPr>
            <p:spPr>
              <a:xfrm>
                <a:off x="3869267" y="864108"/>
                <a:ext cx="7685423" cy="5120640"/>
              </a:xfrm>
            </p:spPr>
            <p:txBody>
              <a:bodyPr>
                <a:normAutofit/>
              </a:bodyPr>
              <a:lstStyle/>
              <a:p>
                <a:pPr>
                  <a:lnSpc>
                    <a:spcPct val="130000"/>
                  </a:lnSpc>
                </a:pPr>
                <a:r>
                  <a:rPr lang="en-US" dirty="0"/>
                  <a:t>Given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r>
                      <a:rPr lang="en-US"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𝑡𝑟𝑎𝑖𝑛</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oMath>
                </a14:m>
                <a:r>
                  <a:rPr lang="en-US" dirty="0"/>
                  <a:t>, suppose we have multiple candidate models: </a:t>
                </a:r>
                <a:br>
                  <a:rPr lang="en-US" dirty="0"/>
                </a:b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 </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oMath>
                </a14:m>
                <a:endParaRPr lang="en-US" dirty="0"/>
              </a:p>
              <a:p>
                <a:pPr>
                  <a:lnSpc>
                    <a:spcPct val="130000"/>
                  </a:lnSpc>
                </a:pPr>
                <a:r>
                  <a:rPr lang="en-US" dirty="0"/>
                  <a:t>Learn a classifier from each model using only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𝑡𝑟𝑎𝑖𝑛</m:t>
                        </m:r>
                      </m:sub>
                    </m:sSub>
                  </m:oMath>
                </a14:m>
                <a:r>
                  <a:rPr lang="en-US" dirty="0"/>
                  <a:t>: </a:t>
                </a:r>
                <a:br>
                  <a:rPr lang="en-US" dirty="0"/>
                </a:b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m:t>
                    </m:r>
                    <m:r>
                      <a:rPr lang="en-US" b="0" i="1" smtClean="0">
                        <a:solidFill>
                          <a:schemeClr val="accent6">
                            <a:lumMod val="75000"/>
                          </a:schemeClr>
                        </a:solidFill>
                        <a:latin typeface="Cambria Math" panose="02040503050406030204" pitchFamily="18" charset="0"/>
                        <a:ea typeface="Cambria Math" panose="02040503050406030204" pitchFamily="18" charset="0"/>
                      </a:rPr>
                      <m:t> </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oMath>
                </a14:m>
                <a:endParaRPr lang="en-US" dirty="0"/>
              </a:p>
              <a:p>
                <a:pPr>
                  <a:lnSpc>
                    <a:spcPct val="130000"/>
                  </a:lnSpc>
                </a:pPr>
                <a:r>
                  <a:rPr lang="en-US" dirty="0"/>
                  <a:t>Evaluate each one using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oMath>
                </a14:m>
                <a:r>
                  <a:rPr lang="en-US" dirty="0"/>
                  <a:t> and choose the one with lowest test error:</a:t>
                </a:r>
              </a:p>
              <a:p>
                <a:pPr marL="0" indent="0">
                  <a:lnSpc>
                    <a:spcPct val="130000"/>
                  </a:lnSpc>
                  <a:buNone/>
                </a:pPr>
                <a14:m>
                  <m:oMathPara xmlns:m="http://schemas.openxmlformats.org/officeDocument/2006/math">
                    <m:oMath>
                      <m:acc>
                        <m:accPr>
                          <m:chr m:val="̂"/>
                          <m:ctrlPr>
                            <a:rPr lang="en-US" b="0" i="1" dirty="0" smtClean="0">
                              <a:solidFill>
                                <a:schemeClr val="accent6">
                                  <a:lumMod val="75000"/>
                                </a:schemeClr>
                              </a:solidFill>
                              <a:latin typeface="Cambria Math" panose="02040503050406030204" pitchFamily="18" charset="0"/>
                              <a:ea typeface="Cambria Math" panose="02040503050406030204" pitchFamily="18" charset="0"/>
                            </a:rPr>
                          </m:ctrlPr>
                        </m:accPr>
                        <m:e>
                          <m:r>
                            <a:rPr lang="en-US" b="0" i="1" dirty="0" smtClean="0">
                              <a:solidFill>
                                <a:schemeClr val="accent6">
                                  <a:lumMod val="75000"/>
                                </a:schemeClr>
                              </a:solidFill>
                              <a:latin typeface="Cambria Math" panose="02040503050406030204" pitchFamily="18" charset="0"/>
                              <a:ea typeface="Cambria Math" panose="02040503050406030204" pitchFamily="18" charset="0"/>
                            </a:rPr>
                            <m:t>𝑚</m:t>
                          </m:r>
                        </m:e>
                      </m:acc>
                      <m:r>
                        <a:rPr lang="en-US" b="0" i="1" dirty="0" smtClean="0">
                          <a:solidFill>
                            <a:schemeClr val="accent6">
                              <a:lumMod val="75000"/>
                            </a:schemeClr>
                          </a:solidFill>
                          <a:latin typeface="Cambria Math" panose="02040503050406030204" pitchFamily="18" charset="0"/>
                        </a:rPr>
                        <m:t>=</m:t>
                      </m:r>
                      <m:func>
                        <m:funcPr>
                          <m:ctrlPr>
                            <a:rPr lang="en-US" b="0" i="1" dirty="0" smtClean="0">
                              <a:solidFill>
                                <a:schemeClr val="accent6">
                                  <a:lumMod val="75000"/>
                                </a:schemeClr>
                              </a:solidFill>
                              <a:latin typeface="Cambria Math" panose="02040503050406030204" pitchFamily="18" charset="0"/>
                            </a:rPr>
                          </m:ctrlPr>
                        </m:funcPr>
                        <m:fName>
                          <m:limLow>
                            <m:limLowPr>
                              <m:ctrlPr>
                                <a:rPr lang="en-US" b="0" i="0" dirty="0" smtClean="0">
                                  <a:solidFill>
                                    <a:schemeClr val="accent6">
                                      <a:lumMod val="75000"/>
                                    </a:schemeClr>
                                  </a:solidFill>
                                  <a:latin typeface="Cambria Math" panose="02040503050406030204" pitchFamily="18" charset="0"/>
                                </a:rPr>
                              </m:ctrlPr>
                            </m:limLowPr>
                            <m:e>
                              <m:r>
                                <m:rPr>
                                  <m:sty m:val="p"/>
                                </m:rPr>
                                <a:rPr lang="en-US" b="0" i="0" dirty="0" smtClean="0">
                                  <a:solidFill>
                                    <a:schemeClr val="accent6">
                                      <a:lumMod val="75000"/>
                                    </a:schemeClr>
                                  </a:solidFill>
                                  <a:latin typeface="Cambria Math" panose="02040503050406030204" pitchFamily="18" charset="0"/>
                                </a:rPr>
                                <m:t>argmin</m:t>
                              </m:r>
                            </m:e>
                            <m:lim>
                              <m:r>
                                <a:rPr lang="en-US" b="0" i="1" dirty="0" smtClean="0">
                                  <a:solidFill>
                                    <a:schemeClr val="accent6">
                                      <a:lumMod val="75000"/>
                                    </a:schemeClr>
                                  </a:solidFill>
                                  <a:latin typeface="Cambria Math" panose="02040503050406030204" pitchFamily="18" charset="0"/>
                                </a:rPr>
                                <m:t>𝑚</m:t>
                              </m:r>
                              <m:r>
                                <a:rPr lang="en-US" b="0" i="1" dirty="0" smtClean="0">
                                  <a:solidFill>
                                    <a:schemeClr val="accent6">
                                      <a:lumMod val="75000"/>
                                    </a:schemeClr>
                                  </a:solidFill>
                                  <a:latin typeface="Cambria Math" panose="02040503050406030204" pitchFamily="18" charset="0"/>
                                </a:rPr>
                                <m:t>∈</m:t>
                              </m:r>
                              <m:r>
                                <m:rPr>
                                  <m:lit/>
                                </m:rPr>
                                <a:rPr lang="en-US" b="0" i="1" dirty="0" smtClean="0">
                                  <a:solidFill>
                                    <a:schemeClr val="accent6">
                                      <a:lumMod val="75000"/>
                                    </a:schemeClr>
                                  </a:solidFill>
                                  <a:latin typeface="Cambria Math" panose="02040503050406030204" pitchFamily="18" charset="0"/>
                                </a:rPr>
                                <m:t>{</m:t>
                              </m:r>
                              <m:r>
                                <a:rPr lang="en-US" b="0" i="1" dirty="0" smtClean="0">
                                  <a:solidFill>
                                    <a:schemeClr val="accent6">
                                      <a:lumMod val="75000"/>
                                    </a:schemeClr>
                                  </a:solidFill>
                                  <a:latin typeface="Cambria Math" panose="02040503050406030204" pitchFamily="18" charset="0"/>
                                </a:rPr>
                                <m:t>1,…,</m:t>
                              </m:r>
                              <m:r>
                                <a:rPr lang="en-US" b="0" i="1" dirty="0" smtClean="0">
                                  <a:solidFill>
                                    <a:schemeClr val="accent6">
                                      <a:lumMod val="75000"/>
                                    </a:schemeClr>
                                  </a:solidFill>
                                  <a:latin typeface="Cambria Math" panose="02040503050406030204" pitchFamily="18" charset="0"/>
                                </a:rPr>
                                <m:t>𝑀</m:t>
                              </m:r>
                              <m:r>
                                <a:rPr lang="en-US" b="0" i="1" dirty="0" smtClean="0">
                                  <a:solidFill>
                                    <a:schemeClr val="accent6">
                                      <a:lumMod val="75000"/>
                                    </a:schemeClr>
                                  </a:solidFill>
                                  <a:latin typeface="Cambria Math" panose="02040503050406030204" pitchFamily="18" charset="0"/>
                                </a:rPr>
                                <m:t>}</m:t>
                              </m:r>
                            </m:lim>
                          </m:limLow>
                        </m:fName>
                        <m:e>
                          <m:r>
                            <a:rPr lang="en-US" b="0" i="1" dirty="0" smtClean="0">
                              <a:solidFill>
                                <a:schemeClr val="accent6">
                                  <a:lumMod val="75000"/>
                                </a:schemeClr>
                              </a:solidFill>
                              <a:latin typeface="Cambria Math" panose="02040503050406030204" pitchFamily="18" charset="0"/>
                            </a:rPr>
                            <m:t>𝑒𝑟𝑟</m:t>
                          </m:r>
                          <m:d>
                            <m:dPr>
                              <m:ctrlPr>
                                <a:rPr lang="en-US" b="0" i="1" dirty="0" smtClean="0">
                                  <a:solidFill>
                                    <a:schemeClr val="accent6">
                                      <a:lumMod val="75000"/>
                                    </a:schemeClr>
                                  </a:solidFill>
                                  <a:latin typeface="Cambria Math" panose="02040503050406030204" pitchFamily="18" charset="0"/>
                                </a:rPr>
                              </m:ctrlPr>
                            </m:dPr>
                            <m:e>
                              <m:sSub>
                                <m:sSubPr>
                                  <m:ctrlPr>
                                    <a:rPr lang="en-US" b="0" i="1" dirty="0" smtClean="0">
                                      <a:solidFill>
                                        <a:schemeClr val="accent6">
                                          <a:lumMod val="75000"/>
                                        </a:schemeClr>
                                      </a:solidFill>
                                      <a:latin typeface="Cambria Math" panose="02040503050406030204" pitchFamily="18" charset="0"/>
                                    </a:rPr>
                                  </m:ctrlPr>
                                </m:sSubPr>
                                <m:e>
                                  <m:r>
                                    <a:rPr lang="en-US" b="0" i="1" dirty="0" smtClean="0">
                                      <a:solidFill>
                                        <a:schemeClr val="accent6">
                                          <a:lumMod val="75000"/>
                                        </a:schemeClr>
                                      </a:solidFill>
                                      <a:latin typeface="Cambria Math" panose="02040503050406030204" pitchFamily="18" charset="0"/>
                                    </a:rPr>
                                    <m:t>ℎ</m:t>
                                  </m:r>
                                </m:e>
                                <m:sub>
                                  <m:r>
                                    <a:rPr lang="en-US" b="0" i="1" dirty="0" smtClean="0">
                                      <a:solidFill>
                                        <a:schemeClr val="accent6">
                                          <a:lumMod val="75000"/>
                                        </a:schemeClr>
                                      </a:solidFill>
                                      <a:latin typeface="Cambria Math" panose="02040503050406030204" pitchFamily="18" charset="0"/>
                                    </a:rPr>
                                    <m:t>𝑚</m:t>
                                  </m:r>
                                </m:sub>
                              </m:sSub>
                              <m:r>
                                <a:rPr lang="en-US" b="0" i="1" dirty="0" smtClean="0">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e>
                          </m:d>
                        </m:e>
                      </m:func>
                    </m:oMath>
                  </m:oMathPara>
                </a14:m>
                <a:endParaRPr lang="en-US" dirty="0"/>
              </a:p>
              <a:p>
                <a:pPr>
                  <a:lnSpc>
                    <a:spcPct val="130000"/>
                  </a:lnSpc>
                </a:pPr>
                <a:r>
                  <a:rPr lang="en-US" dirty="0"/>
                  <a:t>Is </a:t>
                </a:r>
                <a14:m>
                  <m:oMath xmlns:m="http://schemas.openxmlformats.org/officeDocument/2006/math">
                    <m:r>
                      <a:rPr lang="en-US" i="1" dirty="0">
                        <a:solidFill>
                          <a:schemeClr val="accent6">
                            <a:lumMod val="75000"/>
                          </a:schemeClr>
                        </a:solidFill>
                        <a:latin typeface="Cambria Math" panose="02040503050406030204" pitchFamily="18" charset="0"/>
                      </a:rPr>
                      <m:t>𝑒𝑟𝑟</m:t>
                    </m:r>
                    <m:d>
                      <m:dPr>
                        <m:ctrlPr>
                          <a:rPr lang="en-US" i="1" dirty="0">
                            <a:solidFill>
                              <a:schemeClr val="accent6">
                                <a:lumMod val="75000"/>
                              </a:schemeClr>
                            </a:solidFill>
                            <a:latin typeface="Cambria Math" panose="02040503050406030204" pitchFamily="18" charset="0"/>
                          </a:rPr>
                        </m:ctrlPr>
                      </m:dPr>
                      <m:e>
                        <m:sSub>
                          <m:sSubPr>
                            <m:ctrlPr>
                              <a:rPr lang="en-US" i="1" dirty="0">
                                <a:solidFill>
                                  <a:schemeClr val="accent6">
                                    <a:lumMod val="75000"/>
                                  </a:schemeClr>
                                </a:solidFill>
                                <a:latin typeface="Cambria Math" panose="02040503050406030204" pitchFamily="18" charset="0"/>
                              </a:rPr>
                            </m:ctrlPr>
                          </m:sSubPr>
                          <m:e>
                            <m:r>
                              <a:rPr lang="en-US" i="1" dirty="0">
                                <a:solidFill>
                                  <a:schemeClr val="accent6">
                                    <a:lumMod val="75000"/>
                                  </a:schemeClr>
                                </a:solidFill>
                                <a:latin typeface="Cambria Math" panose="02040503050406030204" pitchFamily="18" charset="0"/>
                              </a:rPr>
                              <m:t>ℎ</m:t>
                            </m:r>
                          </m:e>
                          <m:sub>
                            <m:acc>
                              <m:accPr>
                                <m:chr m:val="̂"/>
                                <m:ctrlPr>
                                  <a:rPr lang="en-US" i="1" dirty="0">
                                    <a:solidFill>
                                      <a:schemeClr val="accent6">
                                        <a:lumMod val="75000"/>
                                      </a:schemeClr>
                                    </a:solidFill>
                                    <a:latin typeface="Cambria Math" panose="02040503050406030204" pitchFamily="18" charset="0"/>
                                    <a:ea typeface="Cambria Math" panose="02040503050406030204" pitchFamily="18" charset="0"/>
                                  </a:rPr>
                                </m:ctrlPr>
                              </m:accPr>
                              <m:e>
                                <m:r>
                                  <a:rPr lang="en-US" i="1" dirty="0">
                                    <a:solidFill>
                                      <a:schemeClr val="accent6">
                                        <a:lumMod val="75000"/>
                                      </a:schemeClr>
                                    </a:solidFill>
                                    <a:latin typeface="Cambria Math" panose="02040503050406030204" pitchFamily="18" charset="0"/>
                                    <a:ea typeface="Cambria Math" panose="02040503050406030204" pitchFamily="18" charset="0"/>
                                  </a:rPr>
                                  <m:t>𝑚</m:t>
                                </m:r>
                              </m:e>
                            </m:acc>
                          </m:sub>
                        </m:sSub>
                        <m:r>
                          <a:rPr lang="en-US" i="1" dirty="0">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e>
                    </m:d>
                    <m:r>
                      <a:rPr lang="en-US" i="1">
                        <a:solidFill>
                          <a:schemeClr val="accent6">
                            <a:lumMod val="75000"/>
                          </a:schemeClr>
                        </a:solidFill>
                        <a:latin typeface="Cambria Math" panose="02040503050406030204" pitchFamily="18" charset="0"/>
                        <a:ea typeface="Cambria Math" panose="02040503050406030204" pitchFamily="18" charset="0"/>
                      </a:rPr>
                      <m:t> </m:t>
                    </m:r>
                  </m:oMath>
                </a14:m>
                <a:r>
                  <a:rPr lang="en-US" dirty="0"/>
                  <a:t>a good estimate of </a:t>
                </a:r>
                <a14:m>
                  <m:oMath xmlns:m="http://schemas.openxmlformats.org/officeDocument/2006/math">
                    <m:r>
                      <a:rPr lang="en-US" i="1" dirty="0" smtClean="0">
                        <a:solidFill>
                          <a:schemeClr val="accent6">
                            <a:lumMod val="75000"/>
                          </a:schemeClr>
                        </a:solidFill>
                        <a:latin typeface="Cambria Math" panose="02040503050406030204" pitchFamily="18" charset="0"/>
                      </a:rPr>
                      <m:t>𝑒</m:t>
                    </m:r>
                    <m:r>
                      <a:rPr lang="en-US" b="0" i="1" dirty="0" smtClean="0">
                        <a:solidFill>
                          <a:schemeClr val="accent6">
                            <a:lumMod val="75000"/>
                          </a:schemeClr>
                        </a:solidFill>
                        <a:latin typeface="Cambria Math" panose="02040503050406030204" pitchFamily="18" charset="0"/>
                      </a:rPr>
                      <m:t>𝑟𝑟</m:t>
                    </m:r>
                    <m:d>
                      <m:dPr>
                        <m:ctrlPr>
                          <a:rPr lang="en-US" i="1" dirty="0">
                            <a:solidFill>
                              <a:schemeClr val="accent6">
                                <a:lumMod val="75000"/>
                              </a:schemeClr>
                            </a:solidFill>
                            <a:latin typeface="Cambria Math" panose="02040503050406030204" pitchFamily="18" charset="0"/>
                          </a:rPr>
                        </m:ctrlPr>
                      </m:dPr>
                      <m:e>
                        <m:sSub>
                          <m:sSubPr>
                            <m:ctrlPr>
                              <a:rPr lang="en-US" i="1" dirty="0">
                                <a:solidFill>
                                  <a:schemeClr val="accent6">
                                    <a:lumMod val="75000"/>
                                  </a:schemeClr>
                                </a:solidFill>
                                <a:latin typeface="Cambria Math" panose="02040503050406030204" pitchFamily="18" charset="0"/>
                              </a:rPr>
                            </m:ctrlPr>
                          </m:sSubPr>
                          <m:e>
                            <m:r>
                              <a:rPr lang="en-US" i="1" dirty="0">
                                <a:solidFill>
                                  <a:schemeClr val="accent6">
                                    <a:lumMod val="75000"/>
                                  </a:schemeClr>
                                </a:solidFill>
                                <a:latin typeface="Cambria Math" panose="02040503050406030204" pitchFamily="18" charset="0"/>
                              </a:rPr>
                              <m:t>ℎ</m:t>
                            </m:r>
                          </m:e>
                          <m:sub>
                            <m:acc>
                              <m:accPr>
                                <m:chr m:val="̂"/>
                                <m:ctrlPr>
                                  <a:rPr lang="en-US" i="1" dirty="0">
                                    <a:solidFill>
                                      <a:schemeClr val="accent6">
                                        <a:lumMod val="75000"/>
                                      </a:schemeClr>
                                    </a:solidFill>
                                    <a:latin typeface="Cambria Math" panose="02040503050406030204" pitchFamily="18" charset="0"/>
                                    <a:ea typeface="Cambria Math" panose="02040503050406030204" pitchFamily="18" charset="0"/>
                                  </a:rPr>
                                </m:ctrlPr>
                              </m:accPr>
                              <m:e>
                                <m:r>
                                  <a:rPr lang="en-US" i="1" dirty="0">
                                    <a:solidFill>
                                      <a:schemeClr val="accent6">
                                        <a:lumMod val="75000"/>
                                      </a:schemeClr>
                                    </a:solidFill>
                                    <a:latin typeface="Cambria Math" panose="02040503050406030204" pitchFamily="18" charset="0"/>
                                    <a:ea typeface="Cambria Math" panose="02040503050406030204" pitchFamily="18" charset="0"/>
                                  </a:rPr>
                                  <m:t>𝑚</m:t>
                                </m:r>
                              </m:e>
                            </m:acc>
                          </m:sub>
                        </m:sSub>
                      </m:e>
                    </m:d>
                  </m:oMath>
                </a14:m>
                <a:r>
                  <a:rPr lang="en-US" dirty="0"/>
                  <a:t>?</a:t>
                </a:r>
              </a:p>
            </p:txBody>
          </p:sp>
        </mc:Choice>
        <mc:Fallback xmlns="">
          <p:sp>
            <p:nvSpPr>
              <p:cNvPr id="8" name="Content Placeholder 2">
                <a:extLst>
                  <a:ext uri="{FF2B5EF4-FFF2-40B4-BE49-F238E27FC236}">
                    <a16:creationId xmlns:a16="http://schemas.microsoft.com/office/drawing/2014/main" id="{E89E215A-2338-5841-9C02-AAEA1377B991}"/>
                  </a:ext>
                </a:extLst>
              </p:cNvPr>
              <p:cNvSpPr>
                <a:spLocks noGrp="1" noRot="1" noChangeAspect="1" noMove="1" noResize="1" noEditPoints="1" noAdjustHandles="1" noChangeArrowheads="1" noChangeShapeType="1" noTextEdit="1"/>
              </p:cNvSpPr>
              <p:nvPr>
                <p:ph idx="1"/>
              </p:nvPr>
            </p:nvSpPr>
            <p:spPr>
              <a:xfrm>
                <a:off x="3869267" y="864108"/>
                <a:ext cx="7685423" cy="5120640"/>
              </a:xfrm>
              <a:blipFill>
                <a:blip r:embed="rId3"/>
                <a:stretch>
                  <a:fillRect l="-825" b="-2228"/>
                </a:stretch>
              </a:blipFill>
            </p:spPr>
            <p:txBody>
              <a:bodyPr/>
              <a:lstStyle/>
              <a:p>
                <a:r>
                  <a:rPr lang="en-US">
                    <a:noFill/>
                  </a:rPr>
                  <a:t> </a:t>
                </a:r>
              </a:p>
            </p:txBody>
          </p:sp>
        </mc:Fallback>
      </mc:AlternateContent>
    </p:spTree>
    <p:extLst>
      <p:ext uri="{BB962C8B-B14F-4D97-AF65-F5344CB8AC3E}">
        <p14:creationId xmlns:p14="http://schemas.microsoft.com/office/powerpoint/2010/main" val="203603804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5EBF-89FB-314E-9E95-7C7C61A53A4D}"/>
              </a:ext>
            </a:extLst>
          </p:cNvPr>
          <p:cNvSpPr>
            <a:spLocks noGrp="1"/>
          </p:cNvSpPr>
          <p:nvPr>
            <p:ph type="title"/>
          </p:nvPr>
        </p:nvSpPr>
        <p:spPr/>
        <p:txBody>
          <a:bodyPr/>
          <a:lstStyle/>
          <a:p>
            <a:r>
              <a:rPr lang="en-US"/>
              <a:t>Model Selection </a:t>
            </a:r>
            <a:br>
              <a:rPr lang="en-US"/>
            </a:br>
            <a:r>
              <a:rPr lang="en-US"/>
              <a:t>with </a:t>
            </a:r>
            <a:br>
              <a:rPr lang="en-US"/>
            </a:br>
            <a:r>
              <a:rPr lang="en-US"/>
              <a:t>Validation Sets</a:t>
            </a:r>
          </a:p>
        </p:txBody>
      </p:sp>
      <p:sp>
        <p:nvSpPr>
          <p:cNvPr id="4" name="Slide Number Placeholder 3">
            <a:extLst>
              <a:ext uri="{FF2B5EF4-FFF2-40B4-BE49-F238E27FC236}">
                <a16:creationId xmlns:a16="http://schemas.microsoft.com/office/drawing/2014/main" id="{05DA2F36-0093-D34E-A1F5-A9FC2195704D}"/>
              </a:ext>
            </a:extLst>
          </p:cNvPr>
          <p:cNvSpPr>
            <a:spLocks noGrp="1"/>
          </p:cNvSpPr>
          <p:nvPr>
            <p:ph type="sldNum" sz="quarter" idx="12"/>
          </p:nvPr>
        </p:nvSpPr>
        <p:spPr/>
        <p:txBody>
          <a:bodyPr/>
          <a:lstStyle/>
          <a:p>
            <a:fld id="{4FAB73BC-B049-4115-A692-8D63A059BFB8}" type="slidenum">
              <a:rPr lang="en-US" smtClean="0"/>
              <a:pPr/>
              <a:t>39</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E89E215A-2338-5841-9C02-AAEA1377B991}"/>
                  </a:ext>
                </a:extLst>
              </p:cNvPr>
              <p:cNvSpPr>
                <a:spLocks noGrp="1"/>
              </p:cNvSpPr>
              <p:nvPr>
                <p:ph idx="1"/>
              </p:nvPr>
            </p:nvSpPr>
            <p:spPr>
              <a:xfrm>
                <a:off x="3869267" y="864108"/>
                <a:ext cx="7685423" cy="5120640"/>
              </a:xfrm>
            </p:spPr>
            <p:txBody>
              <a:bodyPr>
                <a:normAutofit/>
              </a:bodyPr>
              <a:lstStyle/>
              <a:p>
                <a:pPr>
                  <a:lnSpc>
                    <a:spcPct val="130000"/>
                  </a:lnSpc>
                </a:pPr>
                <a:r>
                  <a:rPr lang="en-US"/>
                  <a:t>Given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r>
                      <a:rPr lang="en-US"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𝑡𝑟𝑎𝑖𝑛</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oMath>
                </a14:m>
                <a:r>
                  <a:rPr lang="en-US"/>
                  <a:t>, suppose we have multiple candidate models: </a:t>
                </a:r>
                <a:br>
                  <a:rPr lang="en-US"/>
                </a:b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 </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oMath>
                </a14:m>
                <a:endParaRPr lang="en-US"/>
              </a:p>
              <a:p>
                <a:pPr>
                  <a:lnSpc>
                    <a:spcPct val="130000"/>
                  </a:lnSpc>
                </a:pPr>
                <a:r>
                  <a:rPr lang="en-US"/>
                  <a:t>Learn a classifier from each model using only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𝑡𝑟𝑎𝑖𝑛</m:t>
                        </m:r>
                      </m:sub>
                    </m:sSub>
                  </m:oMath>
                </a14:m>
                <a:r>
                  <a:rPr lang="en-US"/>
                  <a:t>: </a:t>
                </a:r>
                <a:br>
                  <a:rPr lang="en-US"/>
                </a:b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m:t>
                    </m:r>
                    <m:r>
                      <a:rPr lang="en-US" b="0" i="1" smtClean="0">
                        <a:solidFill>
                          <a:schemeClr val="accent6">
                            <a:lumMod val="75000"/>
                          </a:schemeClr>
                        </a:solidFill>
                        <a:latin typeface="Cambria Math" panose="02040503050406030204" pitchFamily="18" charset="0"/>
                        <a:ea typeface="Cambria Math" panose="02040503050406030204" pitchFamily="18" charset="0"/>
                      </a:rPr>
                      <m:t> </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i="1">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ℋ</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oMath>
                </a14:m>
                <a:endParaRPr lang="en-US"/>
              </a:p>
              <a:p>
                <a:pPr>
                  <a:lnSpc>
                    <a:spcPct val="130000"/>
                  </a:lnSpc>
                </a:pPr>
                <a:r>
                  <a:rPr lang="en-US"/>
                  <a:t>Evaluate each one using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𝑣𝑎𝑙</m:t>
                        </m:r>
                      </m:sub>
                    </m:sSub>
                  </m:oMath>
                </a14:m>
                <a:r>
                  <a:rPr lang="en-US"/>
                  <a:t> and choose the one with lowest </a:t>
                </a:r>
                <a:r>
                  <a:rPr lang="en-US" i="1"/>
                  <a:t>validation</a:t>
                </a:r>
                <a:r>
                  <a:rPr lang="en-US"/>
                  <a:t> error:</a:t>
                </a:r>
              </a:p>
              <a:p>
                <a:pPr marL="0" indent="0">
                  <a:lnSpc>
                    <a:spcPct val="130000"/>
                  </a:lnSpc>
                  <a:buNone/>
                </a:pPr>
                <a14:m>
                  <m:oMathPara xmlns:m="http://schemas.openxmlformats.org/officeDocument/2006/math">
                    <m:oMath>
                      <m:acc>
                        <m:accPr>
                          <m:chr m:val="̂"/>
                          <m:ctrlPr>
                            <a:rPr lang="en-US" b="0" i="1" dirty="0" smtClean="0">
                              <a:solidFill>
                                <a:schemeClr val="accent6">
                                  <a:lumMod val="75000"/>
                                </a:schemeClr>
                              </a:solidFill>
                              <a:latin typeface="Cambria Math" panose="02040503050406030204" pitchFamily="18" charset="0"/>
                              <a:ea typeface="Cambria Math" panose="02040503050406030204" pitchFamily="18" charset="0"/>
                            </a:rPr>
                          </m:ctrlPr>
                        </m:accPr>
                        <m:e>
                          <m:r>
                            <a:rPr lang="en-US" b="0" i="1" dirty="0" smtClean="0">
                              <a:solidFill>
                                <a:schemeClr val="accent6">
                                  <a:lumMod val="75000"/>
                                </a:schemeClr>
                              </a:solidFill>
                              <a:latin typeface="Cambria Math" panose="02040503050406030204" pitchFamily="18" charset="0"/>
                              <a:ea typeface="Cambria Math" panose="02040503050406030204" pitchFamily="18" charset="0"/>
                            </a:rPr>
                            <m:t>𝑚</m:t>
                          </m:r>
                        </m:e>
                      </m:acc>
                      <m:r>
                        <a:rPr lang="en-US" b="0" i="1" dirty="0" smtClean="0">
                          <a:solidFill>
                            <a:schemeClr val="accent6">
                              <a:lumMod val="75000"/>
                            </a:schemeClr>
                          </a:solidFill>
                          <a:latin typeface="Cambria Math" panose="02040503050406030204" pitchFamily="18" charset="0"/>
                        </a:rPr>
                        <m:t>=</m:t>
                      </m:r>
                      <m:func>
                        <m:funcPr>
                          <m:ctrlPr>
                            <a:rPr lang="en-US" b="0" i="1" dirty="0" smtClean="0">
                              <a:solidFill>
                                <a:schemeClr val="accent6">
                                  <a:lumMod val="75000"/>
                                </a:schemeClr>
                              </a:solidFill>
                              <a:latin typeface="Cambria Math" panose="02040503050406030204" pitchFamily="18" charset="0"/>
                            </a:rPr>
                          </m:ctrlPr>
                        </m:funcPr>
                        <m:fName>
                          <m:limLow>
                            <m:limLowPr>
                              <m:ctrlPr>
                                <a:rPr lang="en-US" b="0" i="0" dirty="0" smtClean="0">
                                  <a:solidFill>
                                    <a:schemeClr val="accent6">
                                      <a:lumMod val="75000"/>
                                    </a:schemeClr>
                                  </a:solidFill>
                                  <a:latin typeface="Cambria Math" panose="02040503050406030204" pitchFamily="18" charset="0"/>
                                </a:rPr>
                              </m:ctrlPr>
                            </m:limLowPr>
                            <m:e>
                              <m:r>
                                <m:rPr>
                                  <m:sty m:val="p"/>
                                </m:rPr>
                                <a:rPr lang="en-US" b="0" i="0" dirty="0" smtClean="0">
                                  <a:solidFill>
                                    <a:schemeClr val="accent6">
                                      <a:lumMod val="75000"/>
                                    </a:schemeClr>
                                  </a:solidFill>
                                  <a:latin typeface="Cambria Math" panose="02040503050406030204" pitchFamily="18" charset="0"/>
                                </a:rPr>
                                <m:t>argmin</m:t>
                              </m:r>
                            </m:e>
                            <m:lim>
                              <m:r>
                                <a:rPr lang="en-US" b="0" i="1" dirty="0" smtClean="0">
                                  <a:solidFill>
                                    <a:schemeClr val="accent6">
                                      <a:lumMod val="75000"/>
                                    </a:schemeClr>
                                  </a:solidFill>
                                  <a:latin typeface="Cambria Math" panose="02040503050406030204" pitchFamily="18" charset="0"/>
                                </a:rPr>
                                <m:t>𝑚</m:t>
                              </m:r>
                              <m:r>
                                <a:rPr lang="en-US" b="0" i="1" dirty="0" smtClean="0">
                                  <a:solidFill>
                                    <a:schemeClr val="accent6">
                                      <a:lumMod val="75000"/>
                                    </a:schemeClr>
                                  </a:solidFill>
                                  <a:latin typeface="Cambria Math" panose="02040503050406030204" pitchFamily="18" charset="0"/>
                                </a:rPr>
                                <m:t>∈</m:t>
                              </m:r>
                              <m:r>
                                <m:rPr>
                                  <m:lit/>
                                </m:rPr>
                                <a:rPr lang="en-US" b="0" i="1" dirty="0" smtClean="0">
                                  <a:solidFill>
                                    <a:schemeClr val="accent6">
                                      <a:lumMod val="75000"/>
                                    </a:schemeClr>
                                  </a:solidFill>
                                  <a:latin typeface="Cambria Math" panose="02040503050406030204" pitchFamily="18" charset="0"/>
                                </a:rPr>
                                <m:t>{</m:t>
                              </m:r>
                              <m:r>
                                <a:rPr lang="en-US" b="0" i="1" dirty="0" smtClean="0">
                                  <a:solidFill>
                                    <a:schemeClr val="accent6">
                                      <a:lumMod val="75000"/>
                                    </a:schemeClr>
                                  </a:solidFill>
                                  <a:latin typeface="Cambria Math" panose="02040503050406030204" pitchFamily="18" charset="0"/>
                                </a:rPr>
                                <m:t>1,…,</m:t>
                              </m:r>
                              <m:r>
                                <a:rPr lang="en-US" b="0" i="1" dirty="0" smtClean="0">
                                  <a:solidFill>
                                    <a:schemeClr val="accent6">
                                      <a:lumMod val="75000"/>
                                    </a:schemeClr>
                                  </a:solidFill>
                                  <a:latin typeface="Cambria Math" panose="02040503050406030204" pitchFamily="18" charset="0"/>
                                </a:rPr>
                                <m:t>𝑀</m:t>
                              </m:r>
                              <m:r>
                                <a:rPr lang="en-US" b="0" i="1" dirty="0" smtClean="0">
                                  <a:solidFill>
                                    <a:schemeClr val="accent6">
                                      <a:lumMod val="75000"/>
                                    </a:schemeClr>
                                  </a:solidFill>
                                  <a:latin typeface="Cambria Math" panose="02040503050406030204" pitchFamily="18" charset="0"/>
                                </a:rPr>
                                <m:t>}</m:t>
                              </m:r>
                            </m:lim>
                          </m:limLow>
                        </m:fName>
                        <m:e>
                          <m:r>
                            <a:rPr lang="en-US" b="0" i="1" dirty="0" smtClean="0">
                              <a:solidFill>
                                <a:schemeClr val="accent6">
                                  <a:lumMod val="75000"/>
                                </a:schemeClr>
                              </a:solidFill>
                              <a:latin typeface="Cambria Math" panose="02040503050406030204" pitchFamily="18" charset="0"/>
                            </a:rPr>
                            <m:t>𝑒𝑟𝑟</m:t>
                          </m:r>
                          <m:d>
                            <m:dPr>
                              <m:ctrlPr>
                                <a:rPr lang="en-US" b="0" i="1" dirty="0" smtClean="0">
                                  <a:solidFill>
                                    <a:schemeClr val="accent6">
                                      <a:lumMod val="75000"/>
                                    </a:schemeClr>
                                  </a:solidFill>
                                  <a:latin typeface="Cambria Math" panose="02040503050406030204" pitchFamily="18" charset="0"/>
                                </a:rPr>
                              </m:ctrlPr>
                            </m:dPr>
                            <m:e>
                              <m:sSub>
                                <m:sSubPr>
                                  <m:ctrlPr>
                                    <a:rPr lang="en-US" b="0" i="1" dirty="0" smtClean="0">
                                      <a:solidFill>
                                        <a:schemeClr val="accent6">
                                          <a:lumMod val="75000"/>
                                        </a:schemeClr>
                                      </a:solidFill>
                                      <a:latin typeface="Cambria Math" panose="02040503050406030204" pitchFamily="18" charset="0"/>
                                    </a:rPr>
                                  </m:ctrlPr>
                                </m:sSubPr>
                                <m:e>
                                  <m:r>
                                    <a:rPr lang="en-US" b="0" i="1" dirty="0" smtClean="0">
                                      <a:solidFill>
                                        <a:schemeClr val="accent6">
                                          <a:lumMod val="75000"/>
                                        </a:schemeClr>
                                      </a:solidFill>
                                      <a:latin typeface="Cambria Math" panose="02040503050406030204" pitchFamily="18" charset="0"/>
                                    </a:rPr>
                                    <m:t>ℎ</m:t>
                                  </m:r>
                                </m:e>
                                <m:sub>
                                  <m:r>
                                    <a:rPr lang="en-US" b="0" i="1" dirty="0" smtClean="0">
                                      <a:solidFill>
                                        <a:schemeClr val="accent6">
                                          <a:lumMod val="75000"/>
                                        </a:schemeClr>
                                      </a:solidFill>
                                      <a:latin typeface="Cambria Math" panose="02040503050406030204" pitchFamily="18" charset="0"/>
                                    </a:rPr>
                                    <m:t>𝑚</m:t>
                                  </m:r>
                                </m:sub>
                              </m:sSub>
                              <m:r>
                                <a:rPr lang="en-US" b="0" i="1" dirty="0" smtClean="0">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e>
                      </m:func>
                    </m:oMath>
                  </m:oMathPara>
                </a14:m>
                <a:endParaRPr lang="en-US"/>
              </a:p>
              <a:p>
                <a:pPr>
                  <a:lnSpc>
                    <a:spcPct val="130000"/>
                  </a:lnSpc>
                </a:pPr>
                <a:r>
                  <a:rPr lang="en-US"/>
                  <a:t>Now </a:t>
                </a:r>
                <a14:m>
                  <m:oMath xmlns:m="http://schemas.openxmlformats.org/officeDocument/2006/math">
                    <m:r>
                      <a:rPr lang="en-US" i="1" dirty="0">
                        <a:solidFill>
                          <a:schemeClr val="accent6">
                            <a:lumMod val="75000"/>
                          </a:schemeClr>
                        </a:solidFill>
                        <a:latin typeface="Cambria Math" panose="02040503050406030204" pitchFamily="18" charset="0"/>
                      </a:rPr>
                      <m:t>𝑒𝑟𝑟</m:t>
                    </m:r>
                    <m:d>
                      <m:dPr>
                        <m:ctrlPr>
                          <a:rPr lang="en-US" i="1" dirty="0">
                            <a:solidFill>
                              <a:schemeClr val="accent6">
                                <a:lumMod val="75000"/>
                              </a:schemeClr>
                            </a:solidFill>
                            <a:latin typeface="Cambria Math" panose="02040503050406030204" pitchFamily="18" charset="0"/>
                          </a:rPr>
                        </m:ctrlPr>
                      </m:dPr>
                      <m:e>
                        <m:sSub>
                          <m:sSubPr>
                            <m:ctrlPr>
                              <a:rPr lang="en-US" i="1" dirty="0">
                                <a:solidFill>
                                  <a:schemeClr val="accent6">
                                    <a:lumMod val="75000"/>
                                  </a:schemeClr>
                                </a:solidFill>
                                <a:latin typeface="Cambria Math" panose="02040503050406030204" pitchFamily="18" charset="0"/>
                              </a:rPr>
                            </m:ctrlPr>
                          </m:sSubPr>
                          <m:e>
                            <m:r>
                              <a:rPr lang="en-US" i="1" dirty="0">
                                <a:solidFill>
                                  <a:schemeClr val="accent6">
                                    <a:lumMod val="75000"/>
                                  </a:schemeClr>
                                </a:solidFill>
                                <a:latin typeface="Cambria Math" panose="02040503050406030204" pitchFamily="18" charset="0"/>
                              </a:rPr>
                              <m:t>ℎ</m:t>
                            </m:r>
                          </m:e>
                          <m:sub>
                            <m:acc>
                              <m:accPr>
                                <m:chr m:val="̂"/>
                                <m:ctrlPr>
                                  <a:rPr lang="en-US" i="1" dirty="0">
                                    <a:solidFill>
                                      <a:schemeClr val="accent6">
                                        <a:lumMod val="75000"/>
                                      </a:schemeClr>
                                    </a:solidFill>
                                    <a:latin typeface="Cambria Math" panose="02040503050406030204" pitchFamily="18" charset="0"/>
                                    <a:ea typeface="Cambria Math" panose="02040503050406030204" pitchFamily="18" charset="0"/>
                                  </a:rPr>
                                </m:ctrlPr>
                              </m:accPr>
                              <m:e>
                                <m:r>
                                  <a:rPr lang="en-US" i="1" dirty="0">
                                    <a:solidFill>
                                      <a:schemeClr val="accent6">
                                        <a:lumMod val="75000"/>
                                      </a:schemeClr>
                                    </a:solidFill>
                                    <a:latin typeface="Cambria Math" panose="02040503050406030204" pitchFamily="18" charset="0"/>
                                    <a:ea typeface="Cambria Math" panose="02040503050406030204" pitchFamily="18" charset="0"/>
                                  </a:rPr>
                                  <m:t>𝑚</m:t>
                                </m:r>
                              </m:e>
                            </m:acc>
                          </m:sub>
                        </m:sSub>
                        <m:r>
                          <a:rPr lang="en-US" i="1" dirty="0">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e>
                    </m:d>
                    <m:r>
                      <a:rPr lang="en-US" i="1">
                        <a:solidFill>
                          <a:schemeClr val="accent6">
                            <a:lumMod val="75000"/>
                          </a:schemeClr>
                        </a:solidFill>
                        <a:latin typeface="Cambria Math" panose="02040503050406030204" pitchFamily="18" charset="0"/>
                        <a:ea typeface="Cambria Math" panose="02040503050406030204" pitchFamily="18" charset="0"/>
                      </a:rPr>
                      <m:t> </m:t>
                    </m:r>
                  </m:oMath>
                </a14:m>
                <a:r>
                  <a:rPr lang="en-US"/>
                  <a:t>is a good estimate of </a:t>
                </a:r>
                <a14:m>
                  <m:oMath xmlns:m="http://schemas.openxmlformats.org/officeDocument/2006/math">
                    <m:r>
                      <a:rPr lang="en-US" i="1" dirty="0" smtClean="0">
                        <a:solidFill>
                          <a:schemeClr val="accent6">
                            <a:lumMod val="75000"/>
                          </a:schemeClr>
                        </a:solidFill>
                        <a:latin typeface="Cambria Math" panose="02040503050406030204" pitchFamily="18" charset="0"/>
                      </a:rPr>
                      <m:t>𝑒</m:t>
                    </m:r>
                    <m:r>
                      <a:rPr lang="en-US" b="0" i="1" dirty="0" smtClean="0">
                        <a:solidFill>
                          <a:schemeClr val="accent6">
                            <a:lumMod val="75000"/>
                          </a:schemeClr>
                        </a:solidFill>
                        <a:latin typeface="Cambria Math" panose="02040503050406030204" pitchFamily="18" charset="0"/>
                      </a:rPr>
                      <m:t>𝑟𝑟</m:t>
                    </m:r>
                    <m:d>
                      <m:dPr>
                        <m:ctrlPr>
                          <a:rPr lang="en-US" i="1" dirty="0">
                            <a:solidFill>
                              <a:schemeClr val="accent6">
                                <a:lumMod val="75000"/>
                              </a:schemeClr>
                            </a:solidFill>
                            <a:latin typeface="Cambria Math" panose="02040503050406030204" pitchFamily="18" charset="0"/>
                          </a:rPr>
                        </m:ctrlPr>
                      </m:dPr>
                      <m:e>
                        <m:sSub>
                          <m:sSubPr>
                            <m:ctrlPr>
                              <a:rPr lang="en-US" i="1" dirty="0">
                                <a:solidFill>
                                  <a:schemeClr val="accent6">
                                    <a:lumMod val="75000"/>
                                  </a:schemeClr>
                                </a:solidFill>
                                <a:latin typeface="Cambria Math" panose="02040503050406030204" pitchFamily="18" charset="0"/>
                              </a:rPr>
                            </m:ctrlPr>
                          </m:sSubPr>
                          <m:e>
                            <m:r>
                              <a:rPr lang="en-US" i="1" dirty="0">
                                <a:solidFill>
                                  <a:schemeClr val="accent6">
                                    <a:lumMod val="75000"/>
                                  </a:schemeClr>
                                </a:solidFill>
                                <a:latin typeface="Cambria Math" panose="02040503050406030204" pitchFamily="18" charset="0"/>
                              </a:rPr>
                              <m:t>ℎ</m:t>
                            </m:r>
                          </m:e>
                          <m:sub>
                            <m:acc>
                              <m:accPr>
                                <m:chr m:val="̂"/>
                                <m:ctrlPr>
                                  <a:rPr lang="en-US" i="1" dirty="0">
                                    <a:solidFill>
                                      <a:schemeClr val="accent6">
                                        <a:lumMod val="75000"/>
                                      </a:schemeClr>
                                    </a:solidFill>
                                    <a:latin typeface="Cambria Math" panose="02040503050406030204" pitchFamily="18" charset="0"/>
                                    <a:ea typeface="Cambria Math" panose="02040503050406030204" pitchFamily="18" charset="0"/>
                                  </a:rPr>
                                </m:ctrlPr>
                              </m:accPr>
                              <m:e>
                                <m:r>
                                  <a:rPr lang="en-US" i="1" dirty="0">
                                    <a:solidFill>
                                      <a:schemeClr val="accent6">
                                        <a:lumMod val="75000"/>
                                      </a:schemeClr>
                                    </a:solidFill>
                                    <a:latin typeface="Cambria Math" panose="02040503050406030204" pitchFamily="18" charset="0"/>
                                    <a:ea typeface="Cambria Math" panose="02040503050406030204" pitchFamily="18" charset="0"/>
                                  </a:rPr>
                                  <m:t>𝑚</m:t>
                                </m:r>
                              </m:e>
                            </m:acc>
                          </m:sub>
                        </m:sSub>
                      </m:e>
                    </m:d>
                  </m:oMath>
                </a14:m>
                <a:r>
                  <a:rPr lang="en-US"/>
                  <a:t>!</a:t>
                </a:r>
              </a:p>
            </p:txBody>
          </p:sp>
        </mc:Choice>
        <mc:Fallback xmlns="">
          <p:sp>
            <p:nvSpPr>
              <p:cNvPr id="8" name="Content Placeholder 2">
                <a:extLst>
                  <a:ext uri="{FF2B5EF4-FFF2-40B4-BE49-F238E27FC236}">
                    <a16:creationId xmlns:a16="http://schemas.microsoft.com/office/drawing/2014/main" id="{E89E215A-2338-5841-9C02-AAEA1377B991}"/>
                  </a:ext>
                </a:extLst>
              </p:cNvPr>
              <p:cNvSpPr>
                <a:spLocks noGrp="1" noRot="1" noChangeAspect="1" noMove="1" noResize="1" noEditPoints="1" noAdjustHandles="1" noChangeArrowheads="1" noChangeShapeType="1" noTextEdit="1"/>
              </p:cNvSpPr>
              <p:nvPr>
                <p:ph idx="1"/>
              </p:nvPr>
            </p:nvSpPr>
            <p:spPr>
              <a:xfrm>
                <a:off x="3869267" y="864108"/>
                <a:ext cx="7685423" cy="5120640"/>
              </a:xfrm>
              <a:blipFill>
                <a:blip r:embed="rId3"/>
                <a:stretch>
                  <a:fillRect l="-825" b="-2228"/>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7631DDF3-5E34-BB0F-6704-E8A0B62ECF90}"/>
                  </a:ext>
                </a:extLst>
              </p14:cNvPr>
              <p14:cNvContentPartPr/>
              <p14:nvPr/>
            </p14:nvContentPartPr>
            <p14:xfrm>
              <a:off x="6748860" y="1194900"/>
              <a:ext cx="474840" cy="10800"/>
            </p14:xfrm>
          </p:contentPart>
        </mc:Choice>
        <mc:Fallback xmlns="">
          <p:pic>
            <p:nvPicPr>
              <p:cNvPr id="5" name="Ink 4">
                <a:extLst>
                  <a:ext uri="{FF2B5EF4-FFF2-40B4-BE49-F238E27FC236}">
                    <a16:creationId xmlns:a16="http://schemas.microsoft.com/office/drawing/2014/main" id="{7631DDF3-5E34-BB0F-6704-E8A0B62ECF90}"/>
                  </a:ext>
                </a:extLst>
              </p:cNvPr>
              <p:cNvPicPr/>
              <p:nvPr/>
            </p:nvPicPr>
            <p:blipFill>
              <a:blip r:embed="rId5"/>
              <a:stretch>
                <a:fillRect/>
              </a:stretch>
            </p:blipFill>
            <p:spPr>
              <a:xfrm>
                <a:off x="6658860" y="1008693"/>
                <a:ext cx="654480" cy="382841"/>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E79C621D-570F-15DB-287E-97E7C35144D0}"/>
                  </a:ext>
                </a:extLst>
              </p14:cNvPr>
              <p14:cNvContentPartPr/>
              <p14:nvPr/>
            </p14:nvContentPartPr>
            <p14:xfrm>
              <a:off x="7257900" y="3849180"/>
              <a:ext cx="430200" cy="17280"/>
            </p14:xfrm>
          </p:contentPart>
        </mc:Choice>
        <mc:Fallback xmlns="">
          <p:pic>
            <p:nvPicPr>
              <p:cNvPr id="6" name="Ink 5">
                <a:extLst>
                  <a:ext uri="{FF2B5EF4-FFF2-40B4-BE49-F238E27FC236}">
                    <a16:creationId xmlns:a16="http://schemas.microsoft.com/office/drawing/2014/main" id="{E79C621D-570F-15DB-287E-97E7C35144D0}"/>
                  </a:ext>
                </a:extLst>
              </p:cNvPr>
              <p:cNvPicPr/>
              <p:nvPr/>
            </p:nvPicPr>
            <p:blipFill>
              <a:blip r:embed="rId7"/>
              <a:stretch>
                <a:fillRect/>
              </a:stretch>
            </p:blipFill>
            <p:spPr>
              <a:xfrm>
                <a:off x="7167900" y="3669180"/>
                <a:ext cx="60984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82F488DE-30E1-76F0-F0CB-FBAD8F48EC23}"/>
                  </a:ext>
                </a:extLst>
              </p14:cNvPr>
              <p14:cNvContentPartPr/>
              <p14:nvPr/>
            </p14:nvContentPartPr>
            <p14:xfrm>
              <a:off x="5104020" y="4326540"/>
              <a:ext cx="1903680" cy="16200"/>
            </p14:xfrm>
          </p:contentPart>
        </mc:Choice>
        <mc:Fallback xmlns="">
          <p:pic>
            <p:nvPicPr>
              <p:cNvPr id="7" name="Ink 6">
                <a:extLst>
                  <a:ext uri="{FF2B5EF4-FFF2-40B4-BE49-F238E27FC236}">
                    <a16:creationId xmlns:a16="http://schemas.microsoft.com/office/drawing/2014/main" id="{82F488DE-30E1-76F0-F0CB-FBAD8F48EC23}"/>
                  </a:ext>
                </a:extLst>
              </p:cNvPr>
              <p:cNvPicPr/>
              <p:nvPr/>
            </p:nvPicPr>
            <p:blipFill>
              <a:blip r:embed="rId9"/>
              <a:stretch>
                <a:fillRect/>
              </a:stretch>
            </p:blipFill>
            <p:spPr>
              <a:xfrm>
                <a:off x="5014020" y="4146540"/>
                <a:ext cx="208332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4DACBC1F-EAB1-93E3-D2C5-5D5DF514B7A6}"/>
                  </a:ext>
                </a:extLst>
              </p14:cNvPr>
              <p14:cNvContentPartPr/>
              <p14:nvPr/>
            </p14:nvContentPartPr>
            <p14:xfrm>
              <a:off x="7771620" y="4885260"/>
              <a:ext cx="1718640" cy="57600"/>
            </p14:xfrm>
          </p:contentPart>
        </mc:Choice>
        <mc:Fallback xmlns="">
          <p:pic>
            <p:nvPicPr>
              <p:cNvPr id="9" name="Ink 8">
                <a:extLst>
                  <a:ext uri="{FF2B5EF4-FFF2-40B4-BE49-F238E27FC236}">
                    <a16:creationId xmlns:a16="http://schemas.microsoft.com/office/drawing/2014/main" id="{4DACBC1F-EAB1-93E3-D2C5-5D5DF514B7A6}"/>
                  </a:ext>
                </a:extLst>
              </p:cNvPr>
              <p:cNvPicPr/>
              <p:nvPr/>
            </p:nvPicPr>
            <p:blipFill>
              <a:blip r:embed="rId11"/>
              <a:stretch>
                <a:fillRect/>
              </a:stretch>
            </p:blipFill>
            <p:spPr>
              <a:xfrm>
                <a:off x="7681620" y="4705260"/>
                <a:ext cx="1898280" cy="417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46A68B4-145B-042D-76F5-C439F364ED2B}"/>
                  </a:ext>
                </a:extLst>
              </p14:cNvPr>
              <p14:cNvContentPartPr/>
              <p14:nvPr/>
            </p14:nvContentPartPr>
            <p14:xfrm>
              <a:off x="7685940" y="1201740"/>
              <a:ext cx="524520" cy="22320"/>
            </p14:xfrm>
          </p:contentPart>
        </mc:Choice>
        <mc:Fallback xmlns="">
          <p:pic>
            <p:nvPicPr>
              <p:cNvPr id="10" name="Ink 9">
                <a:extLst>
                  <a:ext uri="{FF2B5EF4-FFF2-40B4-BE49-F238E27FC236}">
                    <a16:creationId xmlns:a16="http://schemas.microsoft.com/office/drawing/2014/main" id="{A46A68B4-145B-042D-76F5-C439F364ED2B}"/>
                  </a:ext>
                </a:extLst>
              </p:cNvPr>
              <p:cNvPicPr/>
              <p:nvPr/>
            </p:nvPicPr>
            <p:blipFill>
              <a:blip r:embed="rId13"/>
              <a:stretch>
                <a:fillRect/>
              </a:stretch>
            </p:blipFill>
            <p:spPr>
              <a:xfrm>
                <a:off x="7595940" y="1021740"/>
                <a:ext cx="70416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3987F73B-6524-CAB1-540E-F040996F6C0C}"/>
                  </a:ext>
                </a:extLst>
              </p14:cNvPr>
              <p14:cNvContentPartPr/>
              <p14:nvPr/>
            </p14:nvContentPartPr>
            <p14:xfrm>
              <a:off x="4863540" y="5723700"/>
              <a:ext cx="1732320" cy="31320"/>
            </p14:xfrm>
          </p:contentPart>
        </mc:Choice>
        <mc:Fallback xmlns="">
          <p:pic>
            <p:nvPicPr>
              <p:cNvPr id="11" name="Ink 10">
                <a:extLst>
                  <a:ext uri="{FF2B5EF4-FFF2-40B4-BE49-F238E27FC236}">
                    <a16:creationId xmlns:a16="http://schemas.microsoft.com/office/drawing/2014/main" id="{3987F73B-6524-CAB1-540E-F040996F6C0C}"/>
                  </a:ext>
                </a:extLst>
              </p:cNvPr>
              <p:cNvPicPr/>
              <p:nvPr/>
            </p:nvPicPr>
            <p:blipFill>
              <a:blip r:embed="rId15"/>
              <a:stretch>
                <a:fillRect/>
              </a:stretch>
            </p:blipFill>
            <p:spPr>
              <a:xfrm>
                <a:off x="4773559" y="5543700"/>
                <a:ext cx="1911923" cy="390960"/>
              </a:xfrm>
              <a:prstGeom prst="rect">
                <a:avLst/>
              </a:prstGeom>
            </p:spPr>
          </p:pic>
        </mc:Fallback>
      </mc:AlternateContent>
    </p:spTree>
    <p:extLst>
      <p:ext uri="{BB962C8B-B14F-4D97-AF65-F5344CB8AC3E}">
        <p14:creationId xmlns:p14="http://schemas.microsoft.com/office/powerpoint/2010/main" val="310990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250"/>
                                        <p:tgtEl>
                                          <p:spTgt spid="5"/>
                                        </p:tgtEl>
                                      </p:cBhvr>
                                    </p:animEffect>
                                  </p:childTnLst>
                                </p:cTn>
                              </p:par>
                              <p:par>
                                <p:cTn id="8" presetID="9"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250"/>
                                        <p:tgtEl>
                                          <p:spTgt spid="6"/>
                                        </p:tgtEl>
                                      </p:cBhvr>
                                    </p:animEffect>
                                  </p:childTnLst>
                                </p:cTn>
                              </p:par>
                              <p:par>
                                <p:cTn id="11" presetID="9"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250"/>
                                        <p:tgtEl>
                                          <p:spTgt spid="7"/>
                                        </p:tgtEl>
                                      </p:cBhvr>
                                    </p:animEffect>
                                  </p:childTnLst>
                                </p:cTn>
                              </p:par>
                              <p:par>
                                <p:cTn id="14" presetID="9"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25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dissolve">
                                      <p:cBhvr>
                                        <p:cTn id="21" dur="250"/>
                                        <p:tgtEl>
                                          <p:spTgt spid="10"/>
                                        </p:tgtEl>
                                      </p:cBhvr>
                                    </p:animEffect>
                                  </p:childTnLst>
                                </p:cTn>
                              </p:par>
                              <p:par>
                                <p:cTn id="22" presetID="9"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5EBF-89FB-314E-9E95-7C7C61A53A4D}"/>
              </a:ext>
            </a:extLst>
          </p:cNvPr>
          <p:cNvSpPr>
            <a:spLocks noGrp="1"/>
          </p:cNvSpPr>
          <p:nvPr>
            <p:ph type="title"/>
          </p:nvPr>
        </p:nvSpPr>
        <p:spPr>
          <a:xfrm>
            <a:off x="252919" y="1123837"/>
            <a:ext cx="3193666" cy="4601183"/>
          </a:xfrm>
        </p:spPr>
        <p:txBody>
          <a:bodyPr/>
          <a:lstStyle/>
          <a:p>
            <a:r>
              <a:rPr lang="en-US"/>
              <a:t>Hyperparameter Optimization</a:t>
            </a:r>
            <a:br>
              <a:rPr lang="en-US"/>
            </a:br>
            <a:r>
              <a:rPr lang="en-US"/>
              <a:t>with </a:t>
            </a:r>
            <a:br>
              <a:rPr lang="en-US"/>
            </a:br>
            <a:r>
              <a:rPr lang="en-US"/>
              <a:t>Validation Sets</a:t>
            </a:r>
          </a:p>
        </p:txBody>
      </p:sp>
      <p:sp>
        <p:nvSpPr>
          <p:cNvPr id="4" name="Slide Number Placeholder 3">
            <a:extLst>
              <a:ext uri="{FF2B5EF4-FFF2-40B4-BE49-F238E27FC236}">
                <a16:creationId xmlns:a16="http://schemas.microsoft.com/office/drawing/2014/main" id="{05DA2F36-0093-D34E-A1F5-A9FC2195704D}"/>
              </a:ext>
            </a:extLst>
          </p:cNvPr>
          <p:cNvSpPr>
            <a:spLocks noGrp="1"/>
          </p:cNvSpPr>
          <p:nvPr>
            <p:ph type="sldNum" sz="quarter" idx="12"/>
          </p:nvPr>
        </p:nvSpPr>
        <p:spPr/>
        <p:txBody>
          <a:bodyPr/>
          <a:lstStyle/>
          <a:p>
            <a:fld id="{4FAB73BC-B049-4115-A692-8D63A059BFB8}" type="slidenum">
              <a:rPr lang="en-US" smtClean="0"/>
              <a:pPr/>
              <a:t>40</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E89E215A-2338-5841-9C02-AAEA1377B991}"/>
                  </a:ext>
                </a:extLst>
              </p:cNvPr>
              <p:cNvSpPr>
                <a:spLocks noGrp="1"/>
              </p:cNvSpPr>
              <p:nvPr>
                <p:ph idx="1"/>
              </p:nvPr>
            </p:nvSpPr>
            <p:spPr>
              <a:xfrm>
                <a:off x="3869267" y="864108"/>
                <a:ext cx="7685423" cy="5120640"/>
              </a:xfrm>
            </p:spPr>
            <p:txBody>
              <a:bodyPr>
                <a:normAutofit/>
              </a:bodyPr>
              <a:lstStyle/>
              <a:p>
                <a:pPr>
                  <a:lnSpc>
                    <a:spcPct val="130000"/>
                  </a:lnSpc>
                </a:pPr>
                <a:r>
                  <a:rPr lang="en-US"/>
                  <a:t>Given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r>
                      <a:rPr lang="en-US"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𝑡𝑟𝑎𝑖𝑛</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𝑣𝑎𝑙</m:t>
                        </m:r>
                      </m:sub>
                    </m:sSub>
                    <m:r>
                      <a:rPr lang="en-US"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oMath>
                </a14:m>
                <a:r>
                  <a:rPr lang="en-US"/>
                  <a:t>, suppose we have multiple candidate hyperparameter settings: </a:t>
                </a:r>
                <a:br>
                  <a:rPr lang="en-US"/>
                </a:br>
                <a14:m>
                  <m:oMath xmlns:m="http://schemas.openxmlformats.org/officeDocument/2006/math">
                    <m:sSub>
                      <m:sSubPr>
                        <m:ctrlPr>
                          <a:rPr lang="en-US" b="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ea typeface="Cambria Math" panose="02040503050406030204" pitchFamily="18" charset="0"/>
                          </a:rPr>
                          <m:t>𝜃</m:t>
                        </m:r>
                      </m:e>
                      <m:sub>
                        <m:r>
                          <a:rPr lang="en-US" i="1">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 </m:t>
                    </m:r>
                    <m:sSub>
                      <m:sSubPr>
                        <m:ctrlPr>
                          <a:rPr lang="en-US" b="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ea typeface="Cambria Math" panose="02040503050406030204" pitchFamily="18" charset="0"/>
                          </a:rPr>
                          <m:t>𝜃</m:t>
                        </m:r>
                      </m:e>
                      <m:sub>
                        <m:r>
                          <a:rPr lang="en-US" i="1">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b="0" i="1" smtClean="0">
                            <a:solidFill>
                              <a:schemeClr val="accent6">
                                <a:lumMod val="75000"/>
                              </a:schemeClr>
                            </a:solidFill>
                            <a:latin typeface="Cambria Math" panose="02040503050406030204" pitchFamily="18" charset="0"/>
                            <a:ea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ea typeface="Cambria Math" panose="02040503050406030204" pitchFamily="18" charset="0"/>
                          </a:rPr>
                          <m:t>𝜃</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oMath>
                </a14:m>
                <a:endParaRPr lang="en-US"/>
              </a:p>
              <a:p>
                <a:pPr>
                  <a:lnSpc>
                    <a:spcPct val="130000"/>
                  </a:lnSpc>
                </a:pPr>
                <a:r>
                  <a:rPr lang="en-US"/>
                  <a:t>Learn a classifier for each setting using only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𝑡𝑟𝑎𝑖𝑛</m:t>
                        </m:r>
                      </m:sub>
                    </m:sSub>
                  </m:oMath>
                </a14:m>
                <a:r>
                  <a:rPr lang="en-US"/>
                  <a:t>: </a:t>
                </a:r>
                <a:br>
                  <a:rPr lang="en-US"/>
                </a:b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i="1">
                        <a:solidFill>
                          <a:schemeClr val="accent6">
                            <a:lumMod val="75000"/>
                          </a:schemeClr>
                        </a:solidFill>
                        <a:latin typeface="Cambria Math" panose="02040503050406030204" pitchFamily="18" charset="0"/>
                        <a:ea typeface="Cambria Math" panose="02040503050406030204" pitchFamily="18" charset="0"/>
                      </a:rPr>
                      <m:t>,</m:t>
                    </m:r>
                    <m:r>
                      <a:rPr lang="en-US" b="0" i="1" smtClean="0">
                        <a:solidFill>
                          <a:schemeClr val="accent6">
                            <a:lumMod val="75000"/>
                          </a:schemeClr>
                        </a:solidFill>
                        <a:latin typeface="Cambria Math" panose="02040503050406030204" pitchFamily="18" charset="0"/>
                        <a:ea typeface="Cambria Math" panose="02040503050406030204" pitchFamily="18" charset="0"/>
                      </a:rPr>
                      <m:t> </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2</m:t>
                        </m:r>
                      </m:sub>
                    </m:sSub>
                    <m:r>
                      <a:rPr lang="en-US" i="1">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ℎ</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𝑀</m:t>
                        </m:r>
                      </m:sub>
                    </m:sSub>
                  </m:oMath>
                </a14:m>
                <a:endParaRPr lang="en-US"/>
              </a:p>
              <a:p>
                <a:pPr>
                  <a:lnSpc>
                    <a:spcPct val="130000"/>
                  </a:lnSpc>
                </a:pPr>
                <a:r>
                  <a:rPr lang="en-US"/>
                  <a:t>Evaluate each one using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𝑣𝑎𝑙</m:t>
                        </m:r>
                      </m:sub>
                    </m:sSub>
                  </m:oMath>
                </a14:m>
                <a:r>
                  <a:rPr lang="en-US"/>
                  <a:t> and choose the one with lowest </a:t>
                </a:r>
                <a:r>
                  <a:rPr lang="en-US" i="1"/>
                  <a:t>validation</a:t>
                </a:r>
                <a:r>
                  <a:rPr lang="en-US"/>
                  <a:t> error: </a:t>
                </a:r>
              </a:p>
              <a:p>
                <a:pPr marL="0" indent="0">
                  <a:lnSpc>
                    <a:spcPct val="130000"/>
                  </a:lnSpc>
                  <a:buNone/>
                </a:pPr>
                <a14:m>
                  <m:oMathPara xmlns:m="http://schemas.openxmlformats.org/officeDocument/2006/math">
                    <m:oMath>
                      <m:acc>
                        <m:accPr>
                          <m:chr m:val="̂"/>
                          <m:ctrlPr>
                            <a:rPr lang="en-US" b="0" i="1" dirty="0" smtClean="0">
                              <a:solidFill>
                                <a:schemeClr val="accent6">
                                  <a:lumMod val="75000"/>
                                </a:schemeClr>
                              </a:solidFill>
                              <a:latin typeface="Cambria Math" panose="02040503050406030204" pitchFamily="18" charset="0"/>
                              <a:ea typeface="Cambria Math" panose="02040503050406030204" pitchFamily="18" charset="0"/>
                            </a:rPr>
                          </m:ctrlPr>
                        </m:accPr>
                        <m:e>
                          <m:r>
                            <a:rPr lang="en-US" b="0" i="1" dirty="0" smtClean="0">
                              <a:solidFill>
                                <a:schemeClr val="accent6">
                                  <a:lumMod val="75000"/>
                                </a:schemeClr>
                              </a:solidFill>
                              <a:latin typeface="Cambria Math" panose="02040503050406030204" pitchFamily="18" charset="0"/>
                              <a:ea typeface="Cambria Math" panose="02040503050406030204" pitchFamily="18" charset="0"/>
                            </a:rPr>
                            <m:t>𝑚</m:t>
                          </m:r>
                        </m:e>
                      </m:acc>
                      <m:r>
                        <a:rPr lang="en-US" b="0" i="1" dirty="0" smtClean="0">
                          <a:solidFill>
                            <a:schemeClr val="accent6">
                              <a:lumMod val="75000"/>
                            </a:schemeClr>
                          </a:solidFill>
                          <a:latin typeface="Cambria Math" panose="02040503050406030204" pitchFamily="18" charset="0"/>
                        </a:rPr>
                        <m:t>=</m:t>
                      </m:r>
                      <m:func>
                        <m:funcPr>
                          <m:ctrlPr>
                            <a:rPr lang="en-US" b="0" i="1" dirty="0" smtClean="0">
                              <a:solidFill>
                                <a:schemeClr val="accent6">
                                  <a:lumMod val="75000"/>
                                </a:schemeClr>
                              </a:solidFill>
                              <a:latin typeface="Cambria Math" panose="02040503050406030204" pitchFamily="18" charset="0"/>
                            </a:rPr>
                          </m:ctrlPr>
                        </m:funcPr>
                        <m:fName>
                          <m:limLow>
                            <m:limLowPr>
                              <m:ctrlPr>
                                <a:rPr lang="en-US" b="0" i="0" dirty="0" smtClean="0">
                                  <a:solidFill>
                                    <a:schemeClr val="accent6">
                                      <a:lumMod val="75000"/>
                                    </a:schemeClr>
                                  </a:solidFill>
                                  <a:latin typeface="Cambria Math" panose="02040503050406030204" pitchFamily="18" charset="0"/>
                                </a:rPr>
                              </m:ctrlPr>
                            </m:limLowPr>
                            <m:e>
                              <m:r>
                                <m:rPr>
                                  <m:sty m:val="p"/>
                                </m:rPr>
                                <a:rPr lang="en-US" b="0" i="0" dirty="0" smtClean="0">
                                  <a:solidFill>
                                    <a:schemeClr val="accent6">
                                      <a:lumMod val="75000"/>
                                    </a:schemeClr>
                                  </a:solidFill>
                                  <a:latin typeface="Cambria Math" panose="02040503050406030204" pitchFamily="18" charset="0"/>
                                </a:rPr>
                                <m:t>argmin</m:t>
                              </m:r>
                            </m:e>
                            <m:lim>
                              <m:r>
                                <a:rPr lang="en-US" b="0" i="1" dirty="0" smtClean="0">
                                  <a:solidFill>
                                    <a:schemeClr val="accent6">
                                      <a:lumMod val="75000"/>
                                    </a:schemeClr>
                                  </a:solidFill>
                                  <a:latin typeface="Cambria Math" panose="02040503050406030204" pitchFamily="18" charset="0"/>
                                </a:rPr>
                                <m:t>𝑚</m:t>
                              </m:r>
                              <m:r>
                                <a:rPr lang="en-US" b="0" i="1" dirty="0" smtClean="0">
                                  <a:solidFill>
                                    <a:schemeClr val="accent6">
                                      <a:lumMod val="75000"/>
                                    </a:schemeClr>
                                  </a:solidFill>
                                  <a:latin typeface="Cambria Math" panose="02040503050406030204" pitchFamily="18" charset="0"/>
                                </a:rPr>
                                <m:t>∈</m:t>
                              </m:r>
                              <m:r>
                                <m:rPr>
                                  <m:lit/>
                                </m:rPr>
                                <a:rPr lang="en-US" b="0" i="1" dirty="0" smtClean="0">
                                  <a:solidFill>
                                    <a:schemeClr val="accent6">
                                      <a:lumMod val="75000"/>
                                    </a:schemeClr>
                                  </a:solidFill>
                                  <a:latin typeface="Cambria Math" panose="02040503050406030204" pitchFamily="18" charset="0"/>
                                </a:rPr>
                                <m:t>{</m:t>
                              </m:r>
                              <m:r>
                                <a:rPr lang="en-US" b="0" i="1" dirty="0" smtClean="0">
                                  <a:solidFill>
                                    <a:schemeClr val="accent6">
                                      <a:lumMod val="75000"/>
                                    </a:schemeClr>
                                  </a:solidFill>
                                  <a:latin typeface="Cambria Math" panose="02040503050406030204" pitchFamily="18" charset="0"/>
                                </a:rPr>
                                <m:t>1,…,</m:t>
                              </m:r>
                              <m:r>
                                <a:rPr lang="en-US" b="0" i="1" dirty="0" smtClean="0">
                                  <a:solidFill>
                                    <a:schemeClr val="accent6">
                                      <a:lumMod val="75000"/>
                                    </a:schemeClr>
                                  </a:solidFill>
                                  <a:latin typeface="Cambria Math" panose="02040503050406030204" pitchFamily="18" charset="0"/>
                                </a:rPr>
                                <m:t>𝑀</m:t>
                              </m:r>
                              <m:r>
                                <a:rPr lang="en-US" b="0" i="1" dirty="0" smtClean="0">
                                  <a:solidFill>
                                    <a:schemeClr val="accent6">
                                      <a:lumMod val="75000"/>
                                    </a:schemeClr>
                                  </a:solidFill>
                                  <a:latin typeface="Cambria Math" panose="02040503050406030204" pitchFamily="18" charset="0"/>
                                </a:rPr>
                                <m:t>}</m:t>
                              </m:r>
                            </m:lim>
                          </m:limLow>
                        </m:fName>
                        <m:e>
                          <m:r>
                            <a:rPr lang="en-US" b="0" i="1" dirty="0" smtClean="0">
                              <a:solidFill>
                                <a:schemeClr val="accent6">
                                  <a:lumMod val="75000"/>
                                </a:schemeClr>
                              </a:solidFill>
                              <a:latin typeface="Cambria Math" panose="02040503050406030204" pitchFamily="18" charset="0"/>
                            </a:rPr>
                            <m:t>𝑒𝑟𝑟</m:t>
                          </m:r>
                          <m:d>
                            <m:dPr>
                              <m:ctrlPr>
                                <a:rPr lang="en-US" b="0" i="1" dirty="0" smtClean="0">
                                  <a:solidFill>
                                    <a:schemeClr val="accent6">
                                      <a:lumMod val="75000"/>
                                    </a:schemeClr>
                                  </a:solidFill>
                                  <a:latin typeface="Cambria Math" panose="02040503050406030204" pitchFamily="18" charset="0"/>
                                </a:rPr>
                              </m:ctrlPr>
                            </m:dPr>
                            <m:e>
                              <m:sSub>
                                <m:sSubPr>
                                  <m:ctrlPr>
                                    <a:rPr lang="en-US" b="0" i="1" dirty="0" smtClean="0">
                                      <a:solidFill>
                                        <a:schemeClr val="accent6">
                                          <a:lumMod val="75000"/>
                                        </a:schemeClr>
                                      </a:solidFill>
                                      <a:latin typeface="Cambria Math" panose="02040503050406030204" pitchFamily="18" charset="0"/>
                                    </a:rPr>
                                  </m:ctrlPr>
                                </m:sSubPr>
                                <m:e>
                                  <m:r>
                                    <a:rPr lang="en-US" b="0" i="1" dirty="0" smtClean="0">
                                      <a:solidFill>
                                        <a:schemeClr val="accent6">
                                          <a:lumMod val="75000"/>
                                        </a:schemeClr>
                                      </a:solidFill>
                                      <a:latin typeface="Cambria Math" panose="02040503050406030204" pitchFamily="18" charset="0"/>
                                    </a:rPr>
                                    <m:t>ℎ</m:t>
                                  </m:r>
                                </m:e>
                                <m:sub>
                                  <m:r>
                                    <a:rPr lang="en-US" b="0" i="1" dirty="0" smtClean="0">
                                      <a:solidFill>
                                        <a:schemeClr val="accent6">
                                          <a:lumMod val="75000"/>
                                        </a:schemeClr>
                                      </a:solidFill>
                                      <a:latin typeface="Cambria Math" panose="02040503050406030204" pitchFamily="18" charset="0"/>
                                    </a:rPr>
                                    <m:t>𝑚</m:t>
                                  </m:r>
                                </m:sub>
                              </m:sSub>
                              <m:r>
                                <a:rPr lang="en-US" b="0" i="1" dirty="0" smtClean="0">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𝑣𝑎𝑙</m:t>
                                  </m:r>
                                </m:sub>
                              </m:sSub>
                            </m:e>
                          </m:d>
                        </m:e>
                      </m:func>
                    </m:oMath>
                  </m:oMathPara>
                </a14:m>
                <a:endParaRPr lang="en-US"/>
              </a:p>
              <a:p>
                <a:pPr>
                  <a:lnSpc>
                    <a:spcPct val="130000"/>
                  </a:lnSpc>
                </a:pPr>
                <a:r>
                  <a:rPr lang="en-US"/>
                  <a:t>Now </a:t>
                </a:r>
                <a14:m>
                  <m:oMath xmlns:m="http://schemas.openxmlformats.org/officeDocument/2006/math">
                    <m:r>
                      <a:rPr lang="en-US" i="1" dirty="0">
                        <a:solidFill>
                          <a:schemeClr val="accent6">
                            <a:lumMod val="75000"/>
                          </a:schemeClr>
                        </a:solidFill>
                        <a:latin typeface="Cambria Math" panose="02040503050406030204" pitchFamily="18" charset="0"/>
                      </a:rPr>
                      <m:t>𝑒𝑟𝑟</m:t>
                    </m:r>
                    <m:d>
                      <m:dPr>
                        <m:ctrlPr>
                          <a:rPr lang="en-US" i="1" dirty="0">
                            <a:solidFill>
                              <a:schemeClr val="accent6">
                                <a:lumMod val="75000"/>
                              </a:schemeClr>
                            </a:solidFill>
                            <a:latin typeface="Cambria Math" panose="02040503050406030204" pitchFamily="18" charset="0"/>
                          </a:rPr>
                        </m:ctrlPr>
                      </m:dPr>
                      <m:e>
                        <m:sSub>
                          <m:sSubPr>
                            <m:ctrlPr>
                              <a:rPr lang="en-US" i="1" dirty="0">
                                <a:solidFill>
                                  <a:schemeClr val="accent6">
                                    <a:lumMod val="75000"/>
                                  </a:schemeClr>
                                </a:solidFill>
                                <a:latin typeface="Cambria Math" panose="02040503050406030204" pitchFamily="18" charset="0"/>
                              </a:rPr>
                            </m:ctrlPr>
                          </m:sSubPr>
                          <m:e>
                            <m:r>
                              <a:rPr lang="en-US" i="1" dirty="0">
                                <a:solidFill>
                                  <a:schemeClr val="accent6">
                                    <a:lumMod val="75000"/>
                                  </a:schemeClr>
                                </a:solidFill>
                                <a:latin typeface="Cambria Math" panose="02040503050406030204" pitchFamily="18" charset="0"/>
                              </a:rPr>
                              <m:t>ℎ</m:t>
                            </m:r>
                          </m:e>
                          <m:sub>
                            <m:acc>
                              <m:accPr>
                                <m:chr m:val="̂"/>
                                <m:ctrlPr>
                                  <a:rPr lang="en-US" i="1" dirty="0">
                                    <a:solidFill>
                                      <a:schemeClr val="accent6">
                                        <a:lumMod val="75000"/>
                                      </a:schemeClr>
                                    </a:solidFill>
                                    <a:latin typeface="Cambria Math" panose="02040503050406030204" pitchFamily="18" charset="0"/>
                                    <a:ea typeface="Cambria Math" panose="02040503050406030204" pitchFamily="18" charset="0"/>
                                  </a:rPr>
                                </m:ctrlPr>
                              </m:accPr>
                              <m:e>
                                <m:r>
                                  <a:rPr lang="en-US" i="1" dirty="0">
                                    <a:solidFill>
                                      <a:schemeClr val="accent6">
                                        <a:lumMod val="75000"/>
                                      </a:schemeClr>
                                    </a:solidFill>
                                    <a:latin typeface="Cambria Math" panose="02040503050406030204" pitchFamily="18" charset="0"/>
                                    <a:ea typeface="Cambria Math" panose="02040503050406030204" pitchFamily="18" charset="0"/>
                                  </a:rPr>
                                  <m:t>𝑚</m:t>
                                </m:r>
                              </m:e>
                            </m:acc>
                          </m:sub>
                        </m:sSub>
                        <m:r>
                          <a:rPr lang="en-US" i="1" dirty="0">
                            <a:solidFill>
                              <a:schemeClr val="accent6">
                                <a:lumMod val="75000"/>
                              </a:schemeClr>
                            </a:solidFill>
                            <a:latin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i="1">
                                <a:solidFill>
                                  <a:schemeClr val="accent6">
                                    <a:lumMod val="75000"/>
                                  </a:schemeClr>
                                </a:solidFill>
                                <a:latin typeface="Cambria Math" panose="02040503050406030204" pitchFamily="18" charset="0"/>
                                <a:ea typeface="Cambria Math" panose="02040503050406030204" pitchFamily="18" charset="0"/>
                              </a:rPr>
                              <m:t>𝑡𝑒𝑠𝑡</m:t>
                            </m:r>
                          </m:sub>
                        </m:sSub>
                      </m:e>
                    </m:d>
                    <m:r>
                      <a:rPr lang="en-US" i="1">
                        <a:solidFill>
                          <a:schemeClr val="accent6">
                            <a:lumMod val="75000"/>
                          </a:schemeClr>
                        </a:solidFill>
                        <a:latin typeface="Cambria Math" panose="02040503050406030204" pitchFamily="18" charset="0"/>
                        <a:ea typeface="Cambria Math" panose="02040503050406030204" pitchFamily="18" charset="0"/>
                      </a:rPr>
                      <m:t> </m:t>
                    </m:r>
                  </m:oMath>
                </a14:m>
                <a:r>
                  <a:rPr lang="en-US"/>
                  <a:t>is a good estimate of </a:t>
                </a:r>
                <a14:m>
                  <m:oMath xmlns:m="http://schemas.openxmlformats.org/officeDocument/2006/math">
                    <m:r>
                      <a:rPr lang="en-US" i="1" dirty="0" smtClean="0">
                        <a:solidFill>
                          <a:schemeClr val="accent6">
                            <a:lumMod val="75000"/>
                          </a:schemeClr>
                        </a:solidFill>
                        <a:latin typeface="Cambria Math" panose="02040503050406030204" pitchFamily="18" charset="0"/>
                      </a:rPr>
                      <m:t>𝑒</m:t>
                    </m:r>
                    <m:r>
                      <a:rPr lang="en-US" b="0" i="1" dirty="0" smtClean="0">
                        <a:solidFill>
                          <a:schemeClr val="accent6">
                            <a:lumMod val="75000"/>
                          </a:schemeClr>
                        </a:solidFill>
                        <a:latin typeface="Cambria Math" panose="02040503050406030204" pitchFamily="18" charset="0"/>
                      </a:rPr>
                      <m:t>𝑟𝑟</m:t>
                    </m:r>
                    <m:d>
                      <m:dPr>
                        <m:ctrlPr>
                          <a:rPr lang="en-US" i="1" dirty="0">
                            <a:solidFill>
                              <a:schemeClr val="accent6">
                                <a:lumMod val="75000"/>
                              </a:schemeClr>
                            </a:solidFill>
                            <a:latin typeface="Cambria Math" panose="02040503050406030204" pitchFamily="18" charset="0"/>
                          </a:rPr>
                        </m:ctrlPr>
                      </m:dPr>
                      <m:e>
                        <m:sSub>
                          <m:sSubPr>
                            <m:ctrlPr>
                              <a:rPr lang="en-US" i="1" dirty="0">
                                <a:solidFill>
                                  <a:schemeClr val="accent6">
                                    <a:lumMod val="75000"/>
                                  </a:schemeClr>
                                </a:solidFill>
                                <a:latin typeface="Cambria Math" panose="02040503050406030204" pitchFamily="18" charset="0"/>
                              </a:rPr>
                            </m:ctrlPr>
                          </m:sSubPr>
                          <m:e>
                            <m:r>
                              <a:rPr lang="en-US" i="1" dirty="0">
                                <a:solidFill>
                                  <a:schemeClr val="accent6">
                                    <a:lumMod val="75000"/>
                                  </a:schemeClr>
                                </a:solidFill>
                                <a:latin typeface="Cambria Math" panose="02040503050406030204" pitchFamily="18" charset="0"/>
                              </a:rPr>
                              <m:t>ℎ</m:t>
                            </m:r>
                          </m:e>
                          <m:sub>
                            <m:acc>
                              <m:accPr>
                                <m:chr m:val="̂"/>
                                <m:ctrlPr>
                                  <a:rPr lang="en-US" i="1" dirty="0">
                                    <a:solidFill>
                                      <a:schemeClr val="accent6">
                                        <a:lumMod val="75000"/>
                                      </a:schemeClr>
                                    </a:solidFill>
                                    <a:latin typeface="Cambria Math" panose="02040503050406030204" pitchFamily="18" charset="0"/>
                                    <a:ea typeface="Cambria Math" panose="02040503050406030204" pitchFamily="18" charset="0"/>
                                  </a:rPr>
                                </m:ctrlPr>
                              </m:accPr>
                              <m:e>
                                <m:r>
                                  <a:rPr lang="en-US" i="1" dirty="0">
                                    <a:solidFill>
                                      <a:schemeClr val="accent6">
                                        <a:lumMod val="75000"/>
                                      </a:schemeClr>
                                    </a:solidFill>
                                    <a:latin typeface="Cambria Math" panose="02040503050406030204" pitchFamily="18" charset="0"/>
                                    <a:ea typeface="Cambria Math" panose="02040503050406030204" pitchFamily="18" charset="0"/>
                                  </a:rPr>
                                  <m:t>𝑚</m:t>
                                </m:r>
                              </m:e>
                            </m:acc>
                          </m:sub>
                        </m:sSub>
                      </m:e>
                    </m:d>
                  </m:oMath>
                </a14:m>
                <a:r>
                  <a:rPr lang="en-US"/>
                  <a:t>!</a:t>
                </a:r>
              </a:p>
            </p:txBody>
          </p:sp>
        </mc:Choice>
        <mc:Fallback xmlns="">
          <p:sp>
            <p:nvSpPr>
              <p:cNvPr id="8" name="Content Placeholder 2">
                <a:extLst>
                  <a:ext uri="{FF2B5EF4-FFF2-40B4-BE49-F238E27FC236}">
                    <a16:creationId xmlns:a16="http://schemas.microsoft.com/office/drawing/2014/main" id="{E89E215A-2338-5841-9C02-AAEA1377B991}"/>
                  </a:ext>
                </a:extLst>
              </p:cNvPr>
              <p:cNvSpPr>
                <a:spLocks noGrp="1" noRot="1" noChangeAspect="1" noMove="1" noResize="1" noEditPoints="1" noAdjustHandles="1" noChangeArrowheads="1" noChangeShapeType="1" noTextEdit="1"/>
              </p:cNvSpPr>
              <p:nvPr>
                <p:ph idx="1"/>
              </p:nvPr>
            </p:nvSpPr>
            <p:spPr>
              <a:xfrm>
                <a:off x="3869267" y="864108"/>
                <a:ext cx="7685423" cy="5120640"/>
              </a:xfrm>
              <a:blipFill>
                <a:blip r:embed="rId3"/>
                <a:stretch>
                  <a:fillRect l="-825" b="-2228"/>
                </a:stretch>
              </a:blipFill>
            </p:spPr>
            <p:txBody>
              <a:bodyPr/>
              <a:lstStyle/>
              <a:p>
                <a:r>
                  <a:rPr lang="en-US">
                    <a:noFill/>
                  </a:rPr>
                  <a:t> </a:t>
                </a:r>
              </a:p>
            </p:txBody>
          </p:sp>
        </mc:Fallback>
      </mc:AlternateContent>
    </p:spTree>
    <p:extLst>
      <p:ext uri="{BB962C8B-B14F-4D97-AF65-F5344CB8AC3E}">
        <p14:creationId xmlns:p14="http://schemas.microsoft.com/office/powerpoint/2010/main" val="301849123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D035EBF-89FB-314E-9E95-7C7C61A53A4D}"/>
                  </a:ext>
                </a:extLst>
              </p:cNvPr>
              <p:cNvSpPr>
                <a:spLocks noGrp="1"/>
              </p:cNvSpPr>
              <p:nvPr>
                <p:ph type="title"/>
              </p:nvPr>
            </p:nvSpPr>
            <p:spPr>
              <a:xfrm>
                <a:off x="252919" y="1100391"/>
                <a:ext cx="3193666" cy="4601183"/>
              </a:xfrm>
            </p:spPr>
            <p:txBody>
              <a:bodyPr/>
              <a:lstStyle/>
              <a:p>
                <a:r>
                  <a:rPr lang="en-US"/>
                  <a:t>Setting </a:t>
                </a:r>
                <a14:m>
                  <m:oMath xmlns:m="http://schemas.openxmlformats.org/officeDocument/2006/math">
                    <m:r>
                      <a:rPr lang="en-US" b="0" i="1" smtClean="0">
                        <a:latin typeface="Cambria Math" panose="02040503050406030204" pitchFamily="18" charset="0"/>
                      </a:rPr>
                      <m:t>𝑘</m:t>
                    </m:r>
                  </m:oMath>
                </a14:m>
                <a:r>
                  <a:rPr lang="en-US"/>
                  <a:t> </a:t>
                </a:r>
                <a:br>
                  <a:rPr lang="en-US"/>
                </a:br>
                <a:r>
                  <a:rPr lang="en-US"/>
                  <a:t>for </a:t>
                </a:r>
                <a14:m>
                  <m:oMath xmlns:m="http://schemas.openxmlformats.org/officeDocument/2006/math">
                    <m:r>
                      <a:rPr lang="en-US" i="1">
                        <a:latin typeface="Cambria Math" panose="02040503050406030204" pitchFamily="18" charset="0"/>
                      </a:rPr>
                      <m:t>𝑘</m:t>
                    </m:r>
                  </m:oMath>
                </a14:m>
                <a:r>
                  <a:rPr lang="en-US" spc="-100"/>
                  <a:t>NN</a:t>
                </a:r>
                <a:r>
                  <a:rPr lang="en-US" sz="4000" spc="-100"/>
                  <a:t> </a:t>
                </a:r>
                <a:br>
                  <a:rPr lang="en-US"/>
                </a:br>
                <a:r>
                  <a:rPr lang="en-US"/>
                  <a:t>with </a:t>
                </a:r>
                <a:br>
                  <a:rPr lang="en-US"/>
                </a:br>
                <a:r>
                  <a:rPr lang="en-US"/>
                  <a:t>Validation Sets</a:t>
                </a:r>
              </a:p>
            </p:txBody>
          </p:sp>
        </mc:Choice>
        <mc:Fallback xmlns="">
          <p:sp>
            <p:nvSpPr>
              <p:cNvPr id="2" name="Title 1">
                <a:extLst>
                  <a:ext uri="{FF2B5EF4-FFF2-40B4-BE49-F238E27FC236}">
                    <a16:creationId xmlns:a16="http://schemas.microsoft.com/office/drawing/2014/main" id="{AD035EBF-89FB-314E-9E95-7C7C61A53A4D}"/>
                  </a:ext>
                </a:extLst>
              </p:cNvPr>
              <p:cNvSpPr>
                <a:spLocks noGrp="1" noRot="1" noChangeAspect="1" noMove="1" noResize="1" noEditPoints="1" noAdjustHandles="1" noChangeArrowheads="1" noChangeShapeType="1" noTextEdit="1"/>
              </p:cNvSpPr>
              <p:nvPr>
                <p:ph type="title"/>
              </p:nvPr>
            </p:nvSpPr>
            <p:spPr>
              <a:xfrm>
                <a:off x="252919" y="1100391"/>
                <a:ext cx="3193666" cy="4601183"/>
              </a:xfrm>
              <a:blipFill>
                <a:blip r:embed="rId3"/>
                <a:stretch>
                  <a:fillRect l="-553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5DA2F36-0093-D34E-A1F5-A9FC2195704D}"/>
              </a:ext>
            </a:extLst>
          </p:cNvPr>
          <p:cNvSpPr>
            <a:spLocks noGrp="1"/>
          </p:cNvSpPr>
          <p:nvPr>
            <p:ph type="sldNum" sz="quarter" idx="12"/>
          </p:nvPr>
        </p:nvSpPr>
        <p:spPr/>
        <p:txBody>
          <a:bodyPr/>
          <a:lstStyle/>
          <a:p>
            <a:fld id="{4FAB73BC-B049-4115-A692-8D63A059BFB8}" type="slidenum">
              <a:rPr lang="en-US" smtClean="0"/>
              <a:pPr/>
              <a:t>41</a:t>
            </a:fld>
            <a:endParaRPr lang="en-US"/>
          </a:p>
        </p:txBody>
      </p:sp>
      <p:pic>
        <p:nvPicPr>
          <p:cNvPr id="7" name="Picture 6">
            <a:extLst>
              <a:ext uri="{FF2B5EF4-FFF2-40B4-BE49-F238E27FC236}">
                <a16:creationId xmlns:a16="http://schemas.microsoft.com/office/drawing/2014/main" id="{6F7540C5-BC7E-24BA-5AE7-1C877FFE7918}"/>
              </a:ext>
            </a:extLst>
          </p:cNvPr>
          <p:cNvPicPr>
            <a:picLocks noChangeAspect="1"/>
          </p:cNvPicPr>
          <p:nvPr/>
        </p:nvPicPr>
        <p:blipFill>
          <a:blip r:embed="rId4"/>
          <a:stretch>
            <a:fillRect/>
          </a:stretch>
        </p:blipFill>
        <p:spPr>
          <a:xfrm>
            <a:off x="4257134" y="803220"/>
            <a:ext cx="6997020" cy="52515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Date Placeholder 3">
            <a:extLst>
              <a:ext uri="{FF2B5EF4-FFF2-40B4-BE49-F238E27FC236}">
                <a16:creationId xmlns:a16="http://schemas.microsoft.com/office/drawing/2014/main" id="{DB9FBAE0-B596-9D31-FA2D-4B326DA2CBF3}"/>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C5904A1-1A91-1BBE-C1C7-31058FBE43EF}"/>
                  </a:ext>
                </a:extLst>
              </p:cNvPr>
              <p:cNvSpPr txBox="1"/>
              <p:nvPr/>
            </p:nvSpPr>
            <p:spPr>
              <a:xfrm>
                <a:off x="4936720" y="916450"/>
                <a:ext cx="5697415" cy="461665"/>
              </a:xfrm>
              <a:prstGeom prst="rect">
                <a:avLst/>
              </a:prstGeom>
              <a:solidFill>
                <a:schemeClr val="bg1"/>
              </a:solidFill>
            </p:spPr>
            <p:txBody>
              <a:bodyPr wrap="square" rtlCol="0">
                <a:spAutoFit/>
              </a:bodyPr>
              <a:lstStyle/>
              <a:p>
                <a:pPr algn="ctr"/>
                <a14:m>
                  <m:oMath xmlns:m="http://schemas.openxmlformats.org/officeDocument/2006/math">
                    <m:r>
                      <a:rPr lang="en-US" sz="2400" i="1" smtClean="0">
                        <a:solidFill>
                          <a:schemeClr val="tx1">
                            <a:lumMod val="65000"/>
                            <a:lumOff val="35000"/>
                          </a:schemeClr>
                        </a:solidFill>
                        <a:latin typeface="Cambria Math" panose="02040503050406030204" pitchFamily="18" charset="0"/>
                      </a:rPr>
                      <m:t>𝑘</m:t>
                    </m:r>
                  </m:oMath>
                </a14:m>
                <a:r>
                  <a:rPr lang="en-US" sz="2400" spc="-100">
                    <a:solidFill>
                      <a:schemeClr val="tx1">
                        <a:lumMod val="65000"/>
                        <a:lumOff val="35000"/>
                      </a:schemeClr>
                    </a:solidFill>
                    <a:latin typeface="Calibri" panose="020F0502020204030204" pitchFamily="34" charset="0"/>
                    <a:cs typeface="Calibri" panose="020F0502020204030204" pitchFamily="34" charset="0"/>
                  </a:rPr>
                  <a:t>NN train and validation errors on Fisher Iris data</a:t>
                </a:r>
                <a:endParaRPr lang="en-US" sz="2400">
                  <a:solidFill>
                    <a:schemeClr val="tx1">
                      <a:lumMod val="65000"/>
                      <a:lumOff val="35000"/>
                    </a:schemeClr>
                  </a:solidFill>
                  <a:latin typeface="Calibri" panose="020F0502020204030204" pitchFamily="34" charset="0"/>
                  <a:cs typeface="Calibri" panose="020F0502020204030204" pitchFamily="34" charset="0"/>
                </a:endParaRPr>
              </a:p>
            </p:txBody>
          </p:sp>
        </mc:Choice>
        <mc:Fallback xmlns="">
          <p:sp>
            <p:nvSpPr>
              <p:cNvPr id="10" name="TextBox 9">
                <a:extLst>
                  <a:ext uri="{FF2B5EF4-FFF2-40B4-BE49-F238E27FC236}">
                    <a16:creationId xmlns:a16="http://schemas.microsoft.com/office/drawing/2014/main" id="{EC5904A1-1A91-1BBE-C1C7-31058FBE43EF}"/>
                  </a:ext>
                </a:extLst>
              </p:cNvPr>
              <p:cNvSpPr txBox="1">
                <a:spLocks noRot="1" noChangeAspect="1" noMove="1" noResize="1" noEditPoints="1" noAdjustHandles="1" noChangeArrowheads="1" noChangeShapeType="1" noTextEdit="1"/>
              </p:cNvSpPr>
              <p:nvPr/>
            </p:nvSpPr>
            <p:spPr>
              <a:xfrm>
                <a:off x="4936720" y="916450"/>
                <a:ext cx="5697415" cy="461665"/>
              </a:xfrm>
              <a:prstGeom prst="rect">
                <a:avLst/>
              </a:prstGeom>
              <a:blipFill>
                <a:blip r:embed="rId5"/>
                <a:stretch>
                  <a:fillRect t="-8108" r="-1111" b="-29730"/>
                </a:stretch>
              </a:blipFill>
            </p:spPr>
            <p:txBody>
              <a:bodyPr/>
              <a:lstStyle/>
              <a:p>
                <a:r>
                  <a:rPr lang="en-US">
                    <a:noFill/>
                  </a:rPr>
                  <a:t> </a:t>
                </a:r>
              </a:p>
            </p:txBody>
          </p:sp>
        </mc:Fallback>
      </mc:AlternateContent>
    </p:spTree>
    <p:extLst>
      <p:ext uri="{BB962C8B-B14F-4D97-AF65-F5344CB8AC3E}">
        <p14:creationId xmlns:p14="http://schemas.microsoft.com/office/powerpoint/2010/main" val="15377698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DA2F36-0093-D34E-A1F5-A9FC2195704D}"/>
              </a:ext>
            </a:extLst>
          </p:cNvPr>
          <p:cNvSpPr>
            <a:spLocks noGrp="1"/>
          </p:cNvSpPr>
          <p:nvPr>
            <p:ph type="sldNum" sz="quarter" idx="12"/>
          </p:nvPr>
        </p:nvSpPr>
        <p:spPr/>
        <p:txBody>
          <a:bodyPr/>
          <a:lstStyle/>
          <a:p>
            <a:fld id="{4FAB73BC-B049-4115-A692-8D63A059BFB8}" type="slidenum">
              <a:rPr lang="en-US" smtClean="0"/>
              <a:pPr/>
              <a:t>42</a:t>
            </a:fld>
            <a:endParaRPr lang="en-US"/>
          </a:p>
        </p:txBody>
      </p:sp>
      <p:pic>
        <p:nvPicPr>
          <p:cNvPr id="7" name="Picture 6">
            <a:extLst>
              <a:ext uri="{FF2B5EF4-FFF2-40B4-BE49-F238E27FC236}">
                <a16:creationId xmlns:a16="http://schemas.microsoft.com/office/drawing/2014/main" id="{6F7540C5-BC7E-24BA-5AE7-1C877FFE7918}"/>
              </a:ext>
            </a:extLst>
          </p:cNvPr>
          <p:cNvPicPr>
            <a:picLocks noChangeAspect="1"/>
          </p:cNvPicPr>
          <p:nvPr/>
        </p:nvPicPr>
        <p:blipFill>
          <a:blip r:embed="rId3"/>
          <a:stretch>
            <a:fillRect/>
          </a:stretch>
        </p:blipFill>
        <p:spPr>
          <a:xfrm>
            <a:off x="4257134" y="803220"/>
            <a:ext cx="6997020" cy="52515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Date Placeholder 3">
            <a:extLst>
              <a:ext uri="{FF2B5EF4-FFF2-40B4-BE49-F238E27FC236}">
                <a16:creationId xmlns:a16="http://schemas.microsoft.com/office/drawing/2014/main" id="{DB9FBAE0-B596-9D31-FA2D-4B326DA2CBF3}"/>
              </a:ext>
            </a:extLst>
          </p:cNvPr>
          <p:cNvSpPr txBox="1">
            <a:spLocks/>
          </p:cNvSpPr>
          <p:nvPr/>
        </p:nvSpPr>
        <p:spPr>
          <a:xfrm>
            <a:off x="5120640" y="6356349"/>
            <a:ext cx="2992206" cy="365125"/>
          </a:xfrm>
          <a:prstGeom prst="rect">
            <a:avLst/>
          </a:prstGeom>
        </p:spPr>
        <p:txBody>
          <a:bodyPr vert="horz" lIns="91440" tIns="45720" rIns="91440" bIns="45720" rtlCol="0" anchor="ctr"/>
          <a:lstStyle>
            <a:defPPr>
              <a:defRPr lang="en-US"/>
            </a:defPPr>
            <a:lvl1pPr marL="0" algn="l" defTabSz="457200" rtl="0" eaLnBrk="1" latinLnBrk="0" hangingPunct="1">
              <a:defRPr sz="1100" kern="1200">
                <a:solidFill>
                  <a:schemeClr val="tx1">
                    <a:lumMod val="50000"/>
                    <a:lumOff val="50000"/>
                  </a:schemeClr>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Figure courtesy of Matt Gormley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C5904A1-1A91-1BBE-C1C7-31058FBE43EF}"/>
                  </a:ext>
                </a:extLst>
              </p:cNvPr>
              <p:cNvSpPr txBox="1"/>
              <p:nvPr/>
            </p:nvSpPr>
            <p:spPr>
              <a:xfrm>
                <a:off x="4936720" y="916450"/>
                <a:ext cx="5697415" cy="461665"/>
              </a:xfrm>
              <a:prstGeom prst="rect">
                <a:avLst/>
              </a:prstGeom>
              <a:solidFill>
                <a:schemeClr val="bg1"/>
              </a:solidFill>
            </p:spPr>
            <p:txBody>
              <a:bodyPr wrap="square" rtlCol="0">
                <a:spAutoFit/>
              </a:bodyPr>
              <a:lstStyle/>
              <a:p>
                <a:pPr algn="ctr"/>
                <a14:m>
                  <m:oMath xmlns:m="http://schemas.openxmlformats.org/officeDocument/2006/math">
                    <m:r>
                      <a:rPr lang="en-US" sz="2400" i="1" smtClean="0">
                        <a:solidFill>
                          <a:schemeClr val="tx1">
                            <a:lumMod val="65000"/>
                            <a:lumOff val="35000"/>
                          </a:schemeClr>
                        </a:solidFill>
                        <a:latin typeface="Cambria Math" panose="02040503050406030204" pitchFamily="18" charset="0"/>
                      </a:rPr>
                      <m:t>𝑘</m:t>
                    </m:r>
                  </m:oMath>
                </a14:m>
                <a:r>
                  <a:rPr lang="en-US" sz="2400" spc="-100">
                    <a:solidFill>
                      <a:schemeClr val="tx1">
                        <a:lumMod val="65000"/>
                        <a:lumOff val="35000"/>
                      </a:schemeClr>
                    </a:solidFill>
                    <a:latin typeface="Calibri" panose="020F0502020204030204" pitchFamily="34" charset="0"/>
                    <a:cs typeface="Calibri" panose="020F0502020204030204" pitchFamily="34" charset="0"/>
                  </a:rPr>
                  <a:t>NN train and validation errors on Fisher Iris data</a:t>
                </a:r>
                <a:endParaRPr lang="en-US" sz="2400">
                  <a:solidFill>
                    <a:schemeClr val="tx1">
                      <a:lumMod val="65000"/>
                      <a:lumOff val="35000"/>
                    </a:schemeClr>
                  </a:solidFill>
                  <a:latin typeface="Calibri" panose="020F0502020204030204" pitchFamily="34" charset="0"/>
                  <a:cs typeface="Calibri" panose="020F0502020204030204" pitchFamily="34" charset="0"/>
                </a:endParaRPr>
              </a:p>
            </p:txBody>
          </p:sp>
        </mc:Choice>
        <mc:Fallback xmlns="">
          <p:sp>
            <p:nvSpPr>
              <p:cNvPr id="10" name="TextBox 9">
                <a:extLst>
                  <a:ext uri="{FF2B5EF4-FFF2-40B4-BE49-F238E27FC236}">
                    <a16:creationId xmlns:a16="http://schemas.microsoft.com/office/drawing/2014/main" id="{EC5904A1-1A91-1BBE-C1C7-31058FBE43EF}"/>
                  </a:ext>
                </a:extLst>
              </p:cNvPr>
              <p:cNvSpPr txBox="1">
                <a:spLocks noRot="1" noChangeAspect="1" noMove="1" noResize="1" noEditPoints="1" noAdjustHandles="1" noChangeArrowheads="1" noChangeShapeType="1" noTextEdit="1"/>
              </p:cNvSpPr>
              <p:nvPr/>
            </p:nvSpPr>
            <p:spPr>
              <a:xfrm>
                <a:off x="4936720" y="916450"/>
                <a:ext cx="5697415" cy="461665"/>
              </a:xfrm>
              <a:prstGeom prst="rect">
                <a:avLst/>
              </a:prstGeom>
              <a:blipFill>
                <a:blip r:embed="rId4"/>
                <a:stretch>
                  <a:fillRect t="-8108" r="-1111" b="-29730"/>
                </a:stretch>
              </a:blipFill>
            </p:spPr>
            <p:txBody>
              <a:bodyPr/>
              <a:lstStyle/>
              <a:p>
                <a:r>
                  <a:rPr lang="en-US">
                    <a:noFill/>
                  </a:rPr>
                  <a:t> </a:t>
                </a:r>
              </a:p>
            </p:txBody>
          </p:sp>
        </mc:Fallback>
      </mc:AlternateContent>
      <p:sp>
        <p:nvSpPr>
          <p:cNvPr id="8" name="Title 1">
            <a:extLst>
              <a:ext uri="{FF2B5EF4-FFF2-40B4-BE49-F238E27FC236}">
                <a16:creationId xmlns:a16="http://schemas.microsoft.com/office/drawing/2014/main" id="{A7399A91-B505-1D2C-2854-959FDC1024C8}"/>
              </a:ext>
            </a:extLst>
          </p:cNvPr>
          <p:cNvSpPr>
            <a:spLocks noGrp="1"/>
          </p:cNvSpPr>
          <p:nvPr>
            <p:ph type="title"/>
          </p:nvPr>
        </p:nvSpPr>
        <p:spPr>
          <a:xfrm>
            <a:off x="252919" y="1123837"/>
            <a:ext cx="2888866" cy="4601183"/>
          </a:xfrm>
        </p:spPr>
        <p:txBody>
          <a:bodyPr/>
          <a:lstStyle/>
          <a:p>
            <a:r>
              <a:rPr lang="en-US"/>
              <a:t>How should we partition our dataset?</a:t>
            </a:r>
          </a:p>
        </p:txBody>
      </p:sp>
    </p:spTree>
    <p:extLst>
      <p:ext uri="{BB962C8B-B14F-4D97-AF65-F5344CB8AC3E}">
        <p14:creationId xmlns:p14="http://schemas.microsoft.com/office/powerpoint/2010/main" val="406921995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BF2D63-CA0B-614E-8A98-F38BF28B8B67}"/>
                  </a:ext>
                </a:extLst>
              </p:cNvPr>
              <p:cNvSpPr>
                <a:spLocks noGrp="1"/>
              </p:cNvSpPr>
              <p:nvPr>
                <p:ph idx="1"/>
              </p:nvPr>
            </p:nvSpPr>
            <p:spPr>
              <a:xfrm>
                <a:off x="3869268" y="864108"/>
                <a:ext cx="7865532" cy="5120640"/>
              </a:xfrm>
            </p:spPr>
            <p:txBody>
              <a:bodyPr>
                <a:noAutofit/>
              </a:bodyPr>
              <a:lstStyle/>
              <a:p>
                <a:pPr>
                  <a:lnSpc>
                    <a:spcPct val="130000"/>
                  </a:lnSpc>
                </a:pPr>
                <a:r>
                  <a:rPr lang="en-US" dirty="0"/>
                  <a:t>Given </a:t>
                </a:r>
                <a14:m>
                  <m:oMath xmlns:m="http://schemas.openxmlformats.org/officeDocument/2006/math">
                    <m:r>
                      <a:rPr lang="en-US" i="1">
                        <a:solidFill>
                          <a:schemeClr val="accent6">
                            <a:lumMod val="75000"/>
                          </a:schemeClr>
                        </a:solidFill>
                        <a:latin typeface="Cambria Math" panose="02040503050406030204" pitchFamily="18" charset="0"/>
                        <a:ea typeface="Cambria Math" panose="02040503050406030204" pitchFamily="18" charset="0"/>
                      </a:rPr>
                      <m:t>𝒟</m:t>
                    </m:r>
                  </m:oMath>
                </a14:m>
                <a:r>
                  <a:rPr lang="en-US" dirty="0"/>
                  <a:t>, split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oMath>
                </a14:m>
                <a:r>
                  <a:rPr lang="en-US" dirty="0"/>
                  <a:t> into </a:t>
                </a:r>
                <a14:m>
                  <m:oMath xmlns:m="http://schemas.openxmlformats.org/officeDocument/2006/math">
                    <m:r>
                      <a:rPr lang="en-US" b="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dirty="0"/>
                  <a:t> equally sized datasets or folds: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b="0"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0" smtClean="0">
                            <a:solidFill>
                              <a:schemeClr val="accent6">
                                <a:lumMod val="75000"/>
                              </a:schemeClr>
                            </a:solidFill>
                            <a:latin typeface="Cambria Math" panose="02040503050406030204" pitchFamily="18" charset="0"/>
                            <a:ea typeface="Cambria Math" panose="02040503050406030204" pitchFamily="18" charset="0"/>
                          </a:rPr>
                          <m:t>2</m:t>
                        </m:r>
                      </m:sub>
                    </m:sSub>
                    <m:r>
                      <a:rPr lang="en-US" b="0" i="0"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𝐾</m:t>
                        </m:r>
                      </m:sub>
                    </m:sSub>
                  </m:oMath>
                </a14:m>
                <a:endParaRPr lang="en-US" dirty="0"/>
              </a:p>
              <a:p>
                <a:pPr>
                  <a:lnSpc>
                    <a:spcPct val="130000"/>
                  </a:lnSpc>
                </a:pPr>
                <a:r>
                  <a:rPr lang="en-US" dirty="0"/>
                  <a:t>Use each one as a validation set once:</a:t>
                </a:r>
              </a:p>
              <a:p>
                <a:pPr marL="2981325" lvl="1" indent="-231775">
                  <a:lnSpc>
                    <a:spcPct val="130000"/>
                  </a:lnSpc>
                </a:pPr>
                <a:r>
                  <a:rPr lang="en-US" sz="2400" dirty="0"/>
                  <a:t>Let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𝑖</m:t>
                        </m:r>
                      </m:sub>
                    </m:sSub>
                  </m:oMath>
                </a14:m>
                <a:r>
                  <a:rPr lang="en-US" sz="2400" dirty="0">
                    <a:solidFill>
                      <a:schemeClr val="accent6">
                        <a:lumMod val="75000"/>
                      </a:schemeClr>
                    </a:solidFill>
                  </a:rPr>
                  <a:t> </a:t>
                </a:r>
                <a:r>
                  <a:rPr lang="en-US" sz="2400" dirty="0"/>
                  <a:t>be the classifier learned using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b="0" i="1" smtClean="0">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𝒟</m:t>
                    </m:r>
                    <m:r>
                      <a:rPr lang="en-US" sz="2400" i="1">
                        <a:solidFill>
                          <a:schemeClr val="accent6">
                            <a:lumMod val="75000"/>
                          </a:schemeClr>
                        </a:solidFill>
                        <a:latin typeface="Cambria Math" panose="02040503050406030204" pitchFamily="18" charset="0"/>
                        <a:ea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dirty="0"/>
                  <a:t> (all folds other than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dirty="0"/>
                  <a:t>) and let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𝑒</m:t>
                        </m:r>
                      </m:e>
                      <m:sub>
                        <m:r>
                          <a:rPr lang="en-US" sz="2400" i="1">
                            <a:solidFill>
                              <a:schemeClr val="accent6">
                                <a:lumMod val="75000"/>
                              </a:schemeClr>
                            </a:solidFill>
                            <a:latin typeface="Cambria Math" panose="02040503050406030204" pitchFamily="18" charset="0"/>
                          </a:rPr>
                          <m:t>𝑖</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𝑖</m:t>
                            </m:r>
                          </m:sub>
                        </m:sSub>
                        <m:r>
                          <a:rPr lang="en-US" sz="2400" b="0" i="1" smtClean="0">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e>
                    </m:d>
                  </m:oMath>
                </a14:m>
                <a:endParaRPr lang="en-US" sz="2400" dirty="0"/>
              </a:p>
              <a:p>
                <a:pPr marL="2981325" lvl="1" indent="-231775">
                  <a:lnSpc>
                    <a:spcPct val="130000"/>
                  </a:lnSpc>
                </a:pPr>
                <a:r>
                  <a:rPr lang="en-US" sz="2400" dirty="0"/>
                  <a:t>The </a:t>
                </a:r>
                <a14:m>
                  <m:oMath xmlns:m="http://schemas.openxmlformats.org/officeDocument/2006/math">
                    <m:r>
                      <a:rPr lang="en-US" sz="240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sz="2400" dirty="0"/>
                  <a:t>-fold cross validation error is</a:t>
                </a:r>
              </a:p>
              <a:p>
                <a:pPr marL="0" indent="0">
                  <a:lnSpc>
                    <a:spcPct val="110000"/>
                  </a:lnSpc>
                  <a:buNone/>
                </a:pP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                                 </m:t>
                          </m:r>
                          <m:r>
                            <a:rPr lang="en-US" b="0" i="1" smtClean="0">
                              <a:solidFill>
                                <a:schemeClr val="accent6">
                                  <a:lumMod val="75000"/>
                                </a:schemeClr>
                              </a:solidFill>
                              <a:latin typeface="Cambria Math" panose="02040503050406030204" pitchFamily="18" charset="0"/>
                            </a:rPr>
                            <m:t>𝑒𝑟𝑟</m:t>
                          </m:r>
                        </m:e>
                        <m:sub>
                          <m:r>
                            <a:rPr lang="en-US" i="1">
                              <a:solidFill>
                                <a:schemeClr val="accent6">
                                  <a:lumMod val="75000"/>
                                </a:schemeClr>
                              </a:solidFill>
                              <a:latin typeface="Cambria Math" panose="02040503050406030204" pitchFamily="18" charset="0"/>
                            </a:rPr>
                            <m:t>𝑐</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𝑣</m:t>
                              </m:r>
                            </m:e>
                            <m:sub>
                              <m:r>
                                <a:rPr lang="en-US" i="1">
                                  <a:solidFill>
                                    <a:schemeClr val="accent6">
                                      <a:lumMod val="75000"/>
                                    </a:schemeClr>
                                  </a:solidFill>
                                  <a:latin typeface="Cambria Math" panose="02040503050406030204" pitchFamily="18" charset="0"/>
                                </a:rPr>
                                <m:t>𝐾</m:t>
                              </m:r>
                            </m:sub>
                          </m:sSub>
                        </m:sub>
                      </m:sSub>
                      <m:r>
                        <a:rPr lang="en-US" i="1">
                          <a:solidFill>
                            <a:schemeClr val="accent6">
                              <a:lumMod val="75000"/>
                            </a:schemeClr>
                          </a:solidFill>
                          <a:latin typeface="Cambria Math" panose="02040503050406030204" pitchFamily="18" charset="0"/>
                        </a:rPr>
                        <m:t>=</m:t>
                      </m:r>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𝐾</m:t>
                          </m:r>
                        </m:den>
                      </m:f>
                      <m:nary>
                        <m:naryPr>
                          <m:chr m:val="∑"/>
                          <m:ctrlPr>
                            <a:rPr lang="en-US" i="1" smtClean="0">
                              <a:solidFill>
                                <a:schemeClr val="accent6">
                                  <a:lumMod val="75000"/>
                                </a:schemeClr>
                              </a:solidFill>
                              <a:latin typeface="Cambria Math" panose="02040503050406030204" pitchFamily="18" charset="0"/>
                            </a:rPr>
                          </m:ctrlPr>
                        </m:naryPr>
                        <m:sub>
                          <m:r>
                            <m:rPr>
                              <m:brk m:alnAt="23"/>
                            </m:rPr>
                            <a:rPr lang="en-US" i="1" smtClean="0">
                              <a:solidFill>
                                <a:schemeClr val="accent6">
                                  <a:lumMod val="75000"/>
                                </a:schemeClr>
                              </a:solidFill>
                              <a:latin typeface="Cambria Math" panose="02040503050406030204" pitchFamily="18" charset="0"/>
                            </a:rPr>
                            <m:t>𝑖</m:t>
                          </m:r>
                          <m:r>
                            <a:rPr lang="en-US" i="1">
                              <a:solidFill>
                                <a:schemeClr val="accent6">
                                  <a:lumMod val="75000"/>
                                </a:schemeClr>
                              </a:solidFill>
                              <a:latin typeface="Cambria Math" panose="02040503050406030204" pitchFamily="18" charset="0"/>
                            </a:rPr>
                            <m:t>=1</m:t>
                          </m:r>
                        </m:sub>
                        <m:sup>
                          <m:r>
                            <a:rPr lang="en-US" i="1">
                              <a:solidFill>
                                <a:schemeClr val="accent6">
                                  <a:lumMod val="75000"/>
                                </a:schemeClr>
                              </a:solidFill>
                              <a:latin typeface="Cambria Math" panose="02040503050406030204" pitchFamily="18" charset="0"/>
                            </a:rPr>
                            <m:t>𝐾</m:t>
                          </m:r>
                        </m:sup>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𝑒</m:t>
                              </m:r>
                            </m:e>
                            <m:sub>
                              <m:r>
                                <a:rPr lang="en-US" i="1">
                                  <a:solidFill>
                                    <a:schemeClr val="accent6">
                                      <a:lumMod val="75000"/>
                                    </a:schemeClr>
                                  </a:solidFill>
                                  <a:latin typeface="Cambria Math" panose="02040503050406030204" pitchFamily="18" charset="0"/>
                                </a:rPr>
                                <m:t>𝑖</m:t>
                              </m:r>
                            </m:sub>
                          </m:sSub>
                        </m:e>
                      </m:nary>
                    </m:oMath>
                  </m:oMathPara>
                </a14:m>
                <a:endParaRPr lang="en-US" dirty="0"/>
              </a:p>
              <a:p>
                <a:pPr>
                  <a:lnSpc>
                    <a:spcPct val="130000"/>
                  </a:lnSpc>
                </a:pPr>
                <a:endParaRPr lang="en-US" dirty="0"/>
              </a:p>
              <a:p>
                <a:pPr>
                  <a:lnSpc>
                    <a:spcPct val="130000"/>
                  </a:lnSpc>
                </a:pPr>
                <a:endParaRPr lang="en-US" dirty="0"/>
              </a:p>
            </p:txBody>
          </p:sp>
        </mc:Choice>
        <mc:Fallback xmlns="">
          <p:sp>
            <p:nvSpPr>
              <p:cNvPr id="3" name="Content Placeholder 2">
                <a:extLst>
                  <a:ext uri="{FF2B5EF4-FFF2-40B4-BE49-F238E27FC236}">
                    <a16:creationId xmlns:a16="http://schemas.microsoft.com/office/drawing/2014/main" id="{B6BF2D63-CA0B-614E-8A98-F38BF28B8B67}"/>
                  </a:ext>
                </a:extLst>
              </p:cNvPr>
              <p:cNvSpPr>
                <a:spLocks noGrp="1" noRot="1" noChangeAspect="1" noMove="1" noResize="1" noEditPoints="1" noAdjustHandles="1" noChangeArrowheads="1" noChangeShapeType="1" noTextEdit="1"/>
              </p:cNvSpPr>
              <p:nvPr>
                <p:ph idx="1"/>
              </p:nvPr>
            </p:nvSpPr>
            <p:spPr>
              <a:xfrm>
                <a:off x="3869268" y="864108"/>
                <a:ext cx="7865532" cy="5120640"/>
              </a:xfrm>
              <a:blipFill>
                <a:blip r:embed="rId3"/>
                <a:stretch>
                  <a:fillRect l="-805" t="-8911" r="-966" b="-2079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B2D1829-11D0-8440-9390-BED1336F60BD}"/>
              </a:ext>
            </a:extLst>
          </p:cNvPr>
          <p:cNvSpPr>
            <a:spLocks noGrp="1"/>
          </p:cNvSpPr>
          <p:nvPr>
            <p:ph type="sldNum" sz="quarter" idx="12"/>
          </p:nvPr>
        </p:nvSpPr>
        <p:spPr/>
        <p:txBody>
          <a:bodyPr/>
          <a:lstStyle/>
          <a:p>
            <a:fld id="{4FAB73BC-B049-4115-A692-8D63A059BFB8}" type="slidenum">
              <a:rPr lang="en-US" smtClean="0"/>
              <a:pPr/>
              <a:t>43</a:t>
            </a:fld>
            <a:endParaRPr lang="en-US"/>
          </a:p>
        </p:txBody>
      </p:sp>
      <mc:AlternateContent xmlns:mc="http://schemas.openxmlformats.org/markup-compatibility/2006">
        <mc:Choice xmlns:a14="http://schemas.microsoft.com/office/drawing/2010/main" Requires="a14">
          <p:sp>
            <p:nvSpPr>
              <p:cNvPr id="9" name="Title 1">
                <a:extLst>
                  <a:ext uri="{FF2B5EF4-FFF2-40B4-BE49-F238E27FC236}">
                    <a16:creationId xmlns:a16="http://schemas.microsoft.com/office/drawing/2014/main" id="{1A22DBAE-D417-BA4C-AD5E-D32B4FB543CF}"/>
                  </a:ext>
                </a:extLst>
              </p:cNvPr>
              <p:cNvSpPr txBox="1">
                <a:spLocks/>
              </p:cNvSpPr>
              <p:nvPr/>
            </p:nvSpPr>
            <p:spPr>
              <a:xfrm>
                <a:off x="252919" y="1132980"/>
                <a:ext cx="3080831"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14:m>
                  <m:oMath xmlns:m="http://schemas.openxmlformats.org/officeDocument/2006/math">
                    <m:r>
                      <a:rPr lang="en-US" i="1" smtClean="0">
                        <a:latin typeface="Cambria Math" panose="02040503050406030204" pitchFamily="18" charset="0"/>
                      </a:rPr>
                      <m:t>𝐾</m:t>
                    </m:r>
                  </m:oMath>
                </a14:m>
                <a:r>
                  <a:rPr lang="en-US" dirty="0"/>
                  <a:t>-fold </a:t>
                </a:r>
                <a:br>
                  <a:rPr lang="en-US" dirty="0"/>
                </a:br>
                <a:r>
                  <a:rPr lang="en-US" dirty="0"/>
                  <a:t>cross-validation:</a:t>
                </a:r>
              </a:p>
              <a:p>
                <a:r>
                  <a:rPr lang="en-US" dirty="0"/>
                  <a:t>What if we don’t have enough data for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𝐷</m:t>
                        </m:r>
                      </m:e>
                      <m:sub>
                        <m:r>
                          <a:rPr lang="en-US" b="0" i="1" dirty="0" smtClean="0">
                            <a:latin typeface="Cambria Math" panose="02040503050406030204" pitchFamily="18" charset="0"/>
                          </a:rPr>
                          <m:t>𝑣𝑎𝑙</m:t>
                        </m:r>
                      </m:sub>
                    </m:sSub>
                  </m:oMath>
                </a14:m>
                <a:r>
                  <a:rPr lang="en-US" dirty="0"/>
                  <a:t>?</a:t>
                </a:r>
              </a:p>
            </p:txBody>
          </p:sp>
        </mc:Choice>
        <mc:Fallback>
          <p:sp>
            <p:nvSpPr>
              <p:cNvPr id="9" name="Title 1">
                <a:extLst>
                  <a:ext uri="{FF2B5EF4-FFF2-40B4-BE49-F238E27FC236}">
                    <a16:creationId xmlns:a16="http://schemas.microsoft.com/office/drawing/2014/main" id="{1A22DBAE-D417-BA4C-AD5E-D32B4FB543CF}"/>
                  </a:ext>
                </a:extLst>
              </p:cNvPr>
              <p:cNvSpPr txBox="1">
                <a:spLocks noRot="1" noChangeAspect="1" noMove="1" noResize="1" noEditPoints="1" noAdjustHandles="1" noChangeArrowheads="1" noChangeShapeType="1" noTextEdit="1"/>
              </p:cNvSpPr>
              <p:nvPr/>
            </p:nvSpPr>
            <p:spPr>
              <a:xfrm>
                <a:off x="252919" y="1132980"/>
                <a:ext cx="3080831" cy="4601183"/>
              </a:xfrm>
              <a:prstGeom prst="rect">
                <a:avLst/>
              </a:prstGeom>
              <a:blipFill>
                <a:blip r:embed="rId4"/>
                <a:stretch>
                  <a:fillRect l="-5738" r="-5738"/>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845F0B4A-8A85-1AF5-6634-39EF196B8A05}"/>
              </a:ext>
            </a:extLst>
          </p:cNvPr>
          <p:cNvSpPr/>
          <p:nvPr/>
        </p:nvSpPr>
        <p:spPr>
          <a:xfrm>
            <a:off x="3867802" y="2239107"/>
            <a:ext cx="973829" cy="30597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9C80979-96AD-D242-1DB8-ECEBC5F87FC3}"/>
              </a:ext>
            </a:extLst>
          </p:cNvPr>
          <p:cNvSpPr txBox="1"/>
          <p:nvPr/>
        </p:nvSpPr>
        <p:spPr>
          <a:xfrm>
            <a:off x="5306811" y="2450124"/>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1</a:t>
            </a:r>
          </a:p>
        </p:txBody>
      </p:sp>
      <p:sp>
        <p:nvSpPr>
          <p:cNvPr id="7" name="TextBox 6">
            <a:extLst>
              <a:ext uri="{FF2B5EF4-FFF2-40B4-BE49-F238E27FC236}">
                <a16:creationId xmlns:a16="http://schemas.microsoft.com/office/drawing/2014/main" id="{3E3AD8C4-BD9E-3CCF-56ED-4D08E135BFF3}"/>
              </a:ext>
            </a:extLst>
          </p:cNvPr>
          <p:cNvSpPr txBox="1"/>
          <p:nvPr/>
        </p:nvSpPr>
        <p:spPr>
          <a:xfrm>
            <a:off x="5306811" y="3193595"/>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2</a:t>
            </a:r>
          </a:p>
        </p:txBody>
      </p:sp>
      <p:sp>
        <p:nvSpPr>
          <p:cNvPr id="8" name="TextBox 7">
            <a:extLst>
              <a:ext uri="{FF2B5EF4-FFF2-40B4-BE49-F238E27FC236}">
                <a16:creationId xmlns:a16="http://schemas.microsoft.com/office/drawing/2014/main" id="{4FB01661-83CD-0B65-8690-7EEDDE4F57CF}"/>
              </a:ext>
            </a:extLst>
          </p:cNvPr>
          <p:cNvSpPr txBox="1"/>
          <p:nvPr/>
        </p:nvSpPr>
        <p:spPr>
          <a:xfrm>
            <a:off x="5306811" y="3937066"/>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3</a:t>
            </a:r>
          </a:p>
        </p:txBody>
      </p:sp>
      <p:sp>
        <p:nvSpPr>
          <p:cNvPr id="10" name="TextBox 9">
            <a:extLst>
              <a:ext uri="{FF2B5EF4-FFF2-40B4-BE49-F238E27FC236}">
                <a16:creationId xmlns:a16="http://schemas.microsoft.com/office/drawing/2014/main" id="{8CE9AA73-EE49-4E8A-46FD-E7E468AAD68D}"/>
              </a:ext>
            </a:extLst>
          </p:cNvPr>
          <p:cNvSpPr txBox="1"/>
          <p:nvPr/>
        </p:nvSpPr>
        <p:spPr>
          <a:xfrm>
            <a:off x="5305345" y="4680537"/>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4</a:t>
            </a:r>
          </a:p>
        </p:txBody>
      </p:sp>
      <p:sp>
        <p:nvSpPr>
          <p:cNvPr id="12" name="Right Brace 11">
            <a:extLst>
              <a:ext uri="{FF2B5EF4-FFF2-40B4-BE49-F238E27FC236}">
                <a16:creationId xmlns:a16="http://schemas.microsoft.com/office/drawing/2014/main" id="{AAB30C4F-6485-6FD7-1017-3FE3113C5FED}"/>
              </a:ext>
            </a:extLst>
          </p:cNvPr>
          <p:cNvSpPr/>
          <p:nvPr/>
        </p:nvSpPr>
        <p:spPr>
          <a:xfrm>
            <a:off x="4941930" y="3110254"/>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05607FDB-4EBB-FCA2-7015-ABF12938152D}"/>
              </a:ext>
            </a:extLst>
          </p:cNvPr>
          <p:cNvSpPr/>
          <p:nvPr/>
        </p:nvSpPr>
        <p:spPr>
          <a:xfrm>
            <a:off x="4958862" y="3856445"/>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E06688F0-3AE6-72E4-FE23-BF16B6008F10}"/>
              </a:ext>
            </a:extLst>
          </p:cNvPr>
          <p:cNvSpPr/>
          <p:nvPr/>
        </p:nvSpPr>
        <p:spPr>
          <a:xfrm>
            <a:off x="4941930" y="4597196"/>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C2DA9AD8-F7A7-C356-B6A3-A6E64B9E70A2}"/>
              </a:ext>
            </a:extLst>
          </p:cNvPr>
          <p:cNvSpPr/>
          <p:nvPr/>
        </p:nvSpPr>
        <p:spPr>
          <a:xfrm>
            <a:off x="4941930" y="2366783"/>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ED5C4DCF-6EA1-3A28-66EB-2F0E8CB61A48}"/>
              </a:ext>
            </a:extLst>
          </p:cNvPr>
          <p:cNvCxnSpPr>
            <a:cxnSpLocks/>
          </p:cNvCxnSpPr>
          <p:nvPr/>
        </p:nvCxnSpPr>
        <p:spPr>
          <a:xfrm>
            <a:off x="3867802" y="3050210"/>
            <a:ext cx="9683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ACBE467-BD86-7E73-2702-C19A47B6DC74}"/>
              </a:ext>
            </a:extLst>
          </p:cNvPr>
          <p:cNvCxnSpPr>
            <a:cxnSpLocks/>
          </p:cNvCxnSpPr>
          <p:nvPr/>
        </p:nvCxnSpPr>
        <p:spPr>
          <a:xfrm>
            <a:off x="3867802" y="3802525"/>
            <a:ext cx="9683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0D1DF79-E614-0119-D860-36D6B86B91C5}"/>
              </a:ext>
            </a:extLst>
          </p:cNvPr>
          <p:cNvCxnSpPr>
            <a:cxnSpLocks/>
          </p:cNvCxnSpPr>
          <p:nvPr/>
        </p:nvCxnSpPr>
        <p:spPr>
          <a:xfrm>
            <a:off x="3867802" y="4554836"/>
            <a:ext cx="9691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56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25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250"/>
                                        <p:tgtEl>
                                          <p:spTgt spid="3">
                                            <p:txEl>
                                              <p:pRg st="3" end="3"/>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dissolve">
                                      <p:cBhvr>
                                        <p:cTn id="15" dur="25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250"/>
                                        <p:tgtEl>
                                          <p:spTgt spid="2"/>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ssolve">
                                      <p:cBhvr>
                                        <p:cTn id="23" dur="25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dissolve">
                                      <p:cBhvr>
                                        <p:cTn id="26" dur="250"/>
                                        <p:tgtEl>
                                          <p:spTgt spid="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dissolve">
                                      <p:cBhvr>
                                        <p:cTn id="29" dur="250"/>
                                        <p:tgtEl>
                                          <p:spTgt spid="8"/>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250"/>
                                        <p:tgtEl>
                                          <p:spTgt spid="10"/>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dissolve">
                                      <p:cBhvr>
                                        <p:cTn id="35" dur="250"/>
                                        <p:tgtEl>
                                          <p:spTgt spid="12"/>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dissolve">
                                      <p:cBhvr>
                                        <p:cTn id="38" dur="250"/>
                                        <p:tgtEl>
                                          <p:spTgt spid="13"/>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dissolve">
                                      <p:cBhvr>
                                        <p:cTn id="41" dur="250"/>
                                        <p:tgtEl>
                                          <p:spTgt spid="14"/>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dissolve">
                                      <p:cBhvr>
                                        <p:cTn id="44" dur="250"/>
                                        <p:tgtEl>
                                          <p:spTgt spid="15"/>
                                        </p:tgtEl>
                                      </p:cBhvr>
                                    </p:animEffect>
                                  </p:childTnLst>
                                </p:cTn>
                              </p:par>
                              <p:par>
                                <p:cTn id="45" presetID="9"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dissolve">
                                      <p:cBhvr>
                                        <p:cTn id="47" dur="250"/>
                                        <p:tgtEl>
                                          <p:spTgt spid="17"/>
                                        </p:tgtEl>
                                      </p:cBhvr>
                                    </p:animEffect>
                                  </p:childTnLst>
                                </p:cTn>
                              </p:par>
                              <p:par>
                                <p:cTn id="48" presetID="9"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dissolve">
                                      <p:cBhvr>
                                        <p:cTn id="50" dur="250"/>
                                        <p:tgtEl>
                                          <p:spTgt spid="18"/>
                                        </p:tgtEl>
                                      </p:cBhvr>
                                    </p:animEffect>
                                  </p:childTnLst>
                                </p:cTn>
                              </p:par>
                              <p:par>
                                <p:cTn id="51" presetID="9"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dissolve">
                                      <p:cBhvr>
                                        <p:cTn id="53"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7" grpId="0"/>
      <p:bldP spid="8" grpId="0"/>
      <p:bldP spid="10" grpId="0"/>
      <p:bldP spid="12" grpId="0" animBg="1"/>
      <p:bldP spid="13" grpId="0" animBg="1"/>
      <p:bldP spid="14" grpId="0" animBg="1"/>
      <p:bldP spid="1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4503AB0-2782-6E61-CB62-12CEEC564D55}"/>
              </a:ext>
            </a:extLst>
          </p:cNvPr>
          <p:cNvSpPr/>
          <p:nvPr/>
        </p:nvSpPr>
        <p:spPr>
          <a:xfrm>
            <a:off x="3867802" y="2239107"/>
            <a:ext cx="973829" cy="30597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BF2D63-CA0B-614E-8A98-F38BF28B8B67}"/>
                  </a:ext>
                </a:extLst>
              </p:cNvPr>
              <p:cNvSpPr>
                <a:spLocks noGrp="1"/>
              </p:cNvSpPr>
              <p:nvPr>
                <p:ph idx="1"/>
              </p:nvPr>
            </p:nvSpPr>
            <p:spPr>
              <a:xfrm>
                <a:off x="3869268" y="864108"/>
                <a:ext cx="7865532" cy="5120640"/>
              </a:xfrm>
            </p:spPr>
            <p:txBody>
              <a:bodyPr>
                <a:noAutofit/>
              </a:bodyPr>
              <a:lstStyle/>
              <a:p>
                <a:pPr>
                  <a:lnSpc>
                    <a:spcPct val="130000"/>
                  </a:lnSpc>
                </a:pPr>
                <a:r>
                  <a:rPr lang="en-US"/>
                  <a:t>Given </a:t>
                </a:r>
                <a14:m>
                  <m:oMath xmlns:m="http://schemas.openxmlformats.org/officeDocument/2006/math">
                    <m:r>
                      <a:rPr lang="en-US" i="1">
                        <a:solidFill>
                          <a:schemeClr val="accent6">
                            <a:lumMod val="75000"/>
                          </a:schemeClr>
                        </a:solidFill>
                        <a:latin typeface="Cambria Math" panose="02040503050406030204" pitchFamily="18" charset="0"/>
                        <a:ea typeface="Cambria Math" panose="02040503050406030204" pitchFamily="18" charset="0"/>
                      </a:rPr>
                      <m:t>𝒟</m:t>
                    </m:r>
                  </m:oMath>
                </a14:m>
                <a:r>
                  <a:rPr lang="en-US"/>
                  <a:t>, split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oMath>
                </a14:m>
                <a:r>
                  <a:rPr lang="en-US"/>
                  <a:t> into </a:t>
                </a:r>
                <a14:m>
                  <m:oMath xmlns:m="http://schemas.openxmlformats.org/officeDocument/2006/math">
                    <m:r>
                      <a:rPr lang="en-US" b="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a:t> equally sized datasets or folds: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b="0"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0" smtClean="0">
                            <a:solidFill>
                              <a:schemeClr val="accent6">
                                <a:lumMod val="75000"/>
                              </a:schemeClr>
                            </a:solidFill>
                            <a:latin typeface="Cambria Math" panose="02040503050406030204" pitchFamily="18" charset="0"/>
                            <a:ea typeface="Cambria Math" panose="02040503050406030204" pitchFamily="18" charset="0"/>
                          </a:rPr>
                          <m:t>2</m:t>
                        </m:r>
                      </m:sub>
                    </m:sSub>
                    <m:r>
                      <a:rPr lang="en-US" b="0" i="0"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𝐾</m:t>
                        </m:r>
                      </m:sub>
                    </m:sSub>
                  </m:oMath>
                </a14:m>
                <a:endParaRPr lang="en-US"/>
              </a:p>
              <a:p>
                <a:pPr>
                  <a:lnSpc>
                    <a:spcPct val="130000"/>
                  </a:lnSpc>
                </a:pPr>
                <a:r>
                  <a:rPr lang="en-US"/>
                  <a:t>Use each one as a validation set once:</a:t>
                </a:r>
              </a:p>
              <a:p>
                <a:pPr marL="2981325" lvl="1" indent="-231775">
                  <a:lnSpc>
                    <a:spcPct val="130000"/>
                  </a:lnSpc>
                </a:pPr>
                <a:r>
                  <a:rPr lang="en-US" sz="2400"/>
                  <a:t>Let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𝑖</m:t>
                        </m:r>
                      </m:sub>
                    </m:sSub>
                  </m:oMath>
                </a14:m>
                <a:r>
                  <a:rPr lang="en-US" sz="2400">
                    <a:solidFill>
                      <a:schemeClr val="accent6">
                        <a:lumMod val="75000"/>
                      </a:schemeClr>
                    </a:solidFill>
                  </a:rPr>
                  <a:t> </a:t>
                </a:r>
                <a:r>
                  <a:rPr lang="en-US" sz="2400"/>
                  <a:t>be the classifier learned using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𝒟</m:t>
                    </m:r>
                    <m:r>
                      <a:rPr lang="en-US" sz="2400" i="1">
                        <a:solidFill>
                          <a:schemeClr val="accent6">
                            <a:lumMod val="75000"/>
                          </a:schemeClr>
                        </a:solidFill>
                        <a:latin typeface="Cambria Math" panose="02040503050406030204" pitchFamily="18" charset="0"/>
                        <a:ea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a:t> (all folds other than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a:t>) and let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𝑒</m:t>
                        </m:r>
                      </m:e>
                      <m:sub>
                        <m:r>
                          <a:rPr lang="en-US" sz="2400" i="1">
                            <a:solidFill>
                              <a:schemeClr val="accent6">
                                <a:lumMod val="75000"/>
                              </a:schemeClr>
                            </a:solidFill>
                            <a:latin typeface="Cambria Math" panose="02040503050406030204" pitchFamily="18" charset="0"/>
                          </a:rPr>
                          <m:t>𝑖</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𝑖</m:t>
                            </m:r>
                          </m:sub>
                        </m:sSub>
                        <m:r>
                          <a:rPr lang="en-US" sz="2400" b="0" i="1" smtClean="0">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e>
                    </m:d>
                  </m:oMath>
                </a14:m>
                <a:endParaRPr lang="en-US" sz="2400"/>
              </a:p>
              <a:p>
                <a:pPr marL="2981325" lvl="1" indent="-231775">
                  <a:lnSpc>
                    <a:spcPct val="130000"/>
                  </a:lnSpc>
                </a:pPr>
                <a:r>
                  <a:rPr lang="en-US" sz="2400"/>
                  <a:t>The </a:t>
                </a:r>
                <a14:m>
                  <m:oMath xmlns:m="http://schemas.openxmlformats.org/officeDocument/2006/math">
                    <m:r>
                      <a:rPr lang="en-US" sz="240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sz="2400"/>
                  <a:t>-fold cross validation error is</a:t>
                </a:r>
              </a:p>
              <a:p>
                <a:pPr marL="0" indent="0">
                  <a:lnSpc>
                    <a:spcPct val="110000"/>
                  </a:lnSpc>
                  <a:buNone/>
                </a:pP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                                 </m:t>
                          </m:r>
                          <m:r>
                            <a:rPr lang="en-US" b="0" i="1" smtClean="0">
                              <a:solidFill>
                                <a:schemeClr val="accent6">
                                  <a:lumMod val="75000"/>
                                </a:schemeClr>
                              </a:solidFill>
                              <a:latin typeface="Cambria Math" panose="02040503050406030204" pitchFamily="18" charset="0"/>
                            </a:rPr>
                            <m:t>𝑒𝑟𝑟</m:t>
                          </m:r>
                        </m:e>
                        <m:sub>
                          <m:r>
                            <a:rPr lang="en-US" i="1">
                              <a:solidFill>
                                <a:schemeClr val="accent6">
                                  <a:lumMod val="75000"/>
                                </a:schemeClr>
                              </a:solidFill>
                              <a:latin typeface="Cambria Math" panose="02040503050406030204" pitchFamily="18" charset="0"/>
                            </a:rPr>
                            <m:t>𝑐</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𝑣</m:t>
                              </m:r>
                            </m:e>
                            <m:sub>
                              <m:r>
                                <a:rPr lang="en-US" i="1">
                                  <a:solidFill>
                                    <a:schemeClr val="accent6">
                                      <a:lumMod val="75000"/>
                                    </a:schemeClr>
                                  </a:solidFill>
                                  <a:latin typeface="Cambria Math" panose="02040503050406030204" pitchFamily="18" charset="0"/>
                                </a:rPr>
                                <m:t>𝐾</m:t>
                              </m:r>
                            </m:sub>
                          </m:sSub>
                        </m:sub>
                      </m:sSub>
                      <m:r>
                        <a:rPr lang="en-US" i="1">
                          <a:solidFill>
                            <a:schemeClr val="accent6">
                              <a:lumMod val="75000"/>
                            </a:schemeClr>
                          </a:solidFill>
                          <a:latin typeface="Cambria Math" panose="02040503050406030204" pitchFamily="18" charset="0"/>
                        </a:rPr>
                        <m:t>=</m:t>
                      </m:r>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𝐾</m:t>
                          </m:r>
                        </m:den>
                      </m:f>
                      <m:nary>
                        <m:naryPr>
                          <m:chr m:val="∑"/>
                          <m:ctrlPr>
                            <a:rPr lang="en-US" i="1" smtClean="0">
                              <a:solidFill>
                                <a:schemeClr val="accent6">
                                  <a:lumMod val="75000"/>
                                </a:schemeClr>
                              </a:solidFill>
                              <a:latin typeface="Cambria Math" panose="02040503050406030204" pitchFamily="18" charset="0"/>
                            </a:rPr>
                          </m:ctrlPr>
                        </m:naryPr>
                        <m:sub>
                          <m:r>
                            <m:rPr>
                              <m:brk m:alnAt="23"/>
                            </m:rPr>
                            <a:rPr lang="en-US" i="1" smtClean="0">
                              <a:solidFill>
                                <a:schemeClr val="accent6">
                                  <a:lumMod val="75000"/>
                                </a:schemeClr>
                              </a:solidFill>
                              <a:latin typeface="Cambria Math" panose="02040503050406030204" pitchFamily="18" charset="0"/>
                            </a:rPr>
                            <m:t>𝑖</m:t>
                          </m:r>
                          <m:r>
                            <a:rPr lang="en-US" i="1">
                              <a:solidFill>
                                <a:schemeClr val="accent6">
                                  <a:lumMod val="75000"/>
                                </a:schemeClr>
                              </a:solidFill>
                              <a:latin typeface="Cambria Math" panose="02040503050406030204" pitchFamily="18" charset="0"/>
                            </a:rPr>
                            <m:t>=1</m:t>
                          </m:r>
                        </m:sub>
                        <m:sup>
                          <m:r>
                            <a:rPr lang="en-US" i="1">
                              <a:solidFill>
                                <a:schemeClr val="accent6">
                                  <a:lumMod val="75000"/>
                                </a:schemeClr>
                              </a:solidFill>
                              <a:latin typeface="Cambria Math" panose="02040503050406030204" pitchFamily="18" charset="0"/>
                            </a:rPr>
                            <m:t>𝐾</m:t>
                          </m:r>
                        </m:sup>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𝑒</m:t>
                              </m:r>
                            </m:e>
                            <m:sub>
                              <m:r>
                                <a:rPr lang="en-US" i="1">
                                  <a:solidFill>
                                    <a:schemeClr val="accent6">
                                      <a:lumMod val="75000"/>
                                    </a:schemeClr>
                                  </a:solidFill>
                                  <a:latin typeface="Cambria Math" panose="02040503050406030204" pitchFamily="18" charset="0"/>
                                </a:rPr>
                                <m:t>𝑖</m:t>
                              </m:r>
                            </m:sub>
                          </m:sSub>
                        </m:e>
                      </m:nary>
                    </m:oMath>
                  </m:oMathPara>
                </a14:m>
                <a:endParaRPr lang="en-US"/>
              </a:p>
              <a:p>
                <a:pPr>
                  <a:lnSpc>
                    <a:spcPct val="130000"/>
                  </a:lnSpc>
                </a:pPr>
                <a:endParaRPr lang="en-US"/>
              </a:p>
              <a:p>
                <a:pPr>
                  <a:lnSpc>
                    <a:spcPct val="130000"/>
                  </a:lnSpc>
                </a:pPr>
                <a:endParaRPr lang="en-US"/>
              </a:p>
            </p:txBody>
          </p:sp>
        </mc:Choice>
        <mc:Fallback xmlns="">
          <p:sp>
            <p:nvSpPr>
              <p:cNvPr id="3" name="Content Placeholder 2">
                <a:extLst>
                  <a:ext uri="{FF2B5EF4-FFF2-40B4-BE49-F238E27FC236}">
                    <a16:creationId xmlns:a16="http://schemas.microsoft.com/office/drawing/2014/main" id="{B6BF2D63-CA0B-614E-8A98-F38BF28B8B67}"/>
                  </a:ext>
                </a:extLst>
              </p:cNvPr>
              <p:cNvSpPr>
                <a:spLocks noGrp="1" noRot="1" noChangeAspect="1" noMove="1" noResize="1" noEditPoints="1" noAdjustHandles="1" noChangeArrowheads="1" noChangeShapeType="1" noTextEdit="1"/>
              </p:cNvSpPr>
              <p:nvPr>
                <p:ph idx="1"/>
              </p:nvPr>
            </p:nvSpPr>
            <p:spPr>
              <a:xfrm>
                <a:off x="3869268" y="864108"/>
                <a:ext cx="7865532" cy="5120640"/>
              </a:xfrm>
              <a:blipFill>
                <a:blip r:embed="rId3"/>
                <a:stretch>
                  <a:fillRect l="-805" t="-8911" r="-966" b="-2079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B2D1829-11D0-8440-9390-BED1336F60BD}"/>
              </a:ext>
            </a:extLst>
          </p:cNvPr>
          <p:cNvSpPr>
            <a:spLocks noGrp="1"/>
          </p:cNvSpPr>
          <p:nvPr>
            <p:ph type="sldNum" sz="quarter" idx="12"/>
          </p:nvPr>
        </p:nvSpPr>
        <p:spPr/>
        <p:txBody>
          <a:bodyPr/>
          <a:lstStyle/>
          <a:p>
            <a:fld id="{4FAB73BC-B049-4115-A692-8D63A059BFB8}" type="slidenum">
              <a:rPr lang="en-US" smtClean="0"/>
              <a:pPr/>
              <a:t>44</a:t>
            </a:fld>
            <a:endParaRPr lang="en-US"/>
          </a:p>
        </p:txBody>
      </p:sp>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1A22DBAE-D417-BA4C-AD5E-D32B4FB543CF}"/>
                  </a:ext>
                </a:extLst>
              </p:cNvPr>
              <p:cNvSpPr txBox="1">
                <a:spLocks/>
              </p:cNvSpPr>
              <p:nvPr/>
            </p:nvSpPr>
            <p:spPr>
              <a:xfrm>
                <a:off x="252919" y="1132980"/>
                <a:ext cx="3080831"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14:m>
                  <m:oMath xmlns:m="http://schemas.openxmlformats.org/officeDocument/2006/math">
                    <m:r>
                      <a:rPr lang="en-US" i="1" smtClean="0">
                        <a:latin typeface="Cambria Math" panose="02040503050406030204" pitchFamily="18" charset="0"/>
                      </a:rPr>
                      <m:t>𝐾</m:t>
                    </m:r>
                  </m:oMath>
                </a14:m>
                <a:r>
                  <a:rPr lang="en-US"/>
                  <a:t>-fold </a:t>
                </a:r>
                <a:br>
                  <a:rPr lang="en-US"/>
                </a:br>
                <a:r>
                  <a:rPr lang="en-US"/>
                  <a:t>cross-validation</a:t>
                </a:r>
              </a:p>
            </p:txBody>
          </p:sp>
        </mc:Choice>
        <mc:Fallback xmlns="">
          <p:sp>
            <p:nvSpPr>
              <p:cNvPr id="9" name="Title 1">
                <a:extLst>
                  <a:ext uri="{FF2B5EF4-FFF2-40B4-BE49-F238E27FC236}">
                    <a16:creationId xmlns:a16="http://schemas.microsoft.com/office/drawing/2014/main" id="{1A22DBAE-D417-BA4C-AD5E-D32B4FB543CF}"/>
                  </a:ext>
                </a:extLst>
              </p:cNvPr>
              <p:cNvSpPr txBox="1">
                <a:spLocks noRot="1" noChangeAspect="1" noMove="1" noResize="1" noEditPoints="1" noAdjustHandles="1" noChangeArrowheads="1" noChangeShapeType="1" noTextEdit="1"/>
              </p:cNvSpPr>
              <p:nvPr/>
            </p:nvSpPr>
            <p:spPr>
              <a:xfrm>
                <a:off x="252919" y="1132980"/>
                <a:ext cx="3080831" cy="4601183"/>
              </a:xfrm>
              <a:prstGeom prst="rect">
                <a:avLst/>
              </a:prstGeom>
              <a:blipFill>
                <a:blip r:embed="rId4"/>
                <a:stretch>
                  <a:fillRect l="-5738" r="-2049"/>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845F0B4A-8A85-1AF5-6634-39EF196B8A05}"/>
              </a:ext>
            </a:extLst>
          </p:cNvPr>
          <p:cNvSpPr/>
          <p:nvPr/>
        </p:nvSpPr>
        <p:spPr>
          <a:xfrm>
            <a:off x="4184679" y="2239107"/>
            <a:ext cx="656952" cy="30597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9C80979-96AD-D242-1DB8-ECEBC5F87FC3}"/>
              </a:ext>
            </a:extLst>
          </p:cNvPr>
          <p:cNvSpPr txBox="1"/>
          <p:nvPr/>
        </p:nvSpPr>
        <p:spPr>
          <a:xfrm>
            <a:off x="5306811" y="2450124"/>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1</a:t>
            </a:r>
          </a:p>
        </p:txBody>
      </p:sp>
      <p:sp>
        <p:nvSpPr>
          <p:cNvPr id="7" name="TextBox 6">
            <a:extLst>
              <a:ext uri="{FF2B5EF4-FFF2-40B4-BE49-F238E27FC236}">
                <a16:creationId xmlns:a16="http://schemas.microsoft.com/office/drawing/2014/main" id="{3E3AD8C4-BD9E-3CCF-56ED-4D08E135BFF3}"/>
              </a:ext>
            </a:extLst>
          </p:cNvPr>
          <p:cNvSpPr txBox="1"/>
          <p:nvPr/>
        </p:nvSpPr>
        <p:spPr>
          <a:xfrm>
            <a:off x="5306811" y="3193595"/>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2</a:t>
            </a:r>
          </a:p>
        </p:txBody>
      </p:sp>
      <p:sp>
        <p:nvSpPr>
          <p:cNvPr id="8" name="TextBox 7">
            <a:extLst>
              <a:ext uri="{FF2B5EF4-FFF2-40B4-BE49-F238E27FC236}">
                <a16:creationId xmlns:a16="http://schemas.microsoft.com/office/drawing/2014/main" id="{4FB01661-83CD-0B65-8690-7EEDDE4F57CF}"/>
              </a:ext>
            </a:extLst>
          </p:cNvPr>
          <p:cNvSpPr txBox="1"/>
          <p:nvPr/>
        </p:nvSpPr>
        <p:spPr>
          <a:xfrm>
            <a:off x="5306811" y="3937066"/>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3</a:t>
            </a:r>
          </a:p>
        </p:txBody>
      </p:sp>
      <p:sp>
        <p:nvSpPr>
          <p:cNvPr id="10" name="TextBox 9">
            <a:extLst>
              <a:ext uri="{FF2B5EF4-FFF2-40B4-BE49-F238E27FC236}">
                <a16:creationId xmlns:a16="http://schemas.microsoft.com/office/drawing/2014/main" id="{8CE9AA73-EE49-4E8A-46FD-E7E468AAD68D}"/>
              </a:ext>
            </a:extLst>
          </p:cNvPr>
          <p:cNvSpPr txBox="1"/>
          <p:nvPr/>
        </p:nvSpPr>
        <p:spPr>
          <a:xfrm>
            <a:off x="5305345" y="4680537"/>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4</a:t>
            </a:r>
          </a:p>
        </p:txBody>
      </p:sp>
      <p:sp>
        <p:nvSpPr>
          <p:cNvPr id="12" name="Right Brace 11">
            <a:extLst>
              <a:ext uri="{FF2B5EF4-FFF2-40B4-BE49-F238E27FC236}">
                <a16:creationId xmlns:a16="http://schemas.microsoft.com/office/drawing/2014/main" id="{AAB30C4F-6485-6FD7-1017-3FE3113C5FED}"/>
              </a:ext>
            </a:extLst>
          </p:cNvPr>
          <p:cNvSpPr/>
          <p:nvPr/>
        </p:nvSpPr>
        <p:spPr>
          <a:xfrm>
            <a:off x="4941930" y="3110254"/>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05607FDB-4EBB-FCA2-7015-ABF12938152D}"/>
              </a:ext>
            </a:extLst>
          </p:cNvPr>
          <p:cNvSpPr/>
          <p:nvPr/>
        </p:nvSpPr>
        <p:spPr>
          <a:xfrm>
            <a:off x="4958862" y="3856445"/>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E06688F0-3AE6-72E4-FE23-BF16B6008F10}"/>
              </a:ext>
            </a:extLst>
          </p:cNvPr>
          <p:cNvSpPr/>
          <p:nvPr/>
        </p:nvSpPr>
        <p:spPr>
          <a:xfrm>
            <a:off x="4941930" y="4597196"/>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C2DA9AD8-F7A7-C356-B6A3-A6E64B9E70A2}"/>
              </a:ext>
            </a:extLst>
          </p:cNvPr>
          <p:cNvSpPr/>
          <p:nvPr/>
        </p:nvSpPr>
        <p:spPr>
          <a:xfrm>
            <a:off x="4941930" y="2366783"/>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ED5C4DCF-6EA1-3A28-66EB-2F0E8CB61A48}"/>
              </a:ext>
            </a:extLst>
          </p:cNvPr>
          <p:cNvCxnSpPr/>
          <p:nvPr/>
        </p:nvCxnSpPr>
        <p:spPr>
          <a:xfrm>
            <a:off x="4203077" y="3050210"/>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ACBE467-BD86-7E73-2702-C19A47B6DC74}"/>
              </a:ext>
            </a:extLst>
          </p:cNvPr>
          <p:cNvCxnSpPr/>
          <p:nvPr/>
        </p:nvCxnSpPr>
        <p:spPr>
          <a:xfrm>
            <a:off x="4203077" y="3796508"/>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0D1DF79-E614-0119-D860-36D6B86B91C5}"/>
              </a:ext>
            </a:extLst>
          </p:cNvPr>
          <p:cNvCxnSpPr/>
          <p:nvPr/>
        </p:nvCxnSpPr>
        <p:spPr>
          <a:xfrm>
            <a:off x="4203926" y="4554836"/>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F1BBD1E0-96E7-484C-0173-6CB69EF53BFB}"/>
                  </a:ext>
                </a:extLst>
              </p:cNvPr>
              <p:cNvSpPr/>
              <p:nvPr/>
            </p:nvSpPr>
            <p:spPr>
              <a:xfrm>
                <a:off x="3867802" y="2239107"/>
                <a:ext cx="968321" cy="811103"/>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400" i="1" smtClean="0">
                              <a:solidFill>
                                <a:schemeClr val="bg1"/>
                              </a:solidFill>
                              <a:latin typeface="Cambria Math" panose="02040503050406030204" pitchFamily="18" charset="0"/>
                              <a:ea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𝒟</m:t>
                          </m:r>
                        </m:e>
                        <m:sub>
                          <m:r>
                            <a:rPr lang="en-US" sz="2400" b="0" i="1" smtClean="0">
                              <a:solidFill>
                                <a:schemeClr val="bg1"/>
                              </a:solidFill>
                              <a:latin typeface="Cambria Math" panose="02040503050406030204" pitchFamily="18" charset="0"/>
                              <a:ea typeface="Cambria Math" panose="02040503050406030204" pitchFamily="18" charset="0"/>
                            </a:rPr>
                            <m:t>1</m:t>
                          </m:r>
                        </m:sub>
                      </m:sSub>
                    </m:oMath>
                  </m:oMathPara>
                </a14:m>
                <a:endParaRPr lang="en-US"/>
              </a:p>
            </p:txBody>
          </p:sp>
        </mc:Choice>
        <mc:Fallback xmlns="">
          <p:sp>
            <p:nvSpPr>
              <p:cNvPr id="11" name="Rectangle 10">
                <a:extLst>
                  <a:ext uri="{FF2B5EF4-FFF2-40B4-BE49-F238E27FC236}">
                    <a16:creationId xmlns:a16="http://schemas.microsoft.com/office/drawing/2014/main" id="{F1BBD1E0-96E7-484C-0173-6CB69EF53BFB}"/>
                  </a:ext>
                </a:extLst>
              </p:cNvPr>
              <p:cNvSpPr>
                <a:spLocks noRot="1" noChangeAspect="1" noMove="1" noResize="1" noEditPoints="1" noAdjustHandles="1" noChangeArrowheads="1" noChangeShapeType="1" noTextEdit="1"/>
              </p:cNvSpPr>
              <p:nvPr/>
            </p:nvSpPr>
            <p:spPr>
              <a:xfrm>
                <a:off x="3867802" y="2239107"/>
                <a:ext cx="968321" cy="811103"/>
              </a:xfrm>
              <a:prstGeom prst="rect">
                <a:avLst/>
              </a:prstGeom>
              <a:blipFill>
                <a:blip r:embed="rId5"/>
                <a:stretch>
                  <a:fillRect/>
                </a:stretch>
              </a:blipFill>
              <a:ln>
                <a:solidFill>
                  <a:schemeClr val="accent6"/>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A897A702-C9EA-FFF2-09D6-07D7FC39F754}"/>
                  </a:ext>
                </a:extLst>
              </p:cNvPr>
              <p:cNvSpPr/>
              <p:nvPr/>
            </p:nvSpPr>
            <p:spPr>
              <a:xfrm>
                <a:off x="3866336" y="3050210"/>
                <a:ext cx="969787" cy="224862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𝒟</m:t>
                          </m:r>
                        </m:e>
                        <m:sub>
                          <m:r>
                            <a:rPr lang="en-US" sz="2400" i="1">
                              <a:solidFill>
                                <a:schemeClr val="bg1"/>
                              </a:solidFill>
                              <a:latin typeface="Cambria Math" panose="02040503050406030204" pitchFamily="18" charset="0"/>
                              <a:ea typeface="Cambria Math" panose="02040503050406030204" pitchFamily="18" charset="0"/>
                            </a:rPr>
                            <m:t>−</m:t>
                          </m:r>
                          <m:r>
                            <a:rPr lang="en-US" sz="2400" b="0" i="1" smtClean="0">
                              <a:solidFill>
                                <a:schemeClr val="bg1"/>
                              </a:solidFill>
                              <a:latin typeface="Cambria Math" panose="02040503050406030204" pitchFamily="18" charset="0"/>
                              <a:ea typeface="Cambria Math" panose="02040503050406030204" pitchFamily="18" charset="0"/>
                            </a:rPr>
                            <m:t>1</m:t>
                          </m:r>
                        </m:sub>
                      </m:sSub>
                    </m:oMath>
                  </m:oMathPara>
                </a14:m>
                <a:endParaRPr lang="en-US" sz="2400">
                  <a:solidFill>
                    <a:schemeClr val="bg1"/>
                  </a:solidFill>
                </a:endParaRPr>
              </a:p>
            </p:txBody>
          </p:sp>
        </mc:Choice>
        <mc:Fallback xmlns="">
          <p:sp>
            <p:nvSpPr>
              <p:cNvPr id="16" name="Rectangle 15">
                <a:extLst>
                  <a:ext uri="{FF2B5EF4-FFF2-40B4-BE49-F238E27FC236}">
                    <a16:creationId xmlns:a16="http://schemas.microsoft.com/office/drawing/2014/main" id="{A897A702-C9EA-FFF2-09D6-07D7FC39F754}"/>
                  </a:ext>
                </a:extLst>
              </p:cNvPr>
              <p:cNvSpPr>
                <a:spLocks noRot="1" noChangeAspect="1" noMove="1" noResize="1" noEditPoints="1" noAdjustHandles="1" noChangeArrowheads="1" noChangeShapeType="1" noTextEdit="1"/>
              </p:cNvSpPr>
              <p:nvPr/>
            </p:nvSpPr>
            <p:spPr>
              <a:xfrm>
                <a:off x="3866336" y="3050210"/>
                <a:ext cx="969787" cy="2248620"/>
              </a:xfrm>
              <a:prstGeom prst="rect">
                <a:avLst/>
              </a:prstGeom>
              <a:blipFill>
                <a:blip r:embed="rId6"/>
                <a:stretch>
                  <a:fillRect/>
                </a:stretch>
              </a:blipFill>
              <a:ln>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196729797"/>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E31C200-DC9B-592D-BAB6-6819E26B58FA}"/>
              </a:ext>
            </a:extLst>
          </p:cNvPr>
          <p:cNvSpPr/>
          <p:nvPr/>
        </p:nvSpPr>
        <p:spPr>
          <a:xfrm>
            <a:off x="3867802" y="2239107"/>
            <a:ext cx="973829" cy="30597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BF2D63-CA0B-614E-8A98-F38BF28B8B67}"/>
                  </a:ext>
                </a:extLst>
              </p:cNvPr>
              <p:cNvSpPr>
                <a:spLocks noGrp="1"/>
              </p:cNvSpPr>
              <p:nvPr>
                <p:ph idx="1"/>
              </p:nvPr>
            </p:nvSpPr>
            <p:spPr>
              <a:xfrm>
                <a:off x="3869268" y="864108"/>
                <a:ext cx="7865532" cy="5120640"/>
              </a:xfrm>
            </p:spPr>
            <p:txBody>
              <a:bodyPr>
                <a:noAutofit/>
              </a:bodyPr>
              <a:lstStyle/>
              <a:p>
                <a:pPr>
                  <a:lnSpc>
                    <a:spcPct val="130000"/>
                  </a:lnSpc>
                </a:pPr>
                <a:r>
                  <a:rPr lang="en-US"/>
                  <a:t>Given </a:t>
                </a:r>
                <a14:m>
                  <m:oMath xmlns:m="http://schemas.openxmlformats.org/officeDocument/2006/math">
                    <m:r>
                      <a:rPr lang="en-US" i="1">
                        <a:solidFill>
                          <a:schemeClr val="accent6">
                            <a:lumMod val="75000"/>
                          </a:schemeClr>
                        </a:solidFill>
                        <a:latin typeface="Cambria Math" panose="02040503050406030204" pitchFamily="18" charset="0"/>
                        <a:ea typeface="Cambria Math" panose="02040503050406030204" pitchFamily="18" charset="0"/>
                      </a:rPr>
                      <m:t>𝒟</m:t>
                    </m:r>
                  </m:oMath>
                </a14:m>
                <a:r>
                  <a:rPr lang="en-US"/>
                  <a:t>, split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oMath>
                </a14:m>
                <a:r>
                  <a:rPr lang="en-US"/>
                  <a:t> into </a:t>
                </a:r>
                <a14:m>
                  <m:oMath xmlns:m="http://schemas.openxmlformats.org/officeDocument/2006/math">
                    <m:r>
                      <a:rPr lang="en-US" b="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a:t> equally sized datasets or folds: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b="0"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0" smtClean="0">
                            <a:solidFill>
                              <a:schemeClr val="accent6">
                                <a:lumMod val="75000"/>
                              </a:schemeClr>
                            </a:solidFill>
                            <a:latin typeface="Cambria Math" panose="02040503050406030204" pitchFamily="18" charset="0"/>
                            <a:ea typeface="Cambria Math" panose="02040503050406030204" pitchFamily="18" charset="0"/>
                          </a:rPr>
                          <m:t>2</m:t>
                        </m:r>
                      </m:sub>
                    </m:sSub>
                    <m:r>
                      <a:rPr lang="en-US" b="0" i="0"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𝐾</m:t>
                        </m:r>
                      </m:sub>
                    </m:sSub>
                  </m:oMath>
                </a14:m>
                <a:endParaRPr lang="en-US"/>
              </a:p>
              <a:p>
                <a:pPr>
                  <a:lnSpc>
                    <a:spcPct val="130000"/>
                  </a:lnSpc>
                </a:pPr>
                <a:r>
                  <a:rPr lang="en-US"/>
                  <a:t>Use each one as a validation set once:</a:t>
                </a:r>
              </a:p>
              <a:p>
                <a:pPr marL="2981325" lvl="1" indent="-231775">
                  <a:lnSpc>
                    <a:spcPct val="130000"/>
                  </a:lnSpc>
                </a:pPr>
                <a:r>
                  <a:rPr lang="en-US" sz="2400"/>
                  <a:t>Let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𝑖</m:t>
                        </m:r>
                      </m:sub>
                    </m:sSub>
                  </m:oMath>
                </a14:m>
                <a:r>
                  <a:rPr lang="en-US" sz="2400">
                    <a:solidFill>
                      <a:schemeClr val="accent6">
                        <a:lumMod val="75000"/>
                      </a:schemeClr>
                    </a:solidFill>
                  </a:rPr>
                  <a:t> </a:t>
                </a:r>
                <a:r>
                  <a:rPr lang="en-US" sz="2400"/>
                  <a:t>be the classifier learned using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𝒟</m:t>
                    </m:r>
                    <m:r>
                      <a:rPr lang="en-US" sz="2400" i="1">
                        <a:solidFill>
                          <a:schemeClr val="accent6">
                            <a:lumMod val="75000"/>
                          </a:schemeClr>
                        </a:solidFill>
                        <a:latin typeface="Cambria Math" panose="02040503050406030204" pitchFamily="18" charset="0"/>
                        <a:ea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a:t> (all folds other than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a:t>) and let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𝑒</m:t>
                        </m:r>
                      </m:e>
                      <m:sub>
                        <m:r>
                          <a:rPr lang="en-US" sz="2400" i="1">
                            <a:solidFill>
                              <a:schemeClr val="accent6">
                                <a:lumMod val="75000"/>
                              </a:schemeClr>
                            </a:solidFill>
                            <a:latin typeface="Cambria Math" panose="02040503050406030204" pitchFamily="18" charset="0"/>
                          </a:rPr>
                          <m:t>𝑖</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𝑖</m:t>
                            </m:r>
                          </m:sub>
                        </m:sSub>
                        <m:r>
                          <a:rPr lang="en-US" sz="2400" b="0" i="1" smtClean="0">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e>
                    </m:d>
                  </m:oMath>
                </a14:m>
                <a:endParaRPr lang="en-US" sz="2400"/>
              </a:p>
              <a:p>
                <a:pPr marL="2981325" lvl="1" indent="-231775">
                  <a:lnSpc>
                    <a:spcPct val="130000"/>
                  </a:lnSpc>
                </a:pPr>
                <a:r>
                  <a:rPr lang="en-US" sz="2400"/>
                  <a:t>The </a:t>
                </a:r>
                <a14:m>
                  <m:oMath xmlns:m="http://schemas.openxmlformats.org/officeDocument/2006/math">
                    <m:r>
                      <a:rPr lang="en-US" sz="240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sz="2400"/>
                  <a:t>-fold cross validation error is</a:t>
                </a:r>
              </a:p>
              <a:p>
                <a:pPr marL="0" indent="0">
                  <a:lnSpc>
                    <a:spcPct val="110000"/>
                  </a:lnSpc>
                  <a:buNone/>
                </a:pP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                                 </m:t>
                          </m:r>
                          <m:r>
                            <a:rPr lang="en-US" b="0" i="1" smtClean="0">
                              <a:solidFill>
                                <a:schemeClr val="accent6">
                                  <a:lumMod val="75000"/>
                                </a:schemeClr>
                              </a:solidFill>
                              <a:latin typeface="Cambria Math" panose="02040503050406030204" pitchFamily="18" charset="0"/>
                            </a:rPr>
                            <m:t>𝑒𝑟𝑟</m:t>
                          </m:r>
                        </m:e>
                        <m:sub>
                          <m:r>
                            <a:rPr lang="en-US" i="1">
                              <a:solidFill>
                                <a:schemeClr val="accent6">
                                  <a:lumMod val="75000"/>
                                </a:schemeClr>
                              </a:solidFill>
                              <a:latin typeface="Cambria Math" panose="02040503050406030204" pitchFamily="18" charset="0"/>
                            </a:rPr>
                            <m:t>𝑐</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𝑣</m:t>
                              </m:r>
                            </m:e>
                            <m:sub>
                              <m:r>
                                <a:rPr lang="en-US" i="1">
                                  <a:solidFill>
                                    <a:schemeClr val="accent6">
                                      <a:lumMod val="75000"/>
                                    </a:schemeClr>
                                  </a:solidFill>
                                  <a:latin typeface="Cambria Math" panose="02040503050406030204" pitchFamily="18" charset="0"/>
                                </a:rPr>
                                <m:t>𝐾</m:t>
                              </m:r>
                            </m:sub>
                          </m:sSub>
                        </m:sub>
                      </m:sSub>
                      <m:r>
                        <a:rPr lang="en-US" i="1">
                          <a:solidFill>
                            <a:schemeClr val="accent6">
                              <a:lumMod val="75000"/>
                            </a:schemeClr>
                          </a:solidFill>
                          <a:latin typeface="Cambria Math" panose="02040503050406030204" pitchFamily="18" charset="0"/>
                        </a:rPr>
                        <m:t>=</m:t>
                      </m:r>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𝐾</m:t>
                          </m:r>
                        </m:den>
                      </m:f>
                      <m:nary>
                        <m:naryPr>
                          <m:chr m:val="∑"/>
                          <m:ctrlPr>
                            <a:rPr lang="en-US" i="1" smtClean="0">
                              <a:solidFill>
                                <a:schemeClr val="accent6">
                                  <a:lumMod val="75000"/>
                                </a:schemeClr>
                              </a:solidFill>
                              <a:latin typeface="Cambria Math" panose="02040503050406030204" pitchFamily="18" charset="0"/>
                            </a:rPr>
                          </m:ctrlPr>
                        </m:naryPr>
                        <m:sub>
                          <m:r>
                            <m:rPr>
                              <m:brk m:alnAt="23"/>
                            </m:rPr>
                            <a:rPr lang="en-US" i="1" smtClean="0">
                              <a:solidFill>
                                <a:schemeClr val="accent6">
                                  <a:lumMod val="75000"/>
                                </a:schemeClr>
                              </a:solidFill>
                              <a:latin typeface="Cambria Math" panose="02040503050406030204" pitchFamily="18" charset="0"/>
                            </a:rPr>
                            <m:t>𝑖</m:t>
                          </m:r>
                          <m:r>
                            <a:rPr lang="en-US" i="1">
                              <a:solidFill>
                                <a:schemeClr val="accent6">
                                  <a:lumMod val="75000"/>
                                </a:schemeClr>
                              </a:solidFill>
                              <a:latin typeface="Cambria Math" panose="02040503050406030204" pitchFamily="18" charset="0"/>
                            </a:rPr>
                            <m:t>=1</m:t>
                          </m:r>
                        </m:sub>
                        <m:sup>
                          <m:r>
                            <a:rPr lang="en-US" i="1">
                              <a:solidFill>
                                <a:schemeClr val="accent6">
                                  <a:lumMod val="75000"/>
                                </a:schemeClr>
                              </a:solidFill>
                              <a:latin typeface="Cambria Math" panose="02040503050406030204" pitchFamily="18" charset="0"/>
                            </a:rPr>
                            <m:t>𝐾</m:t>
                          </m:r>
                        </m:sup>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𝑒</m:t>
                              </m:r>
                            </m:e>
                            <m:sub>
                              <m:r>
                                <a:rPr lang="en-US" i="1">
                                  <a:solidFill>
                                    <a:schemeClr val="accent6">
                                      <a:lumMod val="75000"/>
                                    </a:schemeClr>
                                  </a:solidFill>
                                  <a:latin typeface="Cambria Math" panose="02040503050406030204" pitchFamily="18" charset="0"/>
                                </a:rPr>
                                <m:t>𝑖</m:t>
                              </m:r>
                            </m:sub>
                          </m:sSub>
                        </m:e>
                      </m:nary>
                    </m:oMath>
                  </m:oMathPara>
                </a14:m>
                <a:endParaRPr lang="en-US"/>
              </a:p>
              <a:p>
                <a:pPr>
                  <a:lnSpc>
                    <a:spcPct val="130000"/>
                  </a:lnSpc>
                </a:pPr>
                <a:endParaRPr lang="en-US"/>
              </a:p>
              <a:p>
                <a:pPr>
                  <a:lnSpc>
                    <a:spcPct val="130000"/>
                  </a:lnSpc>
                </a:pPr>
                <a:endParaRPr lang="en-US"/>
              </a:p>
            </p:txBody>
          </p:sp>
        </mc:Choice>
        <mc:Fallback xmlns="">
          <p:sp>
            <p:nvSpPr>
              <p:cNvPr id="3" name="Content Placeholder 2">
                <a:extLst>
                  <a:ext uri="{FF2B5EF4-FFF2-40B4-BE49-F238E27FC236}">
                    <a16:creationId xmlns:a16="http://schemas.microsoft.com/office/drawing/2014/main" id="{B6BF2D63-CA0B-614E-8A98-F38BF28B8B67}"/>
                  </a:ext>
                </a:extLst>
              </p:cNvPr>
              <p:cNvSpPr>
                <a:spLocks noGrp="1" noRot="1" noChangeAspect="1" noMove="1" noResize="1" noEditPoints="1" noAdjustHandles="1" noChangeArrowheads="1" noChangeShapeType="1" noTextEdit="1"/>
              </p:cNvSpPr>
              <p:nvPr>
                <p:ph idx="1"/>
              </p:nvPr>
            </p:nvSpPr>
            <p:spPr>
              <a:xfrm>
                <a:off x="3869268" y="864108"/>
                <a:ext cx="7865532" cy="5120640"/>
              </a:xfrm>
              <a:blipFill>
                <a:blip r:embed="rId3"/>
                <a:stretch>
                  <a:fillRect l="-805" t="-8911" r="-966" b="-2079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B2D1829-11D0-8440-9390-BED1336F60BD}"/>
              </a:ext>
            </a:extLst>
          </p:cNvPr>
          <p:cNvSpPr>
            <a:spLocks noGrp="1"/>
          </p:cNvSpPr>
          <p:nvPr>
            <p:ph type="sldNum" sz="quarter" idx="12"/>
          </p:nvPr>
        </p:nvSpPr>
        <p:spPr/>
        <p:txBody>
          <a:bodyPr/>
          <a:lstStyle/>
          <a:p>
            <a:fld id="{4FAB73BC-B049-4115-A692-8D63A059BFB8}" type="slidenum">
              <a:rPr lang="en-US" smtClean="0"/>
              <a:pPr/>
              <a:t>45</a:t>
            </a:fld>
            <a:endParaRPr lang="en-US"/>
          </a:p>
        </p:txBody>
      </p:sp>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1A22DBAE-D417-BA4C-AD5E-D32B4FB543CF}"/>
                  </a:ext>
                </a:extLst>
              </p:cNvPr>
              <p:cNvSpPr txBox="1">
                <a:spLocks/>
              </p:cNvSpPr>
              <p:nvPr/>
            </p:nvSpPr>
            <p:spPr>
              <a:xfrm>
                <a:off x="252919" y="1132980"/>
                <a:ext cx="3080831"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14:m>
                  <m:oMath xmlns:m="http://schemas.openxmlformats.org/officeDocument/2006/math">
                    <m:r>
                      <a:rPr lang="en-US" i="1" smtClean="0">
                        <a:latin typeface="Cambria Math" panose="02040503050406030204" pitchFamily="18" charset="0"/>
                      </a:rPr>
                      <m:t>𝐾</m:t>
                    </m:r>
                  </m:oMath>
                </a14:m>
                <a:r>
                  <a:rPr lang="en-US"/>
                  <a:t>-fold </a:t>
                </a:r>
                <a:br>
                  <a:rPr lang="en-US"/>
                </a:br>
                <a:r>
                  <a:rPr lang="en-US"/>
                  <a:t>cross-validation</a:t>
                </a:r>
              </a:p>
            </p:txBody>
          </p:sp>
        </mc:Choice>
        <mc:Fallback xmlns="">
          <p:sp>
            <p:nvSpPr>
              <p:cNvPr id="9" name="Title 1">
                <a:extLst>
                  <a:ext uri="{FF2B5EF4-FFF2-40B4-BE49-F238E27FC236}">
                    <a16:creationId xmlns:a16="http://schemas.microsoft.com/office/drawing/2014/main" id="{1A22DBAE-D417-BA4C-AD5E-D32B4FB543CF}"/>
                  </a:ext>
                </a:extLst>
              </p:cNvPr>
              <p:cNvSpPr txBox="1">
                <a:spLocks noRot="1" noChangeAspect="1" noMove="1" noResize="1" noEditPoints="1" noAdjustHandles="1" noChangeArrowheads="1" noChangeShapeType="1" noTextEdit="1"/>
              </p:cNvSpPr>
              <p:nvPr/>
            </p:nvSpPr>
            <p:spPr>
              <a:xfrm>
                <a:off x="252919" y="1132980"/>
                <a:ext cx="3080831" cy="4601183"/>
              </a:xfrm>
              <a:prstGeom prst="rect">
                <a:avLst/>
              </a:prstGeom>
              <a:blipFill>
                <a:blip r:embed="rId4"/>
                <a:stretch>
                  <a:fillRect l="-5738" r="-2049"/>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845F0B4A-8A85-1AF5-6634-39EF196B8A05}"/>
              </a:ext>
            </a:extLst>
          </p:cNvPr>
          <p:cNvSpPr/>
          <p:nvPr/>
        </p:nvSpPr>
        <p:spPr>
          <a:xfrm>
            <a:off x="4184679" y="2239107"/>
            <a:ext cx="656952" cy="30597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9C80979-96AD-D242-1DB8-ECEBC5F87FC3}"/>
              </a:ext>
            </a:extLst>
          </p:cNvPr>
          <p:cNvSpPr txBox="1"/>
          <p:nvPr/>
        </p:nvSpPr>
        <p:spPr>
          <a:xfrm>
            <a:off x="5306811" y="2450124"/>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1</a:t>
            </a:r>
          </a:p>
        </p:txBody>
      </p:sp>
      <p:sp>
        <p:nvSpPr>
          <p:cNvPr id="7" name="TextBox 6">
            <a:extLst>
              <a:ext uri="{FF2B5EF4-FFF2-40B4-BE49-F238E27FC236}">
                <a16:creationId xmlns:a16="http://schemas.microsoft.com/office/drawing/2014/main" id="{3E3AD8C4-BD9E-3CCF-56ED-4D08E135BFF3}"/>
              </a:ext>
            </a:extLst>
          </p:cNvPr>
          <p:cNvSpPr txBox="1"/>
          <p:nvPr/>
        </p:nvSpPr>
        <p:spPr>
          <a:xfrm>
            <a:off x="5306811" y="3193595"/>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2</a:t>
            </a:r>
          </a:p>
        </p:txBody>
      </p:sp>
      <p:sp>
        <p:nvSpPr>
          <p:cNvPr id="8" name="TextBox 7">
            <a:extLst>
              <a:ext uri="{FF2B5EF4-FFF2-40B4-BE49-F238E27FC236}">
                <a16:creationId xmlns:a16="http://schemas.microsoft.com/office/drawing/2014/main" id="{4FB01661-83CD-0B65-8690-7EEDDE4F57CF}"/>
              </a:ext>
            </a:extLst>
          </p:cNvPr>
          <p:cNvSpPr txBox="1"/>
          <p:nvPr/>
        </p:nvSpPr>
        <p:spPr>
          <a:xfrm>
            <a:off x="5306811" y="3937066"/>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3</a:t>
            </a:r>
          </a:p>
        </p:txBody>
      </p:sp>
      <p:sp>
        <p:nvSpPr>
          <p:cNvPr id="10" name="TextBox 9">
            <a:extLst>
              <a:ext uri="{FF2B5EF4-FFF2-40B4-BE49-F238E27FC236}">
                <a16:creationId xmlns:a16="http://schemas.microsoft.com/office/drawing/2014/main" id="{8CE9AA73-EE49-4E8A-46FD-E7E468AAD68D}"/>
              </a:ext>
            </a:extLst>
          </p:cNvPr>
          <p:cNvSpPr txBox="1"/>
          <p:nvPr/>
        </p:nvSpPr>
        <p:spPr>
          <a:xfrm>
            <a:off x="5305345" y="4680537"/>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4</a:t>
            </a:r>
          </a:p>
        </p:txBody>
      </p:sp>
      <p:sp>
        <p:nvSpPr>
          <p:cNvPr id="12" name="Right Brace 11">
            <a:extLst>
              <a:ext uri="{FF2B5EF4-FFF2-40B4-BE49-F238E27FC236}">
                <a16:creationId xmlns:a16="http://schemas.microsoft.com/office/drawing/2014/main" id="{AAB30C4F-6485-6FD7-1017-3FE3113C5FED}"/>
              </a:ext>
            </a:extLst>
          </p:cNvPr>
          <p:cNvSpPr/>
          <p:nvPr/>
        </p:nvSpPr>
        <p:spPr>
          <a:xfrm>
            <a:off x="4941930" y="3110254"/>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05607FDB-4EBB-FCA2-7015-ABF12938152D}"/>
              </a:ext>
            </a:extLst>
          </p:cNvPr>
          <p:cNvSpPr/>
          <p:nvPr/>
        </p:nvSpPr>
        <p:spPr>
          <a:xfrm>
            <a:off x="4958862" y="3856445"/>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E06688F0-3AE6-72E4-FE23-BF16B6008F10}"/>
              </a:ext>
            </a:extLst>
          </p:cNvPr>
          <p:cNvSpPr/>
          <p:nvPr/>
        </p:nvSpPr>
        <p:spPr>
          <a:xfrm>
            <a:off x="4941930" y="4597196"/>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C2DA9AD8-F7A7-C356-B6A3-A6E64B9E70A2}"/>
              </a:ext>
            </a:extLst>
          </p:cNvPr>
          <p:cNvSpPr/>
          <p:nvPr/>
        </p:nvSpPr>
        <p:spPr>
          <a:xfrm>
            <a:off x="4941930" y="2366783"/>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ED5C4DCF-6EA1-3A28-66EB-2F0E8CB61A48}"/>
              </a:ext>
            </a:extLst>
          </p:cNvPr>
          <p:cNvCxnSpPr/>
          <p:nvPr/>
        </p:nvCxnSpPr>
        <p:spPr>
          <a:xfrm>
            <a:off x="4203077" y="3050210"/>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ACBE467-BD86-7E73-2702-C19A47B6DC74}"/>
              </a:ext>
            </a:extLst>
          </p:cNvPr>
          <p:cNvCxnSpPr/>
          <p:nvPr/>
        </p:nvCxnSpPr>
        <p:spPr>
          <a:xfrm>
            <a:off x="4203077" y="3796508"/>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0D1DF79-E614-0119-D860-36D6B86B91C5}"/>
              </a:ext>
            </a:extLst>
          </p:cNvPr>
          <p:cNvCxnSpPr/>
          <p:nvPr/>
        </p:nvCxnSpPr>
        <p:spPr>
          <a:xfrm>
            <a:off x="4203926" y="4554836"/>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47FCDA4-FC4E-032C-D835-B4F6A94CAB57}"/>
                  </a:ext>
                </a:extLst>
              </p:cNvPr>
              <p:cNvSpPr/>
              <p:nvPr/>
            </p:nvSpPr>
            <p:spPr>
              <a:xfrm>
                <a:off x="3869268" y="3807790"/>
                <a:ext cx="966855" cy="149104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𝒟</m:t>
                          </m:r>
                        </m:e>
                        <m:sub>
                          <m:r>
                            <a:rPr lang="en-US" sz="2400" i="1">
                              <a:solidFill>
                                <a:schemeClr val="bg1"/>
                              </a:solidFill>
                              <a:latin typeface="Cambria Math" panose="02040503050406030204" pitchFamily="18" charset="0"/>
                              <a:ea typeface="Cambria Math" panose="02040503050406030204" pitchFamily="18" charset="0"/>
                            </a:rPr>
                            <m:t>−</m:t>
                          </m:r>
                          <m:r>
                            <a:rPr lang="en-US" sz="2400" b="0" i="1" smtClean="0">
                              <a:solidFill>
                                <a:schemeClr val="bg1"/>
                              </a:solidFill>
                              <a:latin typeface="Cambria Math" panose="02040503050406030204" pitchFamily="18" charset="0"/>
                              <a:ea typeface="Cambria Math" panose="02040503050406030204" pitchFamily="18" charset="0"/>
                            </a:rPr>
                            <m:t>2</m:t>
                          </m:r>
                        </m:sub>
                      </m:sSub>
                    </m:oMath>
                  </m:oMathPara>
                </a14:m>
                <a:endParaRPr lang="en-US" sz="2400">
                  <a:solidFill>
                    <a:schemeClr val="bg1"/>
                  </a:solidFill>
                </a:endParaRPr>
              </a:p>
            </p:txBody>
          </p:sp>
        </mc:Choice>
        <mc:Fallback xmlns="">
          <p:sp>
            <p:nvSpPr>
              <p:cNvPr id="11" name="Rectangle 10">
                <a:extLst>
                  <a:ext uri="{FF2B5EF4-FFF2-40B4-BE49-F238E27FC236}">
                    <a16:creationId xmlns:a16="http://schemas.microsoft.com/office/drawing/2014/main" id="{447FCDA4-FC4E-032C-D835-B4F6A94CAB57}"/>
                  </a:ext>
                </a:extLst>
              </p:cNvPr>
              <p:cNvSpPr>
                <a:spLocks noRot="1" noChangeAspect="1" noMove="1" noResize="1" noEditPoints="1" noAdjustHandles="1" noChangeArrowheads="1" noChangeShapeType="1" noTextEdit="1"/>
              </p:cNvSpPr>
              <p:nvPr/>
            </p:nvSpPr>
            <p:spPr>
              <a:xfrm>
                <a:off x="3869268" y="3807790"/>
                <a:ext cx="966855" cy="1491040"/>
              </a:xfrm>
              <a:prstGeom prst="rect">
                <a:avLst/>
              </a:prstGeom>
              <a:blipFill>
                <a:blip r:embed="rId5"/>
                <a:stretch>
                  <a:fillRect/>
                </a:stretch>
              </a:blipFill>
              <a:ln>
                <a:solidFill>
                  <a:schemeClr val="accent2">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97A9518E-765B-4898-68D6-9AD7C40F0449}"/>
                  </a:ext>
                </a:extLst>
              </p:cNvPr>
              <p:cNvSpPr/>
              <p:nvPr/>
            </p:nvSpPr>
            <p:spPr>
              <a:xfrm>
                <a:off x="3869268" y="3050211"/>
                <a:ext cx="966855" cy="75758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400" i="1" smtClean="0">
                              <a:solidFill>
                                <a:schemeClr val="bg1"/>
                              </a:solidFill>
                              <a:latin typeface="Cambria Math" panose="02040503050406030204" pitchFamily="18" charset="0"/>
                              <a:ea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𝒟</m:t>
                          </m:r>
                        </m:e>
                        <m:sub>
                          <m:r>
                            <a:rPr lang="en-US" sz="2400" b="0" i="1" smtClean="0">
                              <a:solidFill>
                                <a:schemeClr val="bg1"/>
                              </a:solidFill>
                              <a:latin typeface="Cambria Math" panose="02040503050406030204" pitchFamily="18" charset="0"/>
                              <a:ea typeface="Cambria Math" panose="02040503050406030204" pitchFamily="18" charset="0"/>
                            </a:rPr>
                            <m:t>2</m:t>
                          </m:r>
                        </m:sub>
                      </m:sSub>
                    </m:oMath>
                  </m:oMathPara>
                </a14:m>
                <a:endParaRPr lang="en-US"/>
              </a:p>
            </p:txBody>
          </p:sp>
        </mc:Choice>
        <mc:Fallback xmlns="">
          <p:sp>
            <p:nvSpPr>
              <p:cNvPr id="16" name="Rectangle 15">
                <a:extLst>
                  <a:ext uri="{FF2B5EF4-FFF2-40B4-BE49-F238E27FC236}">
                    <a16:creationId xmlns:a16="http://schemas.microsoft.com/office/drawing/2014/main" id="{97A9518E-765B-4898-68D6-9AD7C40F0449}"/>
                  </a:ext>
                </a:extLst>
              </p:cNvPr>
              <p:cNvSpPr>
                <a:spLocks noRot="1" noChangeAspect="1" noMove="1" noResize="1" noEditPoints="1" noAdjustHandles="1" noChangeArrowheads="1" noChangeShapeType="1" noTextEdit="1"/>
              </p:cNvSpPr>
              <p:nvPr/>
            </p:nvSpPr>
            <p:spPr>
              <a:xfrm>
                <a:off x="3869268" y="3050211"/>
                <a:ext cx="966855" cy="757580"/>
              </a:xfrm>
              <a:prstGeom prst="rect">
                <a:avLst/>
              </a:prstGeom>
              <a:blipFill>
                <a:blip r:embed="rId6"/>
                <a:stretch>
                  <a:fillRect/>
                </a:stretch>
              </a:blipFill>
              <a:ln>
                <a:solidFill>
                  <a:schemeClr val="accent6"/>
                </a:solidFill>
              </a:ln>
            </p:spPr>
            <p:txBody>
              <a:bodyPr/>
              <a:lstStyle/>
              <a:p>
                <a:r>
                  <a:rPr lang="en-US">
                    <a:noFill/>
                  </a:rPr>
                  <a:t> </a:t>
                </a:r>
              </a:p>
            </p:txBody>
          </p:sp>
        </mc:Fallback>
      </mc:AlternateContent>
      <p:sp>
        <p:nvSpPr>
          <p:cNvPr id="23" name="Rectangle 22">
            <a:extLst>
              <a:ext uri="{FF2B5EF4-FFF2-40B4-BE49-F238E27FC236}">
                <a16:creationId xmlns:a16="http://schemas.microsoft.com/office/drawing/2014/main" id="{7B18FB08-6DE6-A4C0-7CF1-815E0A4A6117}"/>
              </a:ext>
            </a:extLst>
          </p:cNvPr>
          <p:cNvSpPr/>
          <p:nvPr/>
        </p:nvSpPr>
        <p:spPr>
          <a:xfrm>
            <a:off x="3867802" y="2239107"/>
            <a:ext cx="968321" cy="811103"/>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6401679"/>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BF2D63-CA0B-614E-8A98-F38BF28B8B67}"/>
                  </a:ext>
                </a:extLst>
              </p:cNvPr>
              <p:cNvSpPr>
                <a:spLocks noGrp="1"/>
              </p:cNvSpPr>
              <p:nvPr>
                <p:ph idx="1"/>
              </p:nvPr>
            </p:nvSpPr>
            <p:spPr>
              <a:xfrm>
                <a:off x="3869268" y="864108"/>
                <a:ext cx="7865532" cy="5120640"/>
              </a:xfrm>
            </p:spPr>
            <p:txBody>
              <a:bodyPr>
                <a:noAutofit/>
              </a:bodyPr>
              <a:lstStyle/>
              <a:p>
                <a:pPr>
                  <a:lnSpc>
                    <a:spcPct val="130000"/>
                  </a:lnSpc>
                </a:pPr>
                <a:r>
                  <a:rPr lang="en-US"/>
                  <a:t>Given </a:t>
                </a:r>
                <a14:m>
                  <m:oMath xmlns:m="http://schemas.openxmlformats.org/officeDocument/2006/math">
                    <m:r>
                      <a:rPr lang="en-US" i="1">
                        <a:solidFill>
                          <a:schemeClr val="accent6">
                            <a:lumMod val="75000"/>
                          </a:schemeClr>
                        </a:solidFill>
                        <a:latin typeface="Cambria Math" panose="02040503050406030204" pitchFamily="18" charset="0"/>
                        <a:ea typeface="Cambria Math" panose="02040503050406030204" pitchFamily="18" charset="0"/>
                      </a:rPr>
                      <m:t>𝒟</m:t>
                    </m:r>
                  </m:oMath>
                </a14:m>
                <a:r>
                  <a:rPr lang="en-US"/>
                  <a:t>, split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oMath>
                </a14:m>
                <a:r>
                  <a:rPr lang="en-US"/>
                  <a:t> into </a:t>
                </a:r>
                <a14:m>
                  <m:oMath xmlns:m="http://schemas.openxmlformats.org/officeDocument/2006/math">
                    <m:r>
                      <a:rPr lang="en-US" b="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a:t> equally sized datasets or folds: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b="0"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0" smtClean="0">
                            <a:solidFill>
                              <a:schemeClr val="accent6">
                                <a:lumMod val="75000"/>
                              </a:schemeClr>
                            </a:solidFill>
                            <a:latin typeface="Cambria Math" panose="02040503050406030204" pitchFamily="18" charset="0"/>
                            <a:ea typeface="Cambria Math" panose="02040503050406030204" pitchFamily="18" charset="0"/>
                          </a:rPr>
                          <m:t>2</m:t>
                        </m:r>
                      </m:sub>
                    </m:sSub>
                    <m:r>
                      <a:rPr lang="en-US" b="0" i="0"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𝐾</m:t>
                        </m:r>
                      </m:sub>
                    </m:sSub>
                  </m:oMath>
                </a14:m>
                <a:endParaRPr lang="en-US"/>
              </a:p>
              <a:p>
                <a:pPr>
                  <a:lnSpc>
                    <a:spcPct val="130000"/>
                  </a:lnSpc>
                </a:pPr>
                <a:r>
                  <a:rPr lang="en-US"/>
                  <a:t>Use each one as a validation set once:</a:t>
                </a:r>
              </a:p>
              <a:p>
                <a:pPr marL="2981325" lvl="1" indent="-231775">
                  <a:lnSpc>
                    <a:spcPct val="130000"/>
                  </a:lnSpc>
                </a:pPr>
                <a:r>
                  <a:rPr lang="en-US" sz="2400"/>
                  <a:t>Let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𝑖</m:t>
                        </m:r>
                      </m:sub>
                    </m:sSub>
                  </m:oMath>
                </a14:m>
                <a:r>
                  <a:rPr lang="en-US" sz="2400">
                    <a:solidFill>
                      <a:schemeClr val="accent6">
                        <a:lumMod val="75000"/>
                      </a:schemeClr>
                    </a:solidFill>
                  </a:rPr>
                  <a:t> </a:t>
                </a:r>
                <a:r>
                  <a:rPr lang="en-US" sz="2400"/>
                  <a:t>be the classifier learned using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𝒟</m:t>
                    </m:r>
                    <m:r>
                      <a:rPr lang="en-US" sz="2400" i="1">
                        <a:solidFill>
                          <a:schemeClr val="accent6">
                            <a:lumMod val="75000"/>
                          </a:schemeClr>
                        </a:solidFill>
                        <a:latin typeface="Cambria Math" panose="02040503050406030204" pitchFamily="18" charset="0"/>
                        <a:ea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a:t> (all folds other than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a:t>) and let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𝑒</m:t>
                        </m:r>
                      </m:e>
                      <m:sub>
                        <m:r>
                          <a:rPr lang="en-US" sz="2400" i="1">
                            <a:solidFill>
                              <a:schemeClr val="accent6">
                                <a:lumMod val="75000"/>
                              </a:schemeClr>
                            </a:solidFill>
                            <a:latin typeface="Cambria Math" panose="02040503050406030204" pitchFamily="18" charset="0"/>
                          </a:rPr>
                          <m:t>𝑖</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𝑖</m:t>
                            </m:r>
                          </m:sub>
                        </m:sSub>
                        <m:r>
                          <a:rPr lang="en-US" sz="2400" b="0" i="1" smtClean="0">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e>
                    </m:d>
                  </m:oMath>
                </a14:m>
                <a:endParaRPr lang="en-US" sz="2400"/>
              </a:p>
              <a:p>
                <a:pPr marL="2981325" lvl="1" indent="-231775">
                  <a:lnSpc>
                    <a:spcPct val="130000"/>
                  </a:lnSpc>
                </a:pPr>
                <a:r>
                  <a:rPr lang="en-US" sz="2400"/>
                  <a:t>The </a:t>
                </a:r>
                <a14:m>
                  <m:oMath xmlns:m="http://schemas.openxmlformats.org/officeDocument/2006/math">
                    <m:r>
                      <a:rPr lang="en-US" sz="240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sz="2400"/>
                  <a:t>-fold cross validation error is</a:t>
                </a:r>
              </a:p>
              <a:p>
                <a:pPr marL="0" indent="0">
                  <a:lnSpc>
                    <a:spcPct val="110000"/>
                  </a:lnSpc>
                  <a:buNone/>
                </a:pP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                                 </m:t>
                          </m:r>
                          <m:r>
                            <a:rPr lang="en-US" b="0" i="1" smtClean="0">
                              <a:solidFill>
                                <a:schemeClr val="accent6">
                                  <a:lumMod val="75000"/>
                                </a:schemeClr>
                              </a:solidFill>
                              <a:latin typeface="Cambria Math" panose="02040503050406030204" pitchFamily="18" charset="0"/>
                            </a:rPr>
                            <m:t>𝑒𝑟𝑟</m:t>
                          </m:r>
                        </m:e>
                        <m:sub>
                          <m:r>
                            <a:rPr lang="en-US" i="1">
                              <a:solidFill>
                                <a:schemeClr val="accent6">
                                  <a:lumMod val="75000"/>
                                </a:schemeClr>
                              </a:solidFill>
                              <a:latin typeface="Cambria Math" panose="02040503050406030204" pitchFamily="18" charset="0"/>
                            </a:rPr>
                            <m:t>𝑐</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𝑣</m:t>
                              </m:r>
                            </m:e>
                            <m:sub>
                              <m:r>
                                <a:rPr lang="en-US" i="1">
                                  <a:solidFill>
                                    <a:schemeClr val="accent6">
                                      <a:lumMod val="75000"/>
                                    </a:schemeClr>
                                  </a:solidFill>
                                  <a:latin typeface="Cambria Math" panose="02040503050406030204" pitchFamily="18" charset="0"/>
                                </a:rPr>
                                <m:t>𝐾</m:t>
                              </m:r>
                            </m:sub>
                          </m:sSub>
                        </m:sub>
                      </m:sSub>
                      <m:r>
                        <a:rPr lang="en-US" i="1">
                          <a:solidFill>
                            <a:schemeClr val="accent6">
                              <a:lumMod val="75000"/>
                            </a:schemeClr>
                          </a:solidFill>
                          <a:latin typeface="Cambria Math" panose="02040503050406030204" pitchFamily="18" charset="0"/>
                        </a:rPr>
                        <m:t>=</m:t>
                      </m:r>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𝐾</m:t>
                          </m:r>
                        </m:den>
                      </m:f>
                      <m:nary>
                        <m:naryPr>
                          <m:chr m:val="∑"/>
                          <m:ctrlPr>
                            <a:rPr lang="en-US" i="1" smtClean="0">
                              <a:solidFill>
                                <a:schemeClr val="accent6">
                                  <a:lumMod val="75000"/>
                                </a:schemeClr>
                              </a:solidFill>
                              <a:latin typeface="Cambria Math" panose="02040503050406030204" pitchFamily="18" charset="0"/>
                            </a:rPr>
                          </m:ctrlPr>
                        </m:naryPr>
                        <m:sub>
                          <m:r>
                            <m:rPr>
                              <m:brk m:alnAt="23"/>
                            </m:rPr>
                            <a:rPr lang="en-US" i="1" smtClean="0">
                              <a:solidFill>
                                <a:schemeClr val="accent6">
                                  <a:lumMod val="75000"/>
                                </a:schemeClr>
                              </a:solidFill>
                              <a:latin typeface="Cambria Math" panose="02040503050406030204" pitchFamily="18" charset="0"/>
                            </a:rPr>
                            <m:t>𝑖</m:t>
                          </m:r>
                          <m:r>
                            <a:rPr lang="en-US" i="1">
                              <a:solidFill>
                                <a:schemeClr val="accent6">
                                  <a:lumMod val="75000"/>
                                </a:schemeClr>
                              </a:solidFill>
                              <a:latin typeface="Cambria Math" panose="02040503050406030204" pitchFamily="18" charset="0"/>
                            </a:rPr>
                            <m:t>=1</m:t>
                          </m:r>
                        </m:sub>
                        <m:sup>
                          <m:r>
                            <a:rPr lang="en-US" i="1">
                              <a:solidFill>
                                <a:schemeClr val="accent6">
                                  <a:lumMod val="75000"/>
                                </a:schemeClr>
                              </a:solidFill>
                              <a:latin typeface="Cambria Math" panose="02040503050406030204" pitchFamily="18" charset="0"/>
                            </a:rPr>
                            <m:t>𝐾</m:t>
                          </m:r>
                        </m:sup>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𝑒</m:t>
                              </m:r>
                            </m:e>
                            <m:sub>
                              <m:r>
                                <a:rPr lang="en-US" i="1">
                                  <a:solidFill>
                                    <a:schemeClr val="accent6">
                                      <a:lumMod val="75000"/>
                                    </a:schemeClr>
                                  </a:solidFill>
                                  <a:latin typeface="Cambria Math" panose="02040503050406030204" pitchFamily="18" charset="0"/>
                                </a:rPr>
                                <m:t>𝑖</m:t>
                              </m:r>
                            </m:sub>
                          </m:sSub>
                        </m:e>
                      </m:nary>
                    </m:oMath>
                  </m:oMathPara>
                </a14:m>
                <a:endParaRPr lang="en-US"/>
              </a:p>
              <a:p>
                <a:pPr>
                  <a:lnSpc>
                    <a:spcPct val="130000"/>
                  </a:lnSpc>
                </a:pPr>
                <a:endParaRPr lang="en-US"/>
              </a:p>
              <a:p>
                <a:pPr>
                  <a:lnSpc>
                    <a:spcPct val="130000"/>
                  </a:lnSpc>
                </a:pPr>
                <a:endParaRPr lang="en-US"/>
              </a:p>
            </p:txBody>
          </p:sp>
        </mc:Choice>
        <mc:Fallback xmlns="">
          <p:sp>
            <p:nvSpPr>
              <p:cNvPr id="3" name="Content Placeholder 2">
                <a:extLst>
                  <a:ext uri="{FF2B5EF4-FFF2-40B4-BE49-F238E27FC236}">
                    <a16:creationId xmlns:a16="http://schemas.microsoft.com/office/drawing/2014/main" id="{B6BF2D63-CA0B-614E-8A98-F38BF28B8B67}"/>
                  </a:ext>
                </a:extLst>
              </p:cNvPr>
              <p:cNvSpPr>
                <a:spLocks noGrp="1" noRot="1" noChangeAspect="1" noMove="1" noResize="1" noEditPoints="1" noAdjustHandles="1" noChangeArrowheads="1" noChangeShapeType="1" noTextEdit="1"/>
              </p:cNvSpPr>
              <p:nvPr>
                <p:ph idx="1"/>
              </p:nvPr>
            </p:nvSpPr>
            <p:spPr>
              <a:xfrm>
                <a:off x="3869268" y="864108"/>
                <a:ext cx="7865532" cy="5120640"/>
              </a:xfrm>
              <a:blipFill>
                <a:blip r:embed="rId3"/>
                <a:stretch>
                  <a:fillRect l="-805" t="-8911" r="-966" b="-2079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B2D1829-11D0-8440-9390-BED1336F60BD}"/>
              </a:ext>
            </a:extLst>
          </p:cNvPr>
          <p:cNvSpPr>
            <a:spLocks noGrp="1"/>
          </p:cNvSpPr>
          <p:nvPr>
            <p:ph type="sldNum" sz="quarter" idx="12"/>
          </p:nvPr>
        </p:nvSpPr>
        <p:spPr/>
        <p:txBody>
          <a:bodyPr/>
          <a:lstStyle/>
          <a:p>
            <a:fld id="{4FAB73BC-B049-4115-A692-8D63A059BFB8}" type="slidenum">
              <a:rPr lang="en-US" smtClean="0"/>
              <a:pPr/>
              <a:t>46</a:t>
            </a:fld>
            <a:endParaRPr lang="en-US"/>
          </a:p>
        </p:txBody>
      </p:sp>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1A22DBAE-D417-BA4C-AD5E-D32B4FB543CF}"/>
                  </a:ext>
                </a:extLst>
              </p:cNvPr>
              <p:cNvSpPr txBox="1">
                <a:spLocks/>
              </p:cNvSpPr>
              <p:nvPr/>
            </p:nvSpPr>
            <p:spPr>
              <a:xfrm>
                <a:off x="252919" y="1132980"/>
                <a:ext cx="3080831"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14:m>
                  <m:oMath xmlns:m="http://schemas.openxmlformats.org/officeDocument/2006/math">
                    <m:r>
                      <a:rPr lang="en-US" i="1" smtClean="0">
                        <a:latin typeface="Cambria Math" panose="02040503050406030204" pitchFamily="18" charset="0"/>
                      </a:rPr>
                      <m:t>𝐾</m:t>
                    </m:r>
                  </m:oMath>
                </a14:m>
                <a:r>
                  <a:rPr lang="en-US"/>
                  <a:t>-fold </a:t>
                </a:r>
                <a:br>
                  <a:rPr lang="en-US"/>
                </a:br>
                <a:r>
                  <a:rPr lang="en-US"/>
                  <a:t>cross-validation</a:t>
                </a:r>
              </a:p>
            </p:txBody>
          </p:sp>
        </mc:Choice>
        <mc:Fallback xmlns="">
          <p:sp>
            <p:nvSpPr>
              <p:cNvPr id="9" name="Title 1">
                <a:extLst>
                  <a:ext uri="{FF2B5EF4-FFF2-40B4-BE49-F238E27FC236}">
                    <a16:creationId xmlns:a16="http://schemas.microsoft.com/office/drawing/2014/main" id="{1A22DBAE-D417-BA4C-AD5E-D32B4FB543CF}"/>
                  </a:ext>
                </a:extLst>
              </p:cNvPr>
              <p:cNvSpPr txBox="1">
                <a:spLocks noRot="1" noChangeAspect="1" noMove="1" noResize="1" noEditPoints="1" noAdjustHandles="1" noChangeArrowheads="1" noChangeShapeType="1" noTextEdit="1"/>
              </p:cNvSpPr>
              <p:nvPr/>
            </p:nvSpPr>
            <p:spPr>
              <a:xfrm>
                <a:off x="252919" y="1132980"/>
                <a:ext cx="3080831" cy="4601183"/>
              </a:xfrm>
              <a:prstGeom prst="rect">
                <a:avLst/>
              </a:prstGeom>
              <a:blipFill>
                <a:blip r:embed="rId4"/>
                <a:stretch>
                  <a:fillRect l="-5738" r="-204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9C80979-96AD-D242-1DB8-ECEBC5F87FC3}"/>
              </a:ext>
            </a:extLst>
          </p:cNvPr>
          <p:cNvSpPr txBox="1"/>
          <p:nvPr/>
        </p:nvSpPr>
        <p:spPr>
          <a:xfrm>
            <a:off x="5306811" y="2450124"/>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1</a:t>
            </a:r>
          </a:p>
        </p:txBody>
      </p:sp>
      <p:sp>
        <p:nvSpPr>
          <p:cNvPr id="7" name="TextBox 6">
            <a:extLst>
              <a:ext uri="{FF2B5EF4-FFF2-40B4-BE49-F238E27FC236}">
                <a16:creationId xmlns:a16="http://schemas.microsoft.com/office/drawing/2014/main" id="{3E3AD8C4-BD9E-3CCF-56ED-4D08E135BFF3}"/>
              </a:ext>
            </a:extLst>
          </p:cNvPr>
          <p:cNvSpPr txBox="1"/>
          <p:nvPr/>
        </p:nvSpPr>
        <p:spPr>
          <a:xfrm>
            <a:off x="5306811" y="3193595"/>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2</a:t>
            </a:r>
          </a:p>
        </p:txBody>
      </p:sp>
      <p:sp>
        <p:nvSpPr>
          <p:cNvPr id="8" name="TextBox 7">
            <a:extLst>
              <a:ext uri="{FF2B5EF4-FFF2-40B4-BE49-F238E27FC236}">
                <a16:creationId xmlns:a16="http://schemas.microsoft.com/office/drawing/2014/main" id="{4FB01661-83CD-0B65-8690-7EEDDE4F57CF}"/>
              </a:ext>
            </a:extLst>
          </p:cNvPr>
          <p:cNvSpPr txBox="1"/>
          <p:nvPr/>
        </p:nvSpPr>
        <p:spPr>
          <a:xfrm>
            <a:off x="5306811" y="3937066"/>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3</a:t>
            </a:r>
          </a:p>
        </p:txBody>
      </p:sp>
      <p:sp>
        <p:nvSpPr>
          <p:cNvPr id="10" name="TextBox 9">
            <a:extLst>
              <a:ext uri="{FF2B5EF4-FFF2-40B4-BE49-F238E27FC236}">
                <a16:creationId xmlns:a16="http://schemas.microsoft.com/office/drawing/2014/main" id="{8CE9AA73-EE49-4E8A-46FD-E7E468AAD68D}"/>
              </a:ext>
            </a:extLst>
          </p:cNvPr>
          <p:cNvSpPr txBox="1"/>
          <p:nvPr/>
        </p:nvSpPr>
        <p:spPr>
          <a:xfrm>
            <a:off x="5305345" y="4680537"/>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4</a:t>
            </a:r>
          </a:p>
        </p:txBody>
      </p:sp>
      <p:sp>
        <p:nvSpPr>
          <p:cNvPr id="12" name="Right Brace 11">
            <a:extLst>
              <a:ext uri="{FF2B5EF4-FFF2-40B4-BE49-F238E27FC236}">
                <a16:creationId xmlns:a16="http://schemas.microsoft.com/office/drawing/2014/main" id="{AAB30C4F-6485-6FD7-1017-3FE3113C5FED}"/>
              </a:ext>
            </a:extLst>
          </p:cNvPr>
          <p:cNvSpPr/>
          <p:nvPr/>
        </p:nvSpPr>
        <p:spPr>
          <a:xfrm>
            <a:off x="4941930" y="3110254"/>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05607FDB-4EBB-FCA2-7015-ABF12938152D}"/>
              </a:ext>
            </a:extLst>
          </p:cNvPr>
          <p:cNvSpPr/>
          <p:nvPr/>
        </p:nvSpPr>
        <p:spPr>
          <a:xfrm>
            <a:off x="4958862" y="3856445"/>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E06688F0-3AE6-72E4-FE23-BF16B6008F10}"/>
              </a:ext>
            </a:extLst>
          </p:cNvPr>
          <p:cNvSpPr/>
          <p:nvPr/>
        </p:nvSpPr>
        <p:spPr>
          <a:xfrm>
            <a:off x="4941930" y="4597196"/>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C2DA9AD8-F7A7-C356-B6A3-A6E64B9E70A2}"/>
              </a:ext>
            </a:extLst>
          </p:cNvPr>
          <p:cNvSpPr/>
          <p:nvPr/>
        </p:nvSpPr>
        <p:spPr>
          <a:xfrm>
            <a:off x="4941930" y="2366783"/>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ED5C4DCF-6EA1-3A28-66EB-2F0E8CB61A48}"/>
              </a:ext>
            </a:extLst>
          </p:cNvPr>
          <p:cNvCxnSpPr/>
          <p:nvPr/>
        </p:nvCxnSpPr>
        <p:spPr>
          <a:xfrm>
            <a:off x="4203077" y="3050210"/>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ACBE467-BD86-7E73-2702-C19A47B6DC74}"/>
              </a:ext>
            </a:extLst>
          </p:cNvPr>
          <p:cNvCxnSpPr/>
          <p:nvPr/>
        </p:nvCxnSpPr>
        <p:spPr>
          <a:xfrm>
            <a:off x="4203077" y="3796508"/>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0D1DF79-E614-0119-D860-36D6B86B91C5}"/>
              </a:ext>
            </a:extLst>
          </p:cNvPr>
          <p:cNvCxnSpPr/>
          <p:nvPr/>
        </p:nvCxnSpPr>
        <p:spPr>
          <a:xfrm>
            <a:off x="4203926" y="4554836"/>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FB2481F-1299-245A-168C-87E787F58933}"/>
              </a:ext>
            </a:extLst>
          </p:cNvPr>
          <p:cNvSpPr/>
          <p:nvPr/>
        </p:nvSpPr>
        <p:spPr>
          <a:xfrm>
            <a:off x="3867802" y="2239107"/>
            <a:ext cx="973829" cy="30597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456BCA50-E26C-04BE-AC33-59524A546DDE}"/>
                  </a:ext>
                </a:extLst>
              </p:cNvPr>
              <p:cNvSpPr/>
              <p:nvPr/>
            </p:nvSpPr>
            <p:spPr>
              <a:xfrm>
                <a:off x="3869268" y="3789108"/>
                <a:ext cx="966855" cy="75758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400" i="1" smtClean="0">
                              <a:solidFill>
                                <a:schemeClr val="bg1"/>
                              </a:solidFill>
                              <a:latin typeface="Cambria Math" panose="02040503050406030204" pitchFamily="18" charset="0"/>
                              <a:ea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𝒟</m:t>
                          </m:r>
                        </m:e>
                        <m:sub>
                          <m:r>
                            <a:rPr lang="en-US" sz="2400" b="0" i="1" smtClean="0">
                              <a:solidFill>
                                <a:schemeClr val="bg1"/>
                              </a:solidFill>
                              <a:latin typeface="Cambria Math" panose="02040503050406030204" pitchFamily="18" charset="0"/>
                              <a:ea typeface="Cambria Math" panose="02040503050406030204" pitchFamily="18" charset="0"/>
                            </a:rPr>
                            <m:t>3</m:t>
                          </m:r>
                        </m:sub>
                      </m:sSub>
                    </m:oMath>
                  </m:oMathPara>
                </a14:m>
                <a:endParaRPr lang="en-US"/>
              </a:p>
            </p:txBody>
          </p:sp>
        </mc:Choice>
        <mc:Fallback xmlns="">
          <p:sp>
            <p:nvSpPr>
              <p:cNvPr id="20" name="Rectangle 19">
                <a:extLst>
                  <a:ext uri="{FF2B5EF4-FFF2-40B4-BE49-F238E27FC236}">
                    <a16:creationId xmlns:a16="http://schemas.microsoft.com/office/drawing/2014/main" id="{456BCA50-E26C-04BE-AC33-59524A546DDE}"/>
                  </a:ext>
                </a:extLst>
              </p:cNvPr>
              <p:cNvSpPr>
                <a:spLocks noRot="1" noChangeAspect="1" noMove="1" noResize="1" noEditPoints="1" noAdjustHandles="1" noChangeArrowheads="1" noChangeShapeType="1" noTextEdit="1"/>
              </p:cNvSpPr>
              <p:nvPr/>
            </p:nvSpPr>
            <p:spPr>
              <a:xfrm>
                <a:off x="3869268" y="3789108"/>
                <a:ext cx="966855" cy="757580"/>
              </a:xfrm>
              <a:prstGeom prst="rect">
                <a:avLst/>
              </a:prstGeom>
              <a:blipFill>
                <a:blip r:embed="rId5"/>
                <a:stretch>
                  <a:fillRect/>
                </a:stretch>
              </a:blipFill>
              <a:ln>
                <a:solidFill>
                  <a:schemeClr val="accent6"/>
                </a:solidFill>
              </a:ln>
            </p:spPr>
            <p:txBody>
              <a:bodyPr/>
              <a:lstStyle/>
              <a:p>
                <a:r>
                  <a:rPr lang="en-US">
                    <a:noFill/>
                  </a:rPr>
                  <a:t> </a:t>
                </a:r>
              </a:p>
            </p:txBody>
          </p:sp>
        </mc:Fallback>
      </mc:AlternateContent>
      <p:sp>
        <p:nvSpPr>
          <p:cNvPr id="22" name="Rectangle 21">
            <a:extLst>
              <a:ext uri="{FF2B5EF4-FFF2-40B4-BE49-F238E27FC236}">
                <a16:creationId xmlns:a16="http://schemas.microsoft.com/office/drawing/2014/main" id="{2481A0F0-E2B5-915A-60B7-6EC34D237AB4}"/>
              </a:ext>
            </a:extLst>
          </p:cNvPr>
          <p:cNvSpPr/>
          <p:nvPr/>
        </p:nvSpPr>
        <p:spPr>
          <a:xfrm>
            <a:off x="3867802" y="4546689"/>
            <a:ext cx="968321" cy="759542"/>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0B193039-1423-CFF8-1E31-44301A2D1E89}"/>
                  </a:ext>
                </a:extLst>
              </p:cNvPr>
              <p:cNvSpPr/>
              <p:nvPr/>
            </p:nvSpPr>
            <p:spPr>
              <a:xfrm>
                <a:off x="3869268" y="2239106"/>
                <a:ext cx="966855" cy="1541853"/>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𝒟</m:t>
                          </m:r>
                        </m:e>
                        <m:sub>
                          <m:r>
                            <a:rPr lang="en-US" sz="2400" i="1">
                              <a:solidFill>
                                <a:schemeClr val="bg1"/>
                              </a:solidFill>
                              <a:latin typeface="Cambria Math" panose="02040503050406030204" pitchFamily="18" charset="0"/>
                              <a:ea typeface="Cambria Math" panose="02040503050406030204" pitchFamily="18" charset="0"/>
                            </a:rPr>
                            <m:t>−</m:t>
                          </m:r>
                          <m:r>
                            <a:rPr lang="en-US" sz="2400" b="0" i="1" smtClean="0">
                              <a:solidFill>
                                <a:schemeClr val="bg1"/>
                              </a:solidFill>
                              <a:latin typeface="Cambria Math" panose="02040503050406030204" pitchFamily="18" charset="0"/>
                              <a:ea typeface="Cambria Math" panose="02040503050406030204" pitchFamily="18" charset="0"/>
                            </a:rPr>
                            <m:t>3</m:t>
                          </m:r>
                        </m:sub>
                      </m:sSub>
                    </m:oMath>
                  </m:oMathPara>
                </a14:m>
                <a:endParaRPr lang="en-US" sz="2400">
                  <a:solidFill>
                    <a:schemeClr val="bg1"/>
                  </a:solidFill>
                </a:endParaRPr>
              </a:p>
            </p:txBody>
          </p:sp>
        </mc:Choice>
        <mc:Fallback xmlns="">
          <p:sp>
            <p:nvSpPr>
              <p:cNvPr id="23" name="Rectangle 22">
                <a:extLst>
                  <a:ext uri="{FF2B5EF4-FFF2-40B4-BE49-F238E27FC236}">
                    <a16:creationId xmlns:a16="http://schemas.microsoft.com/office/drawing/2014/main" id="{0B193039-1423-CFF8-1E31-44301A2D1E89}"/>
                  </a:ext>
                </a:extLst>
              </p:cNvPr>
              <p:cNvSpPr>
                <a:spLocks noRot="1" noChangeAspect="1" noMove="1" noResize="1" noEditPoints="1" noAdjustHandles="1" noChangeArrowheads="1" noChangeShapeType="1" noTextEdit="1"/>
              </p:cNvSpPr>
              <p:nvPr/>
            </p:nvSpPr>
            <p:spPr>
              <a:xfrm>
                <a:off x="3869268" y="2239106"/>
                <a:ext cx="966855" cy="1541853"/>
              </a:xfrm>
              <a:prstGeom prst="rect">
                <a:avLst/>
              </a:prstGeom>
              <a:blipFill>
                <a:blip r:embed="rId6"/>
                <a:stretch>
                  <a:fillRect/>
                </a:stretch>
              </a:blipFill>
              <a:ln>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25921703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BF2D63-CA0B-614E-8A98-F38BF28B8B67}"/>
                  </a:ext>
                </a:extLst>
              </p:cNvPr>
              <p:cNvSpPr>
                <a:spLocks noGrp="1"/>
              </p:cNvSpPr>
              <p:nvPr>
                <p:ph idx="1"/>
              </p:nvPr>
            </p:nvSpPr>
            <p:spPr>
              <a:xfrm>
                <a:off x="3869268" y="864108"/>
                <a:ext cx="7865532" cy="5120640"/>
              </a:xfrm>
            </p:spPr>
            <p:txBody>
              <a:bodyPr>
                <a:noAutofit/>
              </a:bodyPr>
              <a:lstStyle/>
              <a:p>
                <a:pPr>
                  <a:lnSpc>
                    <a:spcPct val="130000"/>
                  </a:lnSpc>
                </a:pPr>
                <a:r>
                  <a:rPr lang="en-US"/>
                  <a:t>Given </a:t>
                </a:r>
                <a14:m>
                  <m:oMath xmlns:m="http://schemas.openxmlformats.org/officeDocument/2006/math">
                    <m:r>
                      <a:rPr lang="en-US" i="1">
                        <a:solidFill>
                          <a:schemeClr val="accent6">
                            <a:lumMod val="75000"/>
                          </a:schemeClr>
                        </a:solidFill>
                        <a:latin typeface="Cambria Math" panose="02040503050406030204" pitchFamily="18" charset="0"/>
                        <a:ea typeface="Cambria Math" panose="02040503050406030204" pitchFamily="18" charset="0"/>
                      </a:rPr>
                      <m:t>𝒟</m:t>
                    </m:r>
                  </m:oMath>
                </a14:m>
                <a:r>
                  <a:rPr lang="en-US"/>
                  <a:t>, split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oMath>
                </a14:m>
                <a:r>
                  <a:rPr lang="en-US"/>
                  <a:t> into </a:t>
                </a:r>
                <a14:m>
                  <m:oMath xmlns:m="http://schemas.openxmlformats.org/officeDocument/2006/math">
                    <m:r>
                      <a:rPr lang="en-US" b="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a:t> equally sized datasets or folds: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b="0"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0" smtClean="0">
                            <a:solidFill>
                              <a:schemeClr val="accent6">
                                <a:lumMod val="75000"/>
                              </a:schemeClr>
                            </a:solidFill>
                            <a:latin typeface="Cambria Math" panose="02040503050406030204" pitchFamily="18" charset="0"/>
                            <a:ea typeface="Cambria Math" panose="02040503050406030204" pitchFamily="18" charset="0"/>
                          </a:rPr>
                          <m:t>2</m:t>
                        </m:r>
                      </m:sub>
                    </m:sSub>
                    <m:r>
                      <a:rPr lang="en-US" b="0" i="0"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𝐾</m:t>
                        </m:r>
                      </m:sub>
                    </m:sSub>
                  </m:oMath>
                </a14:m>
                <a:endParaRPr lang="en-US"/>
              </a:p>
              <a:p>
                <a:pPr>
                  <a:lnSpc>
                    <a:spcPct val="130000"/>
                  </a:lnSpc>
                </a:pPr>
                <a:r>
                  <a:rPr lang="en-US"/>
                  <a:t>Use each one as a validation set once:</a:t>
                </a:r>
              </a:p>
              <a:p>
                <a:pPr marL="2981325" lvl="1" indent="-231775">
                  <a:lnSpc>
                    <a:spcPct val="130000"/>
                  </a:lnSpc>
                </a:pPr>
                <a:r>
                  <a:rPr lang="en-US" sz="2400"/>
                  <a:t>Let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𝑖</m:t>
                        </m:r>
                      </m:sub>
                    </m:sSub>
                  </m:oMath>
                </a14:m>
                <a:r>
                  <a:rPr lang="en-US" sz="2400">
                    <a:solidFill>
                      <a:schemeClr val="accent6">
                        <a:lumMod val="75000"/>
                      </a:schemeClr>
                    </a:solidFill>
                  </a:rPr>
                  <a:t> </a:t>
                </a:r>
                <a:r>
                  <a:rPr lang="en-US" sz="2400"/>
                  <a:t>be the classifier learned using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𝒟</m:t>
                    </m:r>
                    <m:r>
                      <a:rPr lang="en-US" sz="2400" i="1">
                        <a:solidFill>
                          <a:schemeClr val="accent6">
                            <a:lumMod val="75000"/>
                          </a:schemeClr>
                        </a:solidFill>
                        <a:latin typeface="Cambria Math" panose="02040503050406030204" pitchFamily="18" charset="0"/>
                        <a:ea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a:t> (all folds other than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a:t>) and let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𝑒</m:t>
                        </m:r>
                      </m:e>
                      <m:sub>
                        <m:r>
                          <a:rPr lang="en-US" sz="2400" i="1">
                            <a:solidFill>
                              <a:schemeClr val="accent6">
                                <a:lumMod val="75000"/>
                              </a:schemeClr>
                            </a:solidFill>
                            <a:latin typeface="Cambria Math" panose="02040503050406030204" pitchFamily="18" charset="0"/>
                          </a:rPr>
                          <m:t>𝑖</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𝑖</m:t>
                            </m:r>
                          </m:sub>
                        </m:sSub>
                        <m:r>
                          <a:rPr lang="en-US" sz="2400" b="0" i="1" smtClean="0">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e>
                    </m:d>
                  </m:oMath>
                </a14:m>
                <a:endParaRPr lang="en-US" sz="2400"/>
              </a:p>
              <a:p>
                <a:pPr marL="2981325" lvl="1" indent="-231775">
                  <a:lnSpc>
                    <a:spcPct val="130000"/>
                  </a:lnSpc>
                </a:pPr>
                <a:r>
                  <a:rPr lang="en-US" sz="2400"/>
                  <a:t>The </a:t>
                </a:r>
                <a14:m>
                  <m:oMath xmlns:m="http://schemas.openxmlformats.org/officeDocument/2006/math">
                    <m:r>
                      <a:rPr lang="en-US" sz="240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sz="2400"/>
                  <a:t>-fold cross validation error is</a:t>
                </a:r>
              </a:p>
              <a:p>
                <a:pPr marL="0" indent="0">
                  <a:lnSpc>
                    <a:spcPct val="110000"/>
                  </a:lnSpc>
                  <a:buNone/>
                </a:pP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                                 </m:t>
                          </m:r>
                          <m:r>
                            <a:rPr lang="en-US" b="0" i="1" smtClean="0">
                              <a:solidFill>
                                <a:schemeClr val="accent6">
                                  <a:lumMod val="75000"/>
                                </a:schemeClr>
                              </a:solidFill>
                              <a:latin typeface="Cambria Math" panose="02040503050406030204" pitchFamily="18" charset="0"/>
                            </a:rPr>
                            <m:t>𝑒𝑟𝑟</m:t>
                          </m:r>
                        </m:e>
                        <m:sub>
                          <m:r>
                            <a:rPr lang="en-US" i="1">
                              <a:solidFill>
                                <a:schemeClr val="accent6">
                                  <a:lumMod val="75000"/>
                                </a:schemeClr>
                              </a:solidFill>
                              <a:latin typeface="Cambria Math" panose="02040503050406030204" pitchFamily="18" charset="0"/>
                            </a:rPr>
                            <m:t>𝑐</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𝑣</m:t>
                              </m:r>
                            </m:e>
                            <m:sub>
                              <m:r>
                                <a:rPr lang="en-US" i="1">
                                  <a:solidFill>
                                    <a:schemeClr val="accent6">
                                      <a:lumMod val="75000"/>
                                    </a:schemeClr>
                                  </a:solidFill>
                                  <a:latin typeface="Cambria Math" panose="02040503050406030204" pitchFamily="18" charset="0"/>
                                </a:rPr>
                                <m:t>𝐾</m:t>
                              </m:r>
                            </m:sub>
                          </m:sSub>
                        </m:sub>
                      </m:sSub>
                      <m:r>
                        <a:rPr lang="en-US" i="1">
                          <a:solidFill>
                            <a:schemeClr val="accent6">
                              <a:lumMod val="75000"/>
                            </a:schemeClr>
                          </a:solidFill>
                          <a:latin typeface="Cambria Math" panose="02040503050406030204" pitchFamily="18" charset="0"/>
                        </a:rPr>
                        <m:t>=</m:t>
                      </m:r>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𝐾</m:t>
                          </m:r>
                        </m:den>
                      </m:f>
                      <m:nary>
                        <m:naryPr>
                          <m:chr m:val="∑"/>
                          <m:ctrlPr>
                            <a:rPr lang="en-US" i="1" smtClean="0">
                              <a:solidFill>
                                <a:schemeClr val="accent6">
                                  <a:lumMod val="75000"/>
                                </a:schemeClr>
                              </a:solidFill>
                              <a:latin typeface="Cambria Math" panose="02040503050406030204" pitchFamily="18" charset="0"/>
                            </a:rPr>
                          </m:ctrlPr>
                        </m:naryPr>
                        <m:sub>
                          <m:r>
                            <m:rPr>
                              <m:brk m:alnAt="23"/>
                            </m:rPr>
                            <a:rPr lang="en-US" i="1" smtClean="0">
                              <a:solidFill>
                                <a:schemeClr val="accent6">
                                  <a:lumMod val="75000"/>
                                </a:schemeClr>
                              </a:solidFill>
                              <a:latin typeface="Cambria Math" panose="02040503050406030204" pitchFamily="18" charset="0"/>
                            </a:rPr>
                            <m:t>𝑖</m:t>
                          </m:r>
                          <m:r>
                            <a:rPr lang="en-US" i="1">
                              <a:solidFill>
                                <a:schemeClr val="accent6">
                                  <a:lumMod val="75000"/>
                                </a:schemeClr>
                              </a:solidFill>
                              <a:latin typeface="Cambria Math" panose="02040503050406030204" pitchFamily="18" charset="0"/>
                            </a:rPr>
                            <m:t>=1</m:t>
                          </m:r>
                        </m:sub>
                        <m:sup>
                          <m:r>
                            <a:rPr lang="en-US" i="1">
                              <a:solidFill>
                                <a:schemeClr val="accent6">
                                  <a:lumMod val="75000"/>
                                </a:schemeClr>
                              </a:solidFill>
                              <a:latin typeface="Cambria Math" panose="02040503050406030204" pitchFamily="18" charset="0"/>
                            </a:rPr>
                            <m:t>𝐾</m:t>
                          </m:r>
                        </m:sup>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𝑒</m:t>
                              </m:r>
                            </m:e>
                            <m:sub>
                              <m:r>
                                <a:rPr lang="en-US" i="1">
                                  <a:solidFill>
                                    <a:schemeClr val="accent6">
                                      <a:lumMod val="75000"/>
                                    </a:schemeClr>
                                  </a:solidFill>
                                  <a:latin typeface="Cambria Math" panose="02040503050406030204" pitchFamily="18" charset="0"/>
                                </a:rPr>
                                <m:t>𝑖</m:t>
                              </m:r>
                            </m:sub>
                          </m:sSub>
                        </m:e>
                      </m:nary>
                    </m:oMath>
                  </m:oMathPara>
                </a14:m>
                <a:endParaRPr lang="en-US"/>
              </a:p>
              <a:p>
                <a:pPr>
                  <a:lnSpc>
                    <a:spcPct val="130000"/>
                  </a:lnSpc>
                </a:pPr>
                <a:endParaRPr lang="en-US"/>
              </a:p>
              <a:p>
                <a:pPr>
                  <a:lnSpc>
                    <a:spcPct val="130000"/>
                  </a:lnSpc>
                </a:pPr>
                <a:endParaRPr lang="en-US"/>
              </a:p>
            </p:txBody>
          </p:sp>
        </mc:Choice>
        <mc:Fallback xmlns="">
          <p:sp>
            <p:nvSpPr>
              <p:cNvPr id="3" name="Content Placeholder 2">
                <a:extLst>
                  <a:ext uri="{FF2B5EF4-FFF2-40B4-BE49-F238E27FC236}">
                    <a16:creationId xmlns:a16="http://schemas.microsoft.com/office/drawing/2014/main" id="{B6BF2D63-CA0B-614E-8A98-F38BF28B8B67}"/>
                  </a:ext>
                </a:extLst>
              </p:cNvPr>
              <p:cNvSpPr>
                <a:spLocks noGrp="1" noRot="1" noChangeAspect="1" noMove="1" noResize="1" noEditPoints="1" noAdjustHandles="1" noChangeArrowheads="1" noChangeShapeType="1" noTextEdit="1"/>
              </p:cNvSpPr>
              <p:nvPr>
                <p:ph idx="1"/>
              </p:nvPr>
            </p:nvSpPr>
            <p:spPr>
              <a:xfrm>
                <a:off x="3869268" y="864108"/>
                <a:ext cx="7865532" cy="5120640"/>
              </a:xfrm>
              <a:blipFill>
                <a:blip r:embed="rId3"/>
                <a:stretch>
                  <a:fillRect l="-805" t="-8911" r="-966" b="-2079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B2D1829-11D0-8440-9390-BED1336F60BD}"/>
              </a:ext>
            </a:extLst>
          </p:cNvPr>
          <p:cNvSpPr>
            <a:spLocks noGrp="1"/>
          </p:cNvSpPr>
          <p:nvPr>
            <p:ph type="sldNum" sz="quarter" idx="12"/>
          </p:nvPr>
        </p:nvSpPr>
        <p:spPr/>
        <p:txBody>
          <a:bodyPr/>
          <a:lstStyle/>
          <a:p>
            <a:fld id="{4FAB73BC-B049-4115-A692-8D63A059BFB8}" type="slidenum">
              <a:rPr lang="en-US" smtClean="0"/>
              <a:pPr/>
              <a:t>47</a:t>
            </a:fld>
            <a:endParaRPr lang="en-US"/>
          </a:p>
        </p:txBody>
      </p:sp>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1A22DBAE-D417-BA4C-AD5E-D32B4FB543CF}"/>
                  </a:ext>
                </a:extLst>
              </p:cNvPr>
              <p:cNvSpPr txBox="1">
                <a:spLocks/>
              </p:cNvSpPr>
              <p:nvPr/>
            </p:nvSpPr>
            <p:spPr>
              <a:xfrm>
                <a:off x="252919" y="1132980"/>
                <a:ext cx="3080831"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14:m>
                  <m:oMath xmlns:m="http://schemas.openxmlformats.org/officeDocument/2006/math">
                    <m:r>
                      <a:rPr lang="en-US" i="1" smtClean="0">
                        <a:latin typeface="Cambria Math" panose="02040503050406030204" pitchFamily="18" charset="0"/>
                      </a:rPr>
                      <m:t>𝐾</m:t>
                    </m:r>
                  </m:oMath>
                </a14:m>
                <a:r>
                  <a:rPr lang="en-US"/>
                  <a:t>-fold </a:t>
                </a:r>
                <a:br>
                  <a:rPr lang="en-US"/>
                </a:br>
                <a:r>
                  <a:rPr lang="en-US"/>
                  <a:t>cross-validation</a:t>
                </a:r>
              </a:p>
            </p:txBody>
          </p:sp>
        </mc:Choice>
        <mc:Fallback xmlns="">
          <p:sp>
            <p:nvSpPr>
              <p:cNvPr id="9" name="Title 1">
                <a:extLst>
                  <a:ext uri="{FF2B5EF4-FFF2-40B4-BE49-F238E27FC236}">
                    <a16:creationId xmlns:a16="http://schemas.microsoft.com/office/drawing/2014/main" id="{1A22DBAE-D417-BA4C-AD5E-D32B4FB543CF}"/>
                  </a:ext>
                </a:extLst>
              </p:cNvPr>
              <p:cNvSpPr txBox="1">
                <a:spLocks noRot="1" noChangeAspect="1" noMove="1" noResize="1" noEditPoints="1" noAdjustHandles="1" noChangeArrowheads="1" noChangeShapeType="1" noTextEdit="1"/>
              </p:cNvSpPr>
              <p:nvPr/>
            </p:nvSpPr>
            <p:spPr>
              <a:xfrm>
                <a:off x="252919" y="1132980"/>
                <a:ext cx="3080831" cy="4601183"/>
              </a:xfrm>
              <a:prstGeom prst="rect">
                <a:avLst/>
              </a:prstGeom>
              <a:blipFill>
                <a:blip r:embed="rId4"/>
                <a:stretch>
                  <a:fillRect l="-5738" r="-204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9C80979-96AD-D242-1DB8-ECEBC5F87FC3}"/>
              </a:ext>
            </a:extLst>
          </p:cNvPr>
          <p:cNvSpPr txBox="1"/>
          <p:nvPr/>
        </p:nvSpPr>
        <p:spPr>
          <a:xfrm>
            <a:off x="5306811" y="2450124"/>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1</a:t>
            </a:r>
          </a:p>
        </p:txBody>
      </p:sp>
      <p:sp>
        <p:nvSpPr>
          <p:cNvPr id="7" name="TextBox 6">
            <a:extLst>
              <a:ext uri="{FF2B5EF4-FFF2-40B4-BE49-F238E27FC236}">
                <a16:creationId xmlns:a16="http://schemas.microsoft.com/office/drawing/2014/main" id="{3E3AD8C4-BD9E-3CCF-56ED-4D08E135BFF3}"/>
              </a:ext>
            </a:extLst>
          </p:cNvPr>
          <p:cNvSpPr txBox="1"/>
          <p:nvPr/>
        </p:nvSpPr>
        <p:spPr>
          <a:xfrm>
            <a:off x="5306811" y="3193595"/>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2</a:t>
            </a:r>
          </a:p>
        </p:txBody>
      </p:sp>
      <p:sp>
        <p:nvSpPr>
          <p:cNvPr id="8" name="TextBox 7">
            <a:extLst>
              <a:ext uri="{FF2B5EF4-FFF2-40B4-BE49-F238E27FC236}">
                <a16:creationId xmlns:a16="http://schemas.microsoft.com/office/drawing/2014/main" id="{4FB01661-83CD-0B65-8690-7EEDDE4F57CF}"/>
              </a:ext>
            </a:extLst>
          </p:cNvPr>
          <p:cNvSpPr txBox="1"/>
          <p:nvPr/>
        </p:nvSpPr>
        <p:spPr>
          <a:xfrm>
            <a:off x="5306811" y="3937066"/>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3</a:t>
            </a:r>
          </a:p>
        </p:txBody>
      </p:sp>
      <p:sp>
        <p:nvSpPr>
          <p:cNvPr id="10" name="TextBox 9">
            <a:extLst>
              <a:ext uri="{FF2B5EF4-FFF2-40B4-BE49-F238E27FC236}">
                <a16:creationId xmlns:a16="http://schemas.microsoft.com/office/drawing/2014/main" id="{8CE9AA73-EE49-4E8A-46FD-E7E468AAD68D}"/>
              </a:ext>
            </a:extLst>
          </p:cNvPr>
          <p:cNvSpPr txBox="1"/>
          <p:nvPr/>
        </p:nvSpPr>
        <p:spPr>
          <a:xfrm>
            <a:off x="5305345" y="4680537"/>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4</a:t>
            </a:r>
          </a:p>
        </p:txBody>
      </p:sp>
      <p:sp>
        <p:nvSpPr>
          <p:cNvPr id="12" name="Right Brace 11">
            <a:extLst>
              <a:ext uri="{FF2B5EF4-FFF2-40B4-BE49-F238E27FC236}">
                <a16:creationId xmlns:a16="http://schemas.microsoft.com/office/drawing/2014/main" id="{AAB30C4F-6485-6FD7-1017-3FE3113C5FED}"/>
              </a:ext>
            </a:extLst>
          </p:cNvPr>
          <p:cNvSpPr/>
          <p:nvPr/>
        </p:nvSpPr>
        <p:spPr>
          <a:xfrm>
            <a:off x="4941930" y="3110254"/>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05607FDB-4EBB-FCA2-7015-ABF12938152D}"/>
              </a:ext>
            </a:extLst>
          </p:cNvPr>
          <p:cNvSpPr/>
          <p:nvPr/>
        </p:nvSpPr>
        <p:spPr>
          <a:xfrm>
            <a:off x="4958862" y="3856445"/>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E06688F0-3AE6-72E4-FE23-BF16B6008F10}"/>
              </a:ext>
            </a:extLst>
          </p:cNvPr>
          <p:cNvSpPr/>
          <p:nvPr/>
        </p:nvSpPr>
        <p:spPr>
          <a:xfrm>
            <a:off x="4941930" y="4597196"/>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C2DA9AD8-F7A7-C356-B6A3-A6E64B9E70A2}"/>
              </a:ext>
            </a:extLst>
          </p:cNvPr>
          <p:cNvSpPr/>
          <p:nvPr/>
        </p:nvSpPr>
        <p:spPr>
          <a:xfrm>
            <a:off x="4941930" y="2366783"/>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ED5C4DCF-6EA1-3A28-66EB-2F0E8CB61A48}"/>
              </a:ext>
            </a:extLst>
          </p:cNvPr>
          <p:cNvCxnSpPr/>
          <p:nvPr/>
        </p:nvCxnSpPr>
        <p:spPr>
          <a:xfrm>
            <a:off x="4203077" y="3050210"/>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ACBE467-BD86-7E73-2702-C19A47B6DC74}"/>
              </a:ext>
            </a:extLst>
          </p:cNvPr>
          <p:cNvCxnSpPr/>
          <p:nvPr/>
        </p:nvCxnSpPr>
        <p:spPr>
          <a:xfrm>
            <a:off x="4203077" y="3796508"/>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0D1DF79-E614-0119-D860-36D6B86B91C5}"/>
              </a:ext>
            </a:extLst>
          </p:cNvPr>
          <p:cNvCxnSpPr/>
          <p:nvPr/>
        </p:nvCxnSpPr>
        <p:spPr>
          <a:xfrm>
            <a:off x="4203926" y="4554836"/>
            <a:ext cx="6330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A7B96185-A8A2-41F0-C413-D9BF6039AD97}"/>
              </a:ext>
            </a:extLst>
          </p:cNvPr>
          <p:cNvSpPr/>
          <p:nvPr/>
        </p:nvSpPr>
        <p:spPr>
          <a:xfrm>
            <a:off x="3867802" y="2239107"/>
            <a:ext cx="973829" cy="30597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9226221C-A0A8-031A-4C61-A6DA2F6C78CF}"/>
                  </a:ext>
                </a:extLst>
              </p:cNvPr>
              <p:cNvSpPr/>
              <p:nvPr/>
            </p:nvSpPr>
            <p:spPr>
              <a:xfrm>
                <a:off x="3867802" y="4484791"/>
                <a:ext cx="968321" cy="811103"/>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400" i="1" smtClean="0">
                              <a:solidFill>
                                <a:schemeClr val="bg1"/>
                              </a:solidFill>
                              <a:latin typeface="Cambria Math" panose="02040503050406030204" pitchFamily="18" charset="0"/>
                              <a:ea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𝒟</m:t>
                          </m:r>
                        </m:e>
                        <m:sub>
                          <m:r>
                            <a:rPr lang="en-US" sz="2400" b="0" i="1" smtClean="0">
                              <a:solidFill>
                                <a:schemeClr val="bg1"/>
                              </a:solidFill>
                              <a:latin typeface="Cambria Math" panose="02040503050406030204" pitchFamily="18" charset="0"/>
                              <a:ea typeface="Cambria Math" panose="02040503050406030204" pitchFamily="18" charset="0"/>
                            </a:rPr>
                            <m:t>4</m:t>
                          </m:r>
                        </m:sub>
                      </m:sSub>
                    </m:oMath>
                  </m:oMathPara>
                </a14:m>
                <a:endParaRPr lang="en-US"/>
              </a:p>
            </p:txBody>
          </p:sp>
        </mc:Choice>
        <mc:Fallback xmlns="">
          <p:sp>
            <p:nvSpPr>
              <p:cNvPr id="20" name="Rectangle 19">
                <a:extLst>
                  <a:ext uri="{FF2B5EF4-FFF2-40B4-BE49-F238E27FC236}">
                    <a16:creationId xmlns:a16="http://schemas.microsoft.com/office/drawing/2014/main" id="{9226221C-A0A8-031A-4C61-A6DA2F6C78CF}"/>
                  </a:ext>
                </a:extLst>
              </p:cNvPr>
              <p:cNvSpPr>
                <a:spLocks noRot="1" noChangeAspect="1" noMove="1" noResize="1" noEditPoints="1" noAdjustHandles="1" noChangeArrowheads="1" noChangeShapeType="1" noTextEdit="1"/>
              </p:cNvSpPr>
              <p:nvPr/>
            </p:nvSpPr>
            <p:spPr>
              <a:xfrm>
                <a:off x="3867802" y="4484791"/>
                <a:ext cx="968321" cy="811103"/>
              </a:xfrm>
              <a:prstGeom prst="rect">
                <a:avLst/>
              </a:prstGeom>
              <a:blipFill>
                <a:blip r:embed="rId5"/>
                <a:stretch>
                  <a:fillRect/>
                </a:stretch>
              </a:blipFill>
              <a:ln>
                <a:solidFill>
                  <a:schemeClr val="accent6"/>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4D36640D-4D11-C601-A507-2A3D911046D1}"/>
                  </a:ext>
                </a:extLst>
              </p:cNvPr>
              <p:cNvSpPr/>
              <p:nvPr/>
            </p:nvSpPr>
            <p:spPr>
              <a:xfrm>
                <a:off x="3866336" y="2237639"/>
                <a:ext cx="969787" cy="2248620"/>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𝒟</m:t>
                          </m:r>
                        </m:e>
                        <m:sub>
                          <m:r>
                            <a:rPr lang="en-US" sz="2400" i="1">
                              <a:solidFill>
                                <a:schemeClr val="bg1"/>
                              </a:solidFill>
                              <a:latin typeface="Cambria Math" panose="02040503050406030204" pitchFamily="18" charset="0"/>
                              <a:ea typeface="Cambria Math" panose="02040503050406030204" pitchFamily="18" charset="0"/>
                            </a:rPr>
                            <m:t>−</m:t>
                          </m:r>
                          <m:r>
                            <a:rPr lang="en-US" sz="2400" b="0" i="1" smtClean="0">
                              <a:solidFill>
                                <a:schemeClr val="bg1"/>
                              </a:solidFill>
                              <a:latin typeface="Cambria Math" panose="02040503050406030204" pitchFamily="18" charset="0"/>
                              <a:ea typeface="Cambria Math" panose="02040503050406030204" pitchFamily="18" charset="0"/>
                            </a:rPr>
                            <m:t>4</m:t>
                          </m:r>
                        </m:sub>
                      </m:sSub>
                    </m:oMath>
                  </m:oMathPara>
                </a14:m>
                <a:endParaRPr lang="en-US" sz="2400">
                  <a:solidFill>
                    <a:schemeClr val="bg1"/>
                  </a:solidFill>
                </a:endParaRPr>
              </a:p>
            </p:txBody>
          </p:sp>
        </mc:Choice>
        <mc:Fallback xmlns="">
          <p:sp>
            <p:nvSpPr>
              <p:cNvPr id="21" name="Rectangle 20">
                <a:extLst>
                  <a:ext uri="{FF2B5EF4-FFF2-40B4-BE49-F238E27FC236}">
                    <a16:creationId xmlns:a16="http://schemas.microsoft.com/office/drawing/2014/main" id="{4D36640D-4D11-C601-A507-2A3D911046D1}"/>
                  </a:ext>
                </a:extLst>
              </p:cNvPr>
              <p:cNvSpPr>
                <a:spLocks noRot="1" noChangeAspect="1" noMove="1" noResize="1" noEditPoints="1" noAdjustHandles="1" noChangeArrowheads="1" noChangeShapeType="1" noTextEdit="1"/>
              </p:cNvSpPr>
              <p:nvPr/>
            </p:nvSpPr>
            <p:spPr>
              <a:xfrm>
                <a:off x="3866336" y="2237639"/>
                <a:ext cx="969787" cy="2248620"/>
              </a:xfrm>
              <a:prstGeom prst="rect">
                <a:avLst/>
              </a:prstGeom>
              <a:blipFill>
                <a:blip r:embed="rId6"/>
                <a:stretch>
                  <a:fillRect/>
                </a:stretch>
              </a:blipFill>
              <a:ln>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198342239"/>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6BF2D63-CA0B-614E-8A98-F38BF28B8B67}"/>
                  </a:ext>
                </a:extLst>
              </p:cNvPr>
              <p:cNvSpPr>
                <a:spLocks noGrp="1"/>
              </p:cNvSpPr>
              <p:nvPr>
                <p:ph idx="1"/>
              </p:nvPr>
            </p:nvSpPr>
            <p:spPr>
              <a:xfrm>
                <a:off x="3869268" y="864108"/>
                <a:ext cx="7865532" cy="5120640"/>
              </a:xfrm>
            </p:spPr>
            <p:txBody>
              <a:bodyPr>
                <a:noAutofit/>
              </a:bodyPr>
              <a:lstStyle/>
              <a:p>
                <a:pPr>
                  <a:lnSpc>
                    <a:spcPct val="130000"/>
                  </a:lnSpc>
                </a:pPr>
                <a:r>
                  <a:rPr lang="en-US" dirty="0"/>
                  <a:t>Given </a:t>
                </a:r>
                <a14:m>
                  <m:oMath xmlns:m="http://schemas.openxmlformats.org/officeDocument/2006/math">
                    <m:r>
                      <a:rPr lang="en-US" i="1">
                        <a:solidFill>
                          <a:schemeClr val="accent6">
                            <a:lumMod val="75000"/>
                          </a:schemeClr>
                        </a:solidFill>
                        <a:latin typeface="Cambria Math" panose="02040503050406030204" pitchFamily="18" charset="0"/>
                        <a:ea typeface="Cambria Math" panose="02040503050406030204" pitchFamily="18" charset="0"/>
                      </a:rPr>
                      <m:t>𝒟</m:t>
                    </m:r>
                  </m:oMath>
                </a14:m>
                <a:r>
                  <a:rPr lang="en-US" dirty="0"/>
                  <a:t>, split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𝒟</m:t>
                    </m:r>
                  </m:oMath>
                </a14:m>
                <a:r>
                  <a:rPr lang="en-US" dirty="0"/>
                  <a:t> into </a:t>
                </a:r>
                <a14:m>
                  <m:oMath xmlns:m="http://schemas.openxmlformats.org/officeDocument/2006/math">
                    <m:r>
                      <a:rPr lang="en-US" b="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dirty="0"/>
                  <a:t> equally sized datasets or folds: </a:t>
                </a:r>
                <a14:m>
                  <m:oMath xmlns:m="http://schemas.openxmlformats.org/officeDocument/2006/math">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n-US" b="0"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0" smtClean="0">
                            <a:solidFill>
                              <a:schemeClr val="accent6">
                                <a:lumMod val="75000"/>
                              </a:schemeClr>
                            </a:solidFill>
                            <a:latin typeface="Cambria Math" panose="02040503050406030204" pitchFamily="18" charset="0"/>
                            <a:ea typeface="Cambria Math" panose="02040503050406030204" pitchFamily="18" charset="0"/>
                          </a:rPr>
                          <m:t>2</m:t>
                        </m:r>
                      </m:sub>
                    </m:sSub>
                    <m:r>
                      <a:rPr lang="en-US" b="0" i="0"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n-US" i="1">
                            <a:solidFill>
                              <a:schemeClr val="accent6">
                                <a:lumMod val="75000"/>
                              </a:schemeClr>
                            </a:solidFill>
                            <a:latin typeface="Cambria Math" panose="02040503050406030204" pitchFamily="18" charset="0"/>
                            <a:ea typeface="Cambria Math" panose="02040503050406030204" pitchFamily="18" charset="0"/>
                          </a:rPr>
                        </m:ctrlPr>
                      </m:sSubPr>
                      <m:e>
                        <m:r>
                          <a:rPr lang="en-US" i="1">
                            <a:solidFill>
                              <a:schemeClr val="accent6">
                                <a:lumMod val="75000"/>
                              </a:schemeClr>
                            </a:solidFill>
                            <a:latin typeface="Cambria Math" panose="02040503050406030204" pitchFamily="18" charset="0"/>
                            <a:ea typeface="Cambria Math" panose="02040503050406030204" pitchFamily="18" charset="0"/>
                          </a:rPr>
                          <m:t>𝒟</m:t>
                        </m:r>
                      </m:e>
                      <m:sub>
                        <m:r>
                          <a:rPr lang="en-US" b="0" i="1" smtClean="0">
                            <a:solidFill>
                              <a:schemeClr val="accent6">
                                <a:lumMod val="75000"/>
                              </a:schemeClr>
                            </a:solidFill>
                            <a:latin typeface="Cambria Math" panose="02040503050406030204" pitchFamily="18" charset="0"/>
                            <a:ea typeface="Cambria Math" panose="02040503050406030204" pitchFamily="18" charset="0"/>
                          </a:rPr>
                          <m:t>𝐾</m:t>
                        </m:r>
                      </m:sub>
                    </m:sSub>
                  </m:oMath>
                </a14:m>
                <a:endParaRPr lang="en-US" dirty="0"/>
              </a:p>
              <a:p>
                <a:pPr>
                  <a:lnSpc>
                    <a:spcPct val="130000"/>
                  </a:lnSpc>
                </a:pPr>
                <a:r>
                  <a:rPr lang="en-US" dirty="0"/>
                  <a:t>Use each one as a validation set once:</a:t>
                </a:r>
              </a:p>
              <a:p>
                <a:pPr marL="2981325" lvl="1" indent="-231775">
                  <a:lnSpc>
                    <a:spcPct val="130000"/>
                  </a:lnSpc>
                </a:pPr>
                <a:r>
                  <a:rPr lang="en-US" sz="2400" dirty="0"/>
                  <a:t>Let </a:t>
                </a:r>
                <a14:m>
                  <m:oMath xmlns:m="http://schemas.openxmlformats.org/officeDocument/2006/math">
                    <m:sSub>
                      <m:sSubPr>
                        <m:ctrlPr>
                          <a:rPr lang="en-US" sz="2400" b="0" i="1" smtClean="0">
                            <a:solidFill>
                              <a:schemeClr val="accent6">
                                <a:lumMod val="75000"/>
                              </a:schemeClr>
                            </a:solidFill>
                            <a:latin typeface="Cambria Math" panose="02040503050406030204" pitchFamily="18" charset="0"/>
                          </a:rPr>
                        </m:ctrlPr>
                      </m:sSubPr>
                      <m:e>
                        <m:r>
                          <a:rPr lang="en-US" sz="2400" b="0" i="1" smtClean="0">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𝑖</m:t>
                        </m:r>
                      </m:sub>
                    </m:sSub>
                  </m:oMath>
                </a14:m>
                <a:r>
                  <a:rPr lang="en-US" sz="2400" dirty="0">
                    <a:solidFill>
                      <a:schemeClr val="accent6">
                        <a:lumMod val="75000"/>
                      </a:schemeClr>
                    </a:solidFill>
                  </a:rPr>
                  <a:t> </a:t>
                </a:r>
                <a:r>
                  <a:rPr lang="en-US" sz="2400" dirty="0"/>
                  <a:t>be the classifier learned using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r>
                      <a:rPr lang="en-US" sz="2400" i="1">
                        <a:solidFill>
                          <a:schemeClr val="accent6">
                            <a:lumMod val="75000"/>
                          </a:schemeClr>
                        </a:solidFill>
                        <a:latin typeface="Cambria Math" panose="02040503050406030204" pitchFamily="18" charset="0"/>
                        <a:ea typeface="Cambria Math" panose="02040503050406030204" pitchFamily="18" charset="0"/>
                      </a:rPr>
                      <m:t>=</m:t>
                    </m:r>
                    <m:r>
                      <a:rPr lang="en-US" sz="2400" i="1">
                        <a:solidFill>
                          <a:schemeClr val="accent6">
                            <a:lumMod val="75000"/>
                          </a:schemeClr>
                        </a:solidFill>
                        <a:latin typeface="Cambria Math" panose="02040503050406030204" pitchFamily="18" charset="0"/>
                        <a:ea typeface="Cambria Math" panose="02040503050406030204" pitchFamily="18" charset="0"/>
                      </a:rPr>
                      <m:t>𝒟</m:t>
                    </m:r>
                    <m:r>
                      <a:rPr lang="en-US" sz="2400" i="1">
                        <a:solidFill>
                          <a:schemeClr val="accent6">
                            <a:lumMod val="75000"/>
                          </a:schemeClr>
                        </a:solidFill>
                        <a:latin typeface="Cambria Math" panose="02040503050406030204" pitchFamily="18" charset="0"/>
                        <a:ea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dirty="0"/>
                  <a:t> (all folds other than </a:t>
                </a:r>
                <a14:m>
                  <m:oMath xmlns:m="http://schemas.openxmlformats.org/officeDocument/2006/math">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oMath>
                </a14:m>
                <a:r>
                  <a:rPr lang="en-US" sz="2400" dirty="0"/>
                  <a:t>) and let </a:t>
                </a:r>
                <a14:m>
                  <m:oMath xmlns:m="http://schemas.openxmlformats.org/officeDocument/2006/math">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𝑒</m:t>
                        </m:r>
                      </m:e>
                      <m:sub>
                        <m:r>
                          <a:rPr lang="en-US" sz="2400" i="1">
                            <a:solidFill>
                              <a:schemeClr val="accent6">
                                <a:lumMod val="75000"/>
                              </a:schemeClr>
                            </a:solidFill>
                            <a:latin typeface="Cambria Math" panose="02040503050406030204" pitchFamily="18" charset="0"/>
                          </a:rPr>
                          <m:t>𝑖</m:t>
                        </m:r>
                      </m:sub>
                    </m:sSub>
                    <m:r>
                      <a:rPr lang="en-US" sz="2400" i="1">
                        <a:solidFill>
                          <a:schemeClr val="accent6">
                            <a:lumMod val="75000"/>
                          </a:schemeClr>
                        </a:solidFill>
                        <a:latin typeface="Cambria Math" panose="02040503050406030204" pitchFamily="18" charset="0"/>
                      </a:rPr>
                      <m:t>=</m:t>
                    </m:r>
                    <m:r>
                      <a:rPr lang="en-US" sz="2400" b="0" i="1" smtClean="0">
                        <a:solidFill>
                          <a:schemeClr val="accent6">
                            <a:lumMod val="75000"/>
                          </a:schemeClr>
                        </a:solidFill>
                        <a:latin typeface="Cambria Math" panose="02040503050406030204" pitchFamily="18" charset="0"/>
                      </a:rPr>
                      <m:t>𝑒𝑟𝑟</m:t>
                    </m:r>
                    <m:d>
                      <m:dPr>
                        <m:ctrlPr>
                          <a:rPr lang="en-US" sz="2400" i="1">
                            <a:solidFill>
                              <a:schemeClr val="accent6">
                                <a:lumMod val="75000"/>
                              </a:schemeClr>
                            </a:solidFill>
                            <a:latin typeface="Cambria Math" panose="02040503050406030204" pitchFamily="18" charset="0"/>
                          </a:rPr>
                        </m:ctrlPr>
                      </m:dPr>
                      <m:e>
                        <m:sSub>
                          <m:sSubPr>
                            <m:ctrlPr>
                              <a:rPr lang="en-US" sz="2400" i="1">
                                <a:solidFill>
                                  <a:schemeClr val="accent6">
                                    <a:lumMod val="75000"/>
                                  </a:schemeClr>
                                </a:solidFill>
                                <a:latin typeface="Cambria Math" panose="02040503050406030204" pitchFamily="18" charset="0"/>
                              </a:rPr>
                            </m:ctrlPr>
                          </m:sSubPr>
                          <m:e>
                            <m:r>
                              <a:rPr lang="en-US" sz="2400" i="1">
                                <a:solidFill>
                                  <a:schemeClr val="accent6">
                                    <a:lumMod val="75000"/>
                                  </a:schemeClr>
                                </a:solidFill>
                                <a:latin typeface="Cambria Math" panose="02040503050406030204" pitchFamily="18" charset="0"/>
                              </a:rPr>
                              <m:t>ℎ</m:t>
                            </m:r>
                          </m:e>
                          <m:sub>
                            <m:r>
                              <a:rPr lang="en-US" sz="2400" b="0" i="1" smtClean="0">
                                <a:solidFill>
                                  <a:schemeClr val="accent6">
                                    <a:lumMod val="75000"/>
                                  </a:schemeClr>
                                </a:solidFill>
                                <a:latin typeface="Cambria Math" panose="02040503050406030204" pitchFamily="18" charset="0"/>
                              </a:rPr>
                              <m:t>−</m:t>
                            </m:r>
                            <m:r>
                              <a:rPr lang="en-US" sz="2400" i="1">
                                <a:solidFill>
                                  <a:schemeClr val="accent6">
                                    <a:lumMod val="75000"/>
                                  </a:schemeClr>
                                </a:solidFill>
                                <a:latin typeface="Cambria Math" panose="02040503050406030204" pitchFamily="18" charset="0"/>
                              </a:rPr>
                              <m:t>𝑖</m:t>
                            </m:r>
                          </m:sub>
                        </m:sSub>
                        <m:r>
                          <a:rPr lang="en-US" sz="2400" b="0" i="1" smtClean="0">
                            <a:solidFill>
                              <a:schemeClr val="accent6">
                                <a:lumMod val="75000"/>
                              </a:schemeClr>
                            </a:solidFill>
                            <a:latin typeface="Cambria Math" panose="02040503050406030204" pitchFamily="18" charset="0"/>
                          </a:rPr>
                          <m:t>,</m:t>
                        </m:r>
                        <m:sSub>
                          <m:sSubPr>
                            <m:ctrlPr>
                              <a:rPr lang="en-US" sz="2400" i="1">
                                <a:solidFill>
                                  <a:schemeClr val="accent6">
                                    <a:lumMod val="75000"/>
                                  </a:schemeClr>
                                </a:solidFill>
                                <a:latin typeface="Cambria Math" panose="02040503050406030204" pitchFamily="18" charset="0"/>
                                <a:ea typeface="Cambria Math" panose="02040503050406030204" pitchFamily="18" charset="0"/>
                              </a:rPr>
                            </m:ctrlPr>
                          </m:sSubPr>
                          <m:e>
                            <m:r>
                              <a:rPr lang="en-US" sz="2400" i="1">
                                <a:solidFill>
                                  <a:schemeClr val="accent6">
                                    <a:lumMod val="75000"/>
                                  </a:schemeClr>
                                </a:solidFill>
                                <a:latin typeface="Cambria Math" panose="02040503050406030204" pitchFamily="18" charset="0"/>
                                <a:ea typeface="Cambria Math" panose="02040503050406030204" pitchFamily="18" charset="0"/>
                              </a:rPr>
                              <m:t>𝒟</m:t>
                            </m:r>
                          </m:e>
                          <m:sub>
                            <m:r>
                              <a:rPr lang="en-US" sz="2400" i="1">
                                <a:solidFill>
                                  <a:schemeClr val="accent6">
                                    <a:lumMod val="75000"/>
                                  </a:schemeClr>
                                </a:solidFill>
                                <a:latin typeface="Cambria Math" panose="02040503050406030204" pitchFamily="18" charset="0"/>
                                <a:ea typeface="Cambria Math" panose="02040503050406030204" pitchFamily="18" charset="0"/>
                              </a:rPr>
                              <m:t>𝑖</m:t>
                            </m:r>
                          </m:sub>
                        </m:sSub>
                      </m:e>
                    </m:d>
                  </m:oMath>
                </a14:m>
                <a:endParaRPr lang="en-US" sz="2400" dirty="0"/>
              </a:p>
              <a:p>
                <a:pPr marL="2981325" lvl="1" indent="-231775">
                  <a:lnSpc>
                    <a:spcPct val="130000"/>
                  </a:lnSpc>
                </a:pPr>
                <a:r>
                  <a:rPr lang="en-US" sz="2400" dirty="0"/>
                  <a:t>The </a:t>
                </a:r>
                <a14:m>
                  <m:oMath xmlns:m="http://schemas.openxmlformats.org/officeDocument/2006/math">
                    <m:r>
                      <a:rPr lang="en-US" sz="240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sz="2400" dirty="0"/>
                  <a:t>-fold cross validation error is</a:t>
                </a:r>
              </a:p>
              <a:p>
                <a:pPr marL="0" indent="0">
                  <a:lnSpc>
                    <a:spcPct val="110000"/>
                  </a:lnSpc>
                  <a:buNone/>
                </a:pPr>
                <a14:m>
                  <m:oMathPara xmlns:m="http://schemas.openxmlformats.org/officeDocument/2006/math">
                    <m:oMath>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                                 </m:t>
                          </m:r>
                          <m:r>
                            <a:rPr lang="en-US" b="0" i="1" smtClean="0">
                              <a:solidFill>
                                <a:schemeClr val="accent6">
                                  <a:lumMod val="75000"/>
                                </a:schemeClr>
                              </a:solidFill>
                              <a:latin typeface="Cambria Math" panose="02040503050406030204" pitchFamily="18" charset="0"/>
                            </a:rPr>
                            <m:t>𝑒𝑟𝑟</m:t>
                          </m:r>
                        </m:e>
                        <m:sub>
                          <m:r>
                            <a:rPr lang="en-US" i="1">
                              <a:solidFill>
                                <a:schemeClr val="accent6">
                                  <a:lumMod val="75000"/>
                                </a:schemeClr>
                              </a:solidFill>
                              <a:latin typeface="Cambria Math" panose="02040503050406030204" pitchFamily="18" charset="0"/>
                            </a:rPr>
                            <m:t>𝑐</m:t>
                          </m:r>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𝑣</m:t>
                              </m:r>
                            </m:e>
                            <m:sub>
                              <m:r>
                                <a:rPr lang="en-US" i="1">
                                  <a:solidFill>
                                    <a:schemeClr val="accent6">
                                      <a:lumMod val="75000"/>
                                    </a:schemeClr>
                                  </a:solidFill>
                                  <a:latin typeface="Cambria Math" panose="02040503050406030204" pitchFamily="18" charset="0"/>
                                </a:rPr>
                                <m:t>𝐾</m:t>
                              </m:r>
                            </m:sub>
                          </m:sSub>
                        </m:sub>
                      </m:sSub>
                      <m:r>
                        <a:rPr lang="en-US" i="1">
                          <a:solidFill>
                            <a:schemeClr val="accent6">
                              <a:lumMod val="75000"/>
                            </a:schemeClr>
                          </a:solidFill>
                          <a:latin typeface="Cambria Math" panose="02040503050406030204" pitchFamily="18" charset="0"/>
                        </a:rPr>
                        <m:t>=</m:t>
                      </m:r>
                      <m:f>
                        <m:fPr>
                          <m:ctrlPr>
                            <a:rPr lang="en-US" i="1">
                              <a:solidFill>
                                <a:schemeClr val="accent6">
                                  <a:lumMod val="75000"/>
                                </a:schemeClr>
                              </a:solidFill>
                              <a:latin typeface="Cambria Math" panose="02040503050406030204" pitchFamily="18" charset="0"/>
                            </a:rPr>
                          </m:ctrlPr>
                        </m:fPr>
                        <m:num>
                          <m:r>
                            <a:rPr lang="en-US" i="1">
                              <a:solidFill>
                                <a:schemeClr val="accent6">
                                  <a:lumMod val="75000"/>
                                </a:schemeClr>
                              </a:solidFill>
                              <a:latin typeface="Cambria Math" panose="02040503050406030204" pitchFamily="18" charset="0"/>
                            </a:rPr>
                            <m:t>1</m:t>
                          </m:r>
                        </m:num>
                        <m:den>
                          <m:r>
                            <a:rPr lang="en-US" i="1">
                              <a:solidFill>
                                <a:schemeClr val="accent6">
                                  <a:lumMod val="75000"/>
                                </a:schemeClr>
                              </a:solidFill>
                              <a:latin typeface="Cambria Math" panose="02040503050406030204" pitchFamily="18" charset="0"/>
                            </a:rPr>
                            <m:t>𝐾</m:t>
                          </m:r>
                        </m:den>
                      </m:f>
                      <m:nary>
                        <m:naryPr>
                          <m:chr m:val="∑"/>
                          <m:ctrlPr>
                            <a:rPr lang="en-US" i="1" smtClean="0">
                              <a:solidFill>
                                <a:schemeClr val="accent6">
                                  <a:lumMod val="75000"/>
                                </a:schemeClr>
                              </a:solidFill>
                              <a:latin typeface="Cambria Math" panose="02040503050406030204" pitchFamily="18" charset="0"/>
                            </a:rPr>
                          </m:ctrlPr>
                        </m:naryPr>
                        <m:sub>
                          <m:r>
                            <m:rPr>
                              <m:brk m:alnAt="23"/>
                            </m:rPr>
                            <a:rPr lang="en-US" i="1" smtClean="0">
                              <a:solidFill>
                                <a:schemeClr val="accent6">
                                  <a:lumMod val="75000"/>
                                </a:schemeClr>
                              </a:solidFill>
                              <a:latin typeface="Cambria Math" panose="02040503050406030204" pitchFamily="18" charset="0"/>
                            </a:rPr>
                            <m:t>𝑖</m:t>
                          </m:r>
                          <m:r>
                            <a:rPr lang="en-US" i="1">
                              <a:solidFill>
                                <a:schemeClr val="accent6">
                                  <a:lumMod val="75000"/>
                                </a:schemeClr>
                              </a:solidFill>
                              <a:latin typeface="Cambria Math" panose="02040503050406030204" pitchFamily="18" charset="0"/>
                            </a:rPr>
                            <m:t>=1</m:t>
                          </m:r>
                        </m:sub>
                        <m:sup>
                          <m:r>
                            <a:rPr lang="en-US" i="1">
                              <a:solidFill>
                                <a:schemeClr val="accent6">
                                  <a:lumMod val="75000"/>
                                </a:schemeClr>
                              </a:solidFill>
                              <a:latin typeface="Cambria Math" panose="02040503050406030204" pitchFamily="18" charset="0"/>
                            </a:rPr>
                            <m:t>𝐾</m:t>
                          </m:r>
                        </m:sup>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𝑒</m:t>
                              </m:r>
                            </m:e>
                            <m:sub>
                              <m:r>
                                <a:rPr lang="en-US" i="1">
                                  <a:solidFill>
                                    <a:schemeClr val="accent6">
                                      <a:lumMod val="75000"/>
                                    </a:schemeClr>
                                  </a:solidFill>
                                  <a:latin typeface="Cambria Math" panose="02040503050406030204" pitchFamily="18" charset="0"/>
                                </a:rPr>
                                <m:t>𝑖</m:t>
                              </m:r>
                            </m:sub>
                          </m:sSub>
                        </m:e>
                      </m:nary>
                    </m:oMath>
                  </m:oMathPara>
                </a14:m>
                <a:endParaRPr lang="en-US" dirty="0"/>
              </a:p>
              <a:p>
                <a:pPr>
                  <a:lnSpc>
                    <a:spcPct val="130000"/>
                  </a:lnSpc>
                </a:pPr>
                <a:r>
                  <a:rPr lang="en-US" dirty="0"/>
                  <a:t>Special case when </a:t>
                </a:r>
                <a14:m>
                  <m:oMath xmlns:m="http://schemas.openxmlformats.org/officeDocument/2006/math">
                    <m:r>
                      <a:rPr lang="en-US" b="0" i="1" smtClean="0">
                        <a:solidFill>
                          <a:schemeClr val="accent6">
                            <a:lumMod val="75000"/>
                          </a:schemeClr>
                        </a:solidFill>
                        <a:latin typeface="Cambria Math" panose="02040503050406030204" pitchFamily="18" charset="0"/>
                        <a:ea typeface="Cambria Math" panose="02040503050406030204" pitchFamily="18" charset="0"/>
                      </a:rPr>
                      <m:t>𝐾</m:t>
                    </m:r>
                    <m:r>
                      <a:rPr lang="en-US" b="0" i="1" smtClean="0">
                        <a:solidFill>
                          <a:schemeClr val="accent6">
                            <a:lumMod val="75000"/>
                          </a:schemeClr>
                        </a:solidFill>
                        <a:latin typeface="Cambria Math" panose="02040503050406030204" pitchFamily="18" charset="0"/>
                        <a:ea typeface="Cambria Math" panose="02040503050406030204" pitchFamily="18" charset="0"/>
                      </a:rPr>
                      <m:t>=</m:t>
                    </m:r>
                    <m:r>
                      <a:rPr lang="en-US" b="0" i="1" smtClean="0">
                        <a:solidFill>
                          <a:schemeClr val="accent6">
                            <a:lumMod val="75000"/>
                          </a:schemeClr>
                        </a:solidFill>
                        <a:latin typeface="Cambria Math" panose="02040503050406030204" pitchFamily="18" charset="0"/>
                        <a:ea typeface="Cambria Math" panose="02040503050406030204" pitchFamily="18" charset="0"/>
                      </a:rPr>
                      <m:t>𝑁</m:t>
                    </m:r>
                  </m:oMath>
                </a14:m>
                <a:r>
                  <a:rPr lang="en-US" dirty="0"/>
                  <a:t>: Leave-one-out cross-validation</a:t>
                </a:r>
              </a:p>
              <a:p>
                <a:pPr>
                  <a:lnSpc>
                    <a:spcPct val="130000"/>
                  </a:lnSpc>
                </a:pPr>
                <a:r>
                  <a:rPr lang="en-US" dirty="0"/>
                  <a:t>Choosing between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𝑚</m:t>
                    </m:r>
                  </m:oMath>
                </a14:m>
                <a:r>
                  <a:rPr lang="en-US" dirty="0"/>
                  <a:t> candidates (e.g., of different hyperparameters) requires training </a:t>
                </a:r>
                <a14:m>
                  <m:oMath xmlns:m="http://schemas.openxmlformats.org/officeDocument/2006/math">
                    <m:r>
                      <a:rPr lang="en-US" i="1" smtClean="0">
                        <a:solidFill>
                          <a:schemeClr val="accent6">
                            <a:lumMod val="75000"/>
                          </a:schemeClr>
                        </a:solidFill>
                        <a:latin typeface="Cambria Math" panose="02040503050406030204" pitchFamily="18" charset="0"/>
                        <a:ea typeface="Cambria Math" panose="02040503050406030204" pitchFamily="18" charset="0"/>
                      </a:rPr>
                      <m:t>𝑚</m:t>
                    </m:r>
                    <m:r>
                      <a:rPr lang="en-US" b="0" i="1" smtClean="0">
                        <a:solidFill>
                          <a:schemeClr val="accent6">
                            <a:lumMod val="75000"/>
                          </a:schemeClr>
                        </a:solidFill>
                        <a:latin typeface="Cambria Math" panose="02040503050406030204" pitchFamily="18" charset="0"/>
                        <a:ea typeface="Cambria Math" panose="02040503050406030204" pitchFamily="18" charset="0"/>
                      </a:rPr>
                      <m:t>𝐾</m:t>
                    </m:r>
                  </m:oMath>
                </a14:m>
                <a:r>
                  <a:rPr lang="en-US" dirty="0"/>
                  <a:t> times</a:t>
                </a:r>
              </a:p>
            </p:txBody>
          </p:sp>
        </mc:Choice>
        <mc:Fallback>
          <p:sp>
            <p:nvSpPr>
              <p:cNvPr id="3" name="Content Placeholder 2">
                <a:extLst>
                  <a:ext uri="{FF2B5EF4-FFF2-40B4-BE49-F238E27FC236}">
                    <a16:creationId xmlns:a16="http://schemas.microsoft.com/office/drawing/2014/main" id="{B6BF2D63-CA0B-614E-8A98-F38BF28B8B67}"/>
                  </a:ext>
                </a:extLst>
              </p:cNvPr>
              <p:cNvSpPr>
                <a:spLocks noGrp="1" noRot="1" noChangeAspect="1" noMove="1" noResize="1" noEditPoints="1" noAdjustHandles="1" noChangeArrowheads="1" noChangeShapeType="1" noTextEdit="1"/>
              </p:cNvSpPr>
              <p:nvPr>
                <p:ph idx="1"/>
              </p:nvPr>
            </p:nvSpPr>
            <p:spPr>
              <a:xfrm>
                <a:off x="3869268" y="864108"/>
                <a:ext cx="7865532" cy="5120640"/>
              </a:xfrm>
              <a:blipFill>
                <a:blip r:embed="rId3"/>
                <a:stretch>
                  <a:fillRect l="-805" t="-13614" r="-966" b="-1658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B2D1829-11D0-8440-9390-BED1336F60BD}"/>
              </a:ext>
            </a:extLst>
          </p:cNvPr>
          <p:cNvSpPr>
            <a:spLocks noGrp="1"/>
          </p:cNvSpPr>
          <p:nvPr>
            <p:ph type="sldNum" sz="quarter" idx="12"/>
          </p:nvPr>
        </p:nvSpPr>
        <p:spPr/>
        <p:txBody>
          <a:bodyPr/>
          <a:lstStyle/>
          <a:p>
            <a:fld id="{4FAB73BC-B049-4115-A692-8D63A059BFB8}" type="slidenum">
              <a:rPr lang="en-US" smtClean="0"/>
              <a:pPr/>
              <a:t>48</a:t>
            </a:fld>
            <a:endParaRPr lang="en-US"/>
          </a:p>
        </p:txBody>
      </p:sp>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1A22DBAE-D417-BA4C-AD5E-D32B4FB543CF}"/>
                  </a:ext>
                </a:extLst>
              </p:cNvPr>
              <p:cNvSpPr txBox="1">
                <a:spLocks/>
              </p:cNvSpPr>
              <p:nvPr/>
            </p:nvSpPr>
            <p:spPr>
              <a:xfrm>
                <a:off x="252919" y="1132980"/>
                <a:ext cx="3080831"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Calibri" panose="020F0502020204030204" pitchFamily="34" charset="0"/>
                    <a:ea typeface="+mj-ea"/>
                    <a:cs typeface="Calibri" panose="020F0502020204030204" pitchFamily="34" charset="0"/>
                  </a:defRPr>
                </a:lvl1pPr>
              </a:lstStyle>
              <a:p>
                <a14:m>
                  <m:oMath xmlns:m="http://schemas.openxmlformats.org/officeDocument/2006/math">
                    <m:r>
                      <a:rPr lang="en-US" i="1" smtClean="0">
                        <a:latin typeface="Cambria Math" panose="02040503050406030204" pitchFamily="18" charset="0"/>
                      </a:rPr>
                      <m:t>𝐾</m:t>
                    </m:r>
                  </m:oMath>
                </a14:m>
                <a:r>
                  <a:rPr lang="en-US"/>
                  <a:t>-fold </a:t>
                </a:r>
                <a:br>
                  <a:rPr lang="en-US"/>
                </a:br>
                <a:r>
                  <a:rPr lang="en-US"/>
                  <a:t>cross-validation</a:t>
                </a:r>
              </a:p>
            </p:txBody>
          </p:sp>
        </mc:Choice>
        <mc:Fallback xmlns="">
          <p:sp>
            <p:nvSpPr>
              <p:cNvPr id="9" name="Title 1">
                <a:extLst>
                  <a:ext uri="{FF2B5EF4-FFF2-40B4-BE49-F238E27FC236}">
                    <a16:creationId xmlns:a16="http://schemas.microsoft.com/office/drawing/2014/main" id="{1A22DBAE-D417-BA4C-AD5E-D32B4FB543CF}"/>
                  </a:ext>
                </a:extLst>
              </p:cNvPr>
              <p:cNvSpPr txBox="1">
                <a:spLocks noRot="1" noChangeAspect="1" noMove="1" noResize="1" noEditPoints="1" noAdjustHandles="1" noChangeArrowheads="1" noChangeShapeType="1" noTextEdit="1"/>
              </p:cNvSpPr>
              <p:nvPr/>
            </p:nvSpPr>
            <p:spPr>
              <a:xfrm>
                <a:off x="252919" y="1132980"/>
                <a:ext cx="3080831" cy="4601183"/>
              </a:xfrm>
              <a:prstGeom prst="rect">
                <a:avLst/>
              </a:prstGeom>
              <a:blipFill>
                <a:blip r:embed="rId4"/>
                <a:stretch>
                  <a:fillRect l="-5738" r="-204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9C80979-96AD-D242-1DB8-ECEBC5F87FC3}"/>
              </a:ext>
            </a:extLst>
          </p:cNvPr>
          <p:cNvSpPr txBox="1"/>
          <p:nvPr/>
        </p:nvSpPr>
        <p:spPr>
          <a:xfrm>
            <a:off x="5306811" y="2450124"/>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1</a:t>
            </a:r>
          </a:p>
        </p:txBody>
      </p:sp>
      <p:sp>
        <p:nvSpPr>
          <p:cNvPr id="7" name="TextBox 6">
            <a:extLst>
              <a:ext uri="{FF2B5EF4-FFF2-40B4-BE49-F238E27FC236}">
                <a16:creationId xmlns:a16="http://schemas.microsoft.com/office/drawing/2014/main" id="{3E3AD8C4-BD9E-3CCF-56ED-4D08E135BFF3}"/>
              </a:ext>
            </a:extLst>
          </p:cNvPr>
          <p:cNvSpPr txBox="1"/>
          <p:nvPr/>
        </p:nvSpPr>
        <p:spPr>
          <a:xfrm>
            <a:off x="5306811" y="3193595"/>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2</a:t>
            </a:r>
          </a:p>
        </p:txBody>
      </p:sp>
      <p:sp>
        <p:nvSpPr>
          <p:cNvPr id="8" name="TextBox 7">
            <a:extLst>
              <a:ext uri="{FF2B5EF4-FFF2-40B4-BE49-F238E27FC236}">
                <a16:creationId xmlns:a16="http://schemas.microsoft.com/office/drawing/2014/main" id="{4FB01661-83CD-0B65-8690-7EEDDE4F57CF}"/>
              </a:ext>
            </a:extLst>
          </p:cNvPr>
          <p:cNvSpPr txBox="1"/>
          <p:nvPr/>
        </p:nvSpPr>
        <p:spPr>
          <a:xfrm>
            <a:off x="5306811" y="3937066"/>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3</a:t>
            </a:r>
          </a:p>
        </p:txBody>
      </p:sp>
      <p:sp>
        <p:nvSpPr>
          <p:cNvPr id="10" name="TextBox 9">
            <a:extLst>
              <a:ext uri="{FF2B5EF4-FFF2-40B4-BE49-F238E27FC236}">
                <a16:creationId xmlns:a16="http://schemas.microsoft.com/office/drawing/2014/main" id="{8CE9AA73-EE49-4E8A-46FD-E7E468AAD68D}"/>
              </a:ext>
            </a:extLst>
          </p:cNvPr>
          <p:cNvSpPr txBox="1"/>
          <p:nvPr/>
        </p:nvSpPr>
        <p:spPr>
          <a:xfrm>
            <a:off x="5305345" y="4680537"/>
            <a:ext cx="1043354" cy="461665"/>
          </a:xfrm>
          <a:prstGeom prst="rect">
            <a:avLst/>
          </a:prstGeom>
          <a:noFill/>
        </p:spPr>
        <p:txBody>
          <a:bodyPr wrap="square" rtlCol="0">
            <a:spAutoFit/>
          </a:bodyPr>
          <a:lstStyle/>
          <a:p>
            <a:r>
              <a:rPr lang="en-US" sz="2400">
                <a:solidFill>
                  <a:schemeClr val="tx1">
                    <a:lumMod val="65000"/>
                    <a:lumOff val="35000"/>
                  </a:schemeClr>
                </a:solidFill>
                <a:latin typeface="Calibri" panose="020F0502020204030204" pitchFamily="34" charset="0"/>
                <a:cs typeface="Calibri" panose="020F0502020204030204" pitchFamily="34" charset="0"/>
              </a:rPr>
              <a:t>Fold 4</a:t>
            </a:r>
          </a:p>
        </p:txBody>
      </p:sp>
      <p:sp>
        <p:nvSpPr>
          <p:cNvPr id="12" name="Right Brace 11">
            <a:extLst>
              <a:ext uri="{FF2B5EF4-FFF2-40B4-BE49-F238E27FC236}">
                <a16:creationId xmlns:a16="http://schemas.microsoft.com/office/drawing/2014/main" id="{AAB30C4F-6485-6FD7-1017-3FE3113C5FED}"/>
              </a:ext>
            </a:extLst>
          </p:cNvPr>
          <p:cNvSpPr/>
          <p:nvPr/>
        </p:nvSpPr>
        <p:spPr>
          <a:xfrm>
            <a:off x="4941930" y="3110254"/>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05607FDB-4EBB-FCA2-7015-ABF12938152D}"/>
              </a:ext>
            </a:extLst>
          </p:cNvPr>
          <p:cNvSpPr/>
          <p:nvPr/>
        </p:nvSpPr>
        <p:spPr>
          <a:xfrm>
            <a:off x="4958862" y="3856445"/>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E06688F0-3AE6-72E4-FE23-BF16B6008F10}"/>
              </a:ext>
            </a:extLst>
          </p:cNvPr>
          <p:cNvSpPr/>
          <p:nvPr/>
        </p:nvSpPr>
        <p:spPr>
          <a:xfrm>
            <a:off x="4941930" y="4597196"/>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C2DA9AD8-F7A7-C356-B6A3-A6E64B9E70A2}"/>
              </a:ext>
            </a:extLst>
          </p:cNvPr>
          <p:cNvSpPr/>
          <p:nvPr/>
        </p:nvSpPr>
        <p:spPr>
          <a:xfrm>
            <a:off x="4941930" y="2366783"/>
            <a:ext cx="346483" cy="628346"/>
          </a:xfrm>
          <a:prstGeom prst="rightBrace">
            <a:avLst>
              <a:gd name="adj1" fmla="val 5779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ectangle 15">
            <a:extLst>
              <a:ext uri="{FF2B5EF4-FFF2-40B4-BE49-F238E27FC236}">
                <a16:creationId xmlns:a16="http://schemas.microsoft.com/office/drawing/2014/main" id="{D9A207B2-39F5-7070-B8EC-6395FEB90FF2}"/>
              </a:ext>
            </a:extLst>
          </p:cNvPr>
          <p:cNvSpPr/>
          <p:nvPr/>
        </p:nvSpPr>
        <p:spPr>
          <a:xfrm>
            <a:off x="3867802" y="2239107"/>
            <a:ext cx="973829" cy="30597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8270836E-5C16-49D5-B266-132ECCF3A4CE}"/>
              </a:ext>
            </a:extLst>
          </p:cNvPr>
          <p:cNvCxnSpPr>
            <a:cxnSpLocks/>
          </p:cNvCxnSpPr>
          <p:nvPr/>
        </p:nvCxnSpPr>
        <p:spPr>
          <a:xfrm>
            <a:off x="3867802" y="3050210"/>
            <a:ext cx="9683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5A103CA-CE35-4B49-31A7-9DD343051ECE}"/>
              </a:ext>
            </a:extLst>
          </p:cNvPr>
          <p:cNvCxnSpPr>
            <a:cxnSpLocks/>
          </p:cNvCxnSpPr>
          <p:nvPr/>
        </p:nvCxnSpPr>
        <p:spPr>
          <a:xfrm>
            <a:off x="3867802" y="3802525"/>
            <a:ext cx="9683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1320DA2-C5FC-0766-2BB0-41A346436667}"/>
              </a:ext>
            </a:extLst>
          </p:cNvPr>
          <p:cNvCxnSpPr>
            <a:cxnSpLocks/>
          </p:cNvCxnSpPr>
          <p:nvPr/>
        </p:nvCxnSpPr>
        <p:spPr>
          <a:xfrm>
            <a:off x="3867802" y="4554836"/>
            <a:ext cx="9691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1886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dissolve">
                                      <p:cBhvr>
                                        <p:cTn id="7" dur="25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9D1C-27EB-149D-8E45-FEAC80ACBC05}"/>
              </a:ext>
            </a:extLst>
          </p:cNvPr>
          <p:cNvSpPr>
            <a:spLocks noGrp="1"/>
          </p:cNvSpPr>
          <p:nvPr>
            <p:ph type="title"/>
          </p:nvPr>
        </p:nvSpPr>
        <p:spPr/>
        <p:txBody>
          <a:bodyPr/>
          <a:lstStyle/>
          <a:p>
            <a:r>
              <a:rPr lang="en-US"/>
              <a:t>Summary</a:t>
            </a:r>
          </a:p>
        </p:txBody>
      </p:sp>
      <p:graphicFrame>
        <p:nvGraphicFramePr>
          <p:cNvPr id="6" name="Table 6">
            <a:extLst>
              <a:ext uri="{FF2B5EF4-FFF2-40B4-BE49-F238E27FC236}">
                <a16:creationId xmlns:a16="http://schemas.microsoft.com/office/drawing/2014/main" id="{BF804EBF-3634-68B0-2586-39A4B6790A47}"/>
              </a:ext>
            </a:extLst>
          </p:cNvPr>
          <p:cNvGraphicFramePr>
            <a:graphicFrameLocks noGrp="1"/>
          </p:cNvGraphicFramePr>
          <p:nvPr>
            <p:ph idx="1"/>
            <p:extLst>
              <p:ext uri="{D42A27DB-BD31-4B8C-83A1-F6EECF244321}">
                <p14:modId xmlns:p14="http://schemas.microsoft.com/office/powerpoint/2010/main" val="3367274949"/>
              </p:ext>
            </p:extLst>
          </p:nvPr>
        </p:nvGraphicFramePr>
        <p:xfrm>
          <a:off x="3647184" y="1092708"/>
          <a:ext cx="7982109" cy="4663440"/>
        </p:xfrm>
        <a:graphic>
          <a:graphicData uri="http://schemas.openxmlformats.org/drawingml/2006/table">
            <a:tbl>
              <a:tblPr firstRow="1" bandRow="1">
                <a:tableStyleId>{5C22544A-7EE6-4342-B048-85BDC9FD1C3A}</a:tableStyleId>
              </a:tblPr>
              <a:tblGrid>
                <a:gridCol w="2321168">
                  <a:extLst>
                    <a:ext uri="{9D8B030D-6E8A-4147-A177-3AD203B41FA5}">
                      <a16:colId xmlns:a16="http://schemas.microsoft.com/office/drawing/2014/main" val="1621893826"/>
                    </a:ext>
                  </a:extLst>
                </a:gridCol>
                <a:gridCol w="2977661">
                  <a:extLst>
                    <a:ext uri="{9D8B030D-6E8A-4147-A177-3AD203B41FA5}">
                      <a16:colId xmlns:a16="http://schemas.microsoft.com/office/drawing/2014/main" val="827601676"/>
                    </a:ext>
                  </a:extLst>
                </a:gridCol>
                <a:gridCol w="2683280">
                  <a:extLst>
                    <a:ext uri="{9D8B030D-6E8A-4147-A177-3AD203B41FA5}">
                      <a16:colId xmlns:a16="http://schemas.microsoft.com/office/drawing/2014/main" val="4040899116"/>
                    </a:ext>
                  </a:extLst>
                </a:gridCol>
              </a:tblGrid>
              <a:tr h="370840">
                <a:tc>
                  <a:txBody>
                    <a:bodyPr/>
                    <a:lstStyle/>
                    <a:p>
                      <a:endParaRPr lang="en-US" sz="2400">
                        <a:latin typeface="Calibri" panose="020F0502020204030204" pitchFamily="34" charset="0"/>
                        <a:cs typeface="Calibri" panose="020F0502020204030204" pitchFamily="34" charset="0"/>
                      </a:endParaRPr>
                    </a:p>
                  </a:txBody>
                  <a:tcPr marT="137160" marB="137160" anchor="ctr"/>
                </a:tc>
                <a:tc>
                  <a:txBody>
                    <a:bodyPr/>
                    <a:lstStyle/>
                    <a:p>
                      <a:pPr algn="ctr"/>
                      <a:r>
                        <a:rPr lang="en-US" sz="2400">
                          <a:latin typeface="Calibri" panose="020F0502020204030204" pitchFamily="34" charset="0"/>
                          <a:cs typeface="Calibri" panose="020F0502020204030204" pitchFamily="34" charset="0"/>
                        </a:rPr>
                        <a:t>Input</a:t>
                      </a:r>
                    </a:p>
                  </a:txBody>
                  <a:tcPr marT="137160" marB="137160" anchor="ctr"/>
                </a:tc>
                <a:tc>
                  <a:txBody>
                    <a:bodyPr/>
                    <a:lstStyle/>
                    <a:p>
                      <a:pPr algn="ctr"/>
                      <a:r>
                        <a:rPr lang="en-US" sz="2400">
                          <a:latin typeface="Calibri" panose="020F0502020204030204" pitchFamily="34" charset="0"/>
                          <a:cs typeface="Calibri" panose="020F0502020204030204" pitchFamily="34" charset="0"/>
                        </a:rPr>
                        <a:t>Output</a:t>
                      </a:r>
                    </a:p>
                  </a:txBody>
                  <a:tcPr marT="137160" marB="137160" anchor="ctr"/>
                </a:tc>
                <a:extLst>
                  <a:ext uri="{0D108BD9-81ED-4DB2-BD59-A6C34878D82A}">
                    <a16:rowId xmlns:a16="http://schemas.microsoft.com/office/drawing/2014/main" val="3383516528"/>
                  </a:ext>
                </a:extLst>
              </a:tr>
              <a:tr h="370840">
                <a:tc>
                  <a:txBody>
                    <a:bodyPr/>
                    <a:lstStyle/>
                    <a:p>
                      <a:r>
                        <a:rPr lang="en-US" sz="2400">
                          <a:latin typeface="Calibri" panose="020F0502020204030204" pitchFamily="34" charset="0"/>
                          <a:cs typeface="Calibri" panose="020F0502020204030204" pitchFamily="34" charset="0"/>
                        </a:rPr>
                        <a:t>Training</a:t>
                      </a:r>
                    </a:p>
                  </a:txBody>
                  <a:tcPr marT="137160" marB="137160" anchor="ct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training dataset </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hyperparameters</a:t>
                      </a:r>
                    </a:p>
                  </a:txBody>
                  <a:tcPr marT="137160" marB="137160" anchor="ct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best model parameters</a:t>
                      </a:r>
                    </a:p>
                  </a:txBody>
                  <a:tcPr marT="137160" marB="137160" anchor="ctr"/>
                </a:tc>
                <a:extLst>
                  <a:ext uri="{0D108BD9-81ED-4DB2-BD59-A6C34878D82A}">
                    <a16:rowId xmlns:a16="http://schemas.microsoft.com/office/drawing/2014/main" val="1128919962"/>
                  </a:ext>
                </a:extLst>
              </a:tr>
              <a:tr h="370840">
                <a:tc>
                  <a:txBody>
                    <a:bodyPr/>
                    <a:lstStyle/>
                    <a:p>
                      <a:r>
                        <a:rPr lang="en-US" sz="2400">
                          <a:latin typeface="Calibri" panose="020F0502020204030204" pitchFamily="34" charset="0"/>
                          <a:cs typeface="Calibri" panose="020F0502020204030204" pitchFamily="34" charset="0"/>
                        </a:rPr>
                        <a:t>Hyperparameter Optimization</a:t>
                      </a:r>
                    </a:p>
                  </a:txBody>
                  <a:tcPr marT="137160" marB="137160" anchor="ct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training dataset </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validation dataset</a:t>
                      </a:r>
                    </a:p>
                  </a:txBody>
                  <a:tcPr marT="137160" marB="137160" anchor="ct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best hyperparameters </a:t>
                      </a:r>
                    </a:p>
                  </a:txBody>
                  <a:tcPr marT="137160" marB="137160" anchor="ctr"/>
                </a:tc>
                <a:extLst>
                  <a:ext uri="{0D108BD9-81ED-4DB2-BD59-A6C34878D82A}">
                    <a16:rowId xmlns:a16="http://schemas.microsoft.com/office/drawing/2014/main" val="4109127163"/>
                  </a:ext>
                </a:extLst>
              </a:tr>
              <a:tr h="370840">
                <a:tc>
                  <a:txBody>
                    <a:bodyPr/>
                    <a:lstStyle/>
                    <a:p>
                      <a:r>
                        <a:rPr lang="en-US" sz="2400">
                          <a:latin typeface="Calibri" panose="020F0502020204030204" pitchFamily="34" charset="0"/>
                          <a:cs typeface="Calibri" panose="020F0502020204030204" pitchFamily="34" charset="0"/>
                        </a:rPr>
                        <a:t>Cross-Validation</a:t>
                      </a:r>
                    </a:p>
                  </a:txBody>
                  <a:tcPr marT="137160" marB="137160" anchor="ct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training dataset</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validation dataset</a:t>
                      </a:r>
                    </a:p>
                  </a:txBody>
                  <a:tcPr marT="137160" marB="137160" anchor="ct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cross-validation error</a:t>
                      </a:r>
                    </a:p>
                  </a:txBody>
                  <a:tcPr marT="137160" marB="137160" anchor="ctr"/>
                </a:tc>
                <a:extLst>
                  <a:ext uri="{0D108BD9-81ED-4DB2-BD59-A6C34878D82A}">
                    <a16:rowId xmlns:a16="http://schemas.microsoft.com/office/drawing/2014/main" val="2315811908"/>
                  </a:ext>
                </a:extLst>
              </a:tr>
              <a:tr h="370840">
                <a:tc>
                  <a:txBody>
                    <a:bodyPr/>
                    <a:lstStyle/>
                    <a:p>
                      <a:r>
                        <a:rPr lang="en-US" sz="2400">
                          <a:latin typeface="Calibri" panose="020F0502020204030204" pitchFamily="34" charset="0"/>
                          <a:cs typeface="Calibri" panose="020F0502020204030204" pitchFamily="34" charset="0"/>
                        </a:rPr>
                        <a:t>Testing</a:t>
                      </a:r>
                    </a:p>
                  </a:txBody>
                  <a:tcPr marT="137160" marB="137160" anchor="ct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test dataset</a:t>
                      </a:r>
                    </a:p>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classifier</a:t>
                      </a:r>
                    </a:p>
                  </a:txBody>
                  <a:tcPr marT="137160" marB="137160" anchor="ctr"/>
                </a:tc>
                <a:tc>
                  <a:txBody>
                    <a:bodyPr/>
                    <a:lstStyle/>
                    <a:p>
                      <a:pPr marL="285750" indent="-285750">
                        <a:buFont typeface="Arial" panose="020B0604020202020204" pitchFamily="34" charset="0"/>
                        <a:buChar char="•"/>
                      </a:pPr>
                      <a:r>
                        <a:rPr lang="en-US" sz="2400">
                          <a:latin typeface="Calibri" panose="020F0502020204030204" pitchFamily="34" charset="0"/>
                          <a:cs typeface="Calibri" panose="020F0502020204030204" pitchFamily="34" charset="0"/>
                        </a:rPr>
                        <a:t>test error</a:t>
                      </a:r>
                    </a:p>
                  </a:txBody>
                  <a:tcPr marT="137160" marB="137160" anchor="ctr"/>
                </a:tc>
                <a:extLst>
                  <a:ext uri="{0D108BD9-81ED-4DB2-BD59-A6C34878D82A}">
                    <a16:rowId xmlns:a16="http://schemas.microsoft.com/office/drawing/2014/main" val="2861115390"/>
                  </a:ext>
                </a:extLst>
              </a:tr>
            </a:tbl>
          </a:graphicData>
        </a:graphic>
      </p:graphicFrame>
      <p:sp>
        <p:nvSpPr>
          <p:cNvPr id="5" name="Slide Number Placeholder 4">
            <a:extLst>
              <a:ext uri="{FF2B5EF4-FFF2-40B4-BE49-F238E27FC236}">
                <a16:creationId xmlns:a16="http://schemas.microsoft.com/office/drawing/2014/main" id="{BB1BBA88-4B1D-CB13-670C-21DD01F64C5D}"/>
              </a:ext>
            </a:extLst>
          </p:cNvPr>
          <p:cNvSpPr>
            <a:spLocks noGrp="1"/>
          </p:cNvSpPr>
          <p:nvPr>
            <p:ph type="sldNum" sz="quarter" idx="12"/>
          </p:nvPr>
        </p:nvSpPr>
        <p:spPr/>
        <p:txBody>
          <a:bodyPr/>
          <a:lstStyle/>
          <a:p>
            <a:fld id="{4FAB73BC-B049-4115-A692-8D63A059BFB8}" type="slidenum">
              <a:rPr lang="en-US" smtClean="0"/>
              <a:pPr/>
              <a:t>49</a:t>
            </a:fld>
            <a:endParaRPr lang="en-US"/>
          </a:p>
        </p:txBody>
      </p:sp>
    </p:spTree>
    <p:extLst>
      <p:ext uri="{BB962C8B-B14F-4D97-AF65-F5344CB8AC3E}">
        <p14:creationId xmlns:p14="http://schemas.microsoft.com/office/powerpoint/2010/main" val="40028824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1AA663-B6F0-D7E2-3B51-16E2DE4A1726}"/>
              </a:ext>
            </a:extLst>
          </p:cNvPr>
          <p:cNvSpPr>
            <a:spLocks noGrp="1"/>
          </p:cNvSpPr>
          <p:nvPr>
            <p:ph idx="1"/>
          </p:nvPr>
        </p:nvSpPr>
        <p:spPr/>
        <p:txBody>
          <a:bodyPr/>
          <a:lstStyle/>
          <a:p>
            <a:r>
              <a:rPr lang="en-US" altLang="zh-CN" dirty="0"/>
              <a:t>The</a:t>
            </a:r>
            <a:r>
              <a:rPr lang="zh-CN" altLang="en-US" dirty="0"/>
              <a:t> </a:t>
            </a:r>
            <a:r>
              <a:rPr lang="en-US" altLang="zh-CN" dirty="0"/>
              <a:t>slides</a:t>
            </a:r>
            <a:r>
              <a:rPr lang="zh-CN" altLang="en-US" dirty="0"/>
              <a:t> </a:t>
            </a:r>
            <a:r>
              <a:rPr lang="en-US" altLang="zh-CN" dirty="0"/>
              <a:t>are</a:t>
            </a:r>
            <a:r>
              <a:rPr lang="zh-CN" altLang="en-US" dirty="0"/>
              <a:t> </a:t>
            </a:r>
            <a:r>
              <a:rPr lang="en-US" altLang="zh-CN" dirty="0"/>
              <a:t>adapted</a:t>
            </a:r>
            <a:r>
              <a:rPr lang="zh-CN" altLang="en-US" dirty="0"/>
              <a:t> </a:t>
            </a:r>
            <a:r>
              <a:rPr lang="en-US" altLang="zh-CN" dirty="0"/>
              <a:t>based</a:t>
            </a:r>
            <a:r>
              <a:rPr lang="zh-CN" altLang="en-US" dirty="0"/>
              <a:t> </a:t>
            </a:r>
            <a:r>
              <a:rPr lang="en-US" altLang="zh-CN" dirty="0"/>
              <a:t>on</a:t>
            </a:r>
            <a:r>
              <a:rPr lang="zh-CN" altLang="en-US" dirty="0"/>
              <a:t> </a:t>
            </a:r>
            <a:r>
              <a:rPr lang="en-US" altLang="zh-CN" dirty="0"/>
              <a:t>materials</a:t>
            </a:r>
            <a:r>
              <a:rPr lang="zh-CN" altLang="en-US" dirty="0"/>
              <a:t> </a:t>
            </a:r>
            <a:r>
              <a:rPr lang="en-US" altLang="zh-CN" dirty="0"/>
              <a:t>shared</a:t>
            </a:r>
            <a:r>
              <a:rPr lang="zh-CN" altLang="en-US" dirty="0"/>
              <a:t> </a:t>
            </a:r>
            <a:r>
              <a:rPr lang="en-US" altLang="zh-CN" dirty="0"/>
              <a:t>by</a:t>
            </a:r>
            <a:r>
              <a:rPr lang="zh-CN" altLang="en-US" dirty="0"/>
              <a:t> </a:t>
            </a:r>
            <a:r>
              <a:rPr lang="en-US" altLang="zh-CN" dirty="0"/>
              <a:t>Prof.</a:t>
            </a:r>
            <a:r>
              <a:rPr lang="zh-CN" altLang="en-US" dirty="0"/>
              <a:t> </a:t>
            </a:r>
            <a:r>
              <a:rPr lang="en-US" altLang="zh-CN" dirty="0"/>
              <a:t>Henry</a:t>
            </a:r>
            <a:r>
              <a:rPr lang="zh-CN" altLang="en-US" dirty="0"/>
              <a:t> </a:t>
            </a:r>
            <a:r>
              <a:rPr lang="en-US" altLang="zh-CN" dirty="0"/>
              <a:t>Chai</a:t>
            </a:r>
            <a:r>
              <a:rPr lang="zh-CN" altLang="en-US" dirty="0"/>
              <a:t> </a:t>
            </a:r>
            <a:r>
              <a:rPr lang="en-US" altLang="zh-CN" dirty="0"/>
              <a:t>from</a:t>
            </a:r>
            <a:r>
              <a:rPr lang="zh-CN" altLang="en-US" dirty="0"/>
              <a:t> </a:t>
            </a:r>
            <a:r>
              <a:rPr lang="en-US" altLang="zh-CN" dirty="0"/>
              <a:t>CMU.</a:t>
            </a:r>
            <a:r>
              <a:rPr lang="zh-CN" altLang="en-US" dirty="0"/>
              <a:t> </a:t>
            </a:r>
            <a:endParaRPr lang="en-US" dirty="0"/>
          </a:p>
        </p:txBody>
      </p:sp>
      <p:sp>
        <p:nvSpPr>
          <p:cNvPr id="4" name="Slide Number Placeholder 3">
            <a:extLst>
              <a:ext uri="{FF2B5EF4-FFF2-40B4-BE49-F238E27FC236}">
                <a16:creationId xmlns:a16="http://schemas.microsoft.com/office/drawing/2014/main" id="{A16BA6AA-EDC2-CBA0-DD34-2AE7B9CE32C2}"/>
              </a:ext>
            </a:extLst>
          </p:cNvPr>
          <p:cNvSpPr>
            <a:spLocks noGrp="1"/>
          </p:cNvSpPr>
          <p:nvPr>
            <p:ph type="sldNum" sz="quarter" idx="12"/>
          </p:nvPr>
        </p:nvSpPr>
        <p:spPr/>
        <p:txBody>
          <a:bodyPr/>
          <a:lstStyle/>
          <a:p>
            <a:fld id="{4FAB73BC-B049-4115-A692-8D63A059BFB8}" type="slidenum">
              <a:rPr lang="en-US" smtClean="0"/>
              <a:pPr/>
              <a:t>50</a:t>
            </a:fld>
            <a:endParaRPr lang="en-US"/>
          </a:p>
        </p:txBody>
      </p:sp>
    </p:spTree>
    <p:extLst>
      <p:ext uri="{BB962C8B-B14F-4D97-AF65-F5344CB8AC3E}">
        <p14:creationId xmlns:p14="http://schemas.microsoft.com/office/powerpoint/2010/main" val="2425468840"/>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4640</TotalTime>
  <Words>3457</Words>
  <Application>Microsoft Macintosh PowerPoint</Application>
  <PresentationFormat>Widescreen</PresentationFormat>
  <Paragraphs>484</Paragraphs>
  <Slides>50</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Cambria Math</vt:lpstr>
      <vt:lpstr>Times New Roman</vt:lpstr>
      <vt:lpstr>Wingdings 2</vt:lpstr>
      <vt:lpstr>Frame</vt:lpstr>
      <vt:lpstr>  Lecture 3 –KNNs </vt:lpstr>
      <vt:lpstr>Real-valued Features</vt:lpstr>
      <vt:lpstr>Fisher Iris Dataset</vt:lpstr>
      <vt:lpstr>Fisher Iris Dataset</vt:lpstr>
      <vt:lpstr>Fisher Iris Dataset</vt:lpstr>
      <vt:lpstr>Decision Tree on Fisher Iris Dataset</vt:lpstr>
      <vt:lpstr>The Duck Test</vt:lpstr>
      <vt:lpstr>The Duck Test for Machine Learning</vt:lpstr>
      <vt:lpstr>Nearest Neighbor Model</vt:lpstr>
      <vt:lpstr>PowerPoint Presentation</vt:lpstr>
      <vt:lpstr>PowerPoint Presentation</vt:lpstr>
      <vt:lpstr>PowerPoint Presentation</vt:lpstr>
      <vt:lpstr>The Nearest Neighbor Model</vt:lpstr>
      <vt:lpstr>Bayes Optimal Classifier</vt:lpstr>
      <vt:lpstr>Generalization of Nearest Neighbor (Cover and Hart, 1967)</vt:lpstr>
      <vt:lpstr>Generalization of Nearest Neighbor (Cover and Hart, 1967)</vt:lpstr>
      <vt:lpstr>Generalization of Nearest Neighbor (Cover and Hart, 1967)</vt:lpstr>
      <vt:lpstr>But why limit ourselves to just one neighbor?</vt:lpstr>
      <vt:lpstr>k-Nearest Neighbors (kNN)</vt:lpstr>
      <vt:lpstr>kNN on Fisher Iris Data</vt:lpstr>
      <vt:lpstr>kNN on Fisher Iris Data</vt:lpstr>
      <vt:lpstr>PowerPoint Presentation</vt:lpstr>
      <vt:lpstr>PowerPoint Presentation</vt:lpstr>
      <vt:lpstr>kNN on Fisher Iris Data</vt:lpstr>
      <vt:lpstr>kNN on Fisher Iris Data</vt:lpstr>
      <vt:lpstr>kNN on Fisher Iris Data</vt:lpstr>
      <vt:lpstr>kNN on Fisher Iris Data</vt:lpstr>
      <vt:lpstr>kNN on Fisher Iris Data</vt:lpstr>
      <vt:lpstr>kNN on Fisher Iris Data</vt:lpstr>
      <vt:lpstr>kNN on Fisher Iris Data</vt:lpstr>
      <vt:lpstr>Aside: kNN and Categorical Features</vt:lpstr>
      <vt:lpstr>kNN:  Inductive Bias</vt:lpstr>
      <vt:lpstr>Setting k</vt:lpstr>
      <vt:lpstr>Setting k</vt:lpstr>
      <vt:lpstr>Model Selection</vt:lpstr>
      <vt:lpstr>Model Selection</vt:lpstr>
      <vt:lpstr>Model Selection  with  Test Sets</vt:lpstr>
      <vt:lpstr>Model Selection  with  Test Sets?</vt:lpstr>
      <vt:lpstr>Model Selection  with  Validation Sets</vt:lpstr>
      <vt:lpstr>Hyperparameter Optimization with  Validation Sets</vt:lpstr>
      <vt:lpstr>Setting k  for kNN  with  Validation Sets</vt:lpstr>
      <vt:lpstr>How should we partition our dataset?</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417T: Introduction to Machine Learning  Lecture 17: Boosting</dc:title>
  <dc:creator>Chai, Henry</dc:creator>
  <cp:lastModifiedBy>Suya, FNU</cp:lastModifiedBy>
  <cp:revision>46</cp:revision>
  <cp:lastPrinted>2022-09-09T15:24:34Z</cp:lastPrinted>
  <dcterms:created xsi:type="dcterms:W3CDTF">2018-10-30T15:16:05Z</dcterms:created>
  <dcterms:modified xsi:type="dcterms:W3CDTF">2026-08-27T03:03:58Z</dcterms:modified>
</cp:coreProperties>
</file>