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10A9-6101-DEA5-6762-E514D761A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D8C5E-6B2C-AD38-F365-EAF14A5FF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DAAAF-5CF8-5ADA-4BF0-34B9D0BA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D4DF4-DB7E-BFD4-32CD-FA8E9D5B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B80E2-ADB9-BCCA-203F-27DF58BB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D98D-D900-C15E-4D55-4B25890E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762C1-11A5-BB27-7CD5-AC5BD5FC4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396B6-F094-992B-8636-E62127AA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8276-7A2C-5999-C44A-8A9EE176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F1C53-7B7B-DAC6-06CF-D03D11C4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0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37C7-C30E-A126-18BC-20317DC2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147B1-EDBE-B88F-A43C-B7740FD98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37BBC-3C68-0CD9-1899-9B1E640F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59ED8-5958-D4DC-D85C-0A98B74E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62CCE-BAB6-0CE7-5450-748B038D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5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6BA4-39C2-7A02-5651-D621E598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F2DA8-B36F-8549-2155-BCB67D1A1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362FC-B38F-6E58-C535-CC2A749E3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13D7A-6DE6-8FE7-5031-641A22D2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23772-7939-8E53-CEFE-52FA7A9F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40C43-BADD-B378-2446-15F71BBB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4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B85E-B3DA-3A20-69AA-693A30F1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61EEF-F278-D49C-4F17-0742AF3E9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B89D5-E150-BB40-F14E-23F5F687D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F08F5-3B24-81B4-DA3D-E3C5A2EFD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C8E25-B7B4-BC2E-90D6-C76FBF47F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95F2ED-0913-B1A8-D0C6-ADA3C190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169AF-0654-1D6F-24FD-9EA0B2A5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4F52D-A84D-5BEE-9E4F-E1652E6B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0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C549-5126-A8AE-8995-62FD51CC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78D48-C5E6-8C6F-F71D-49A36E15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F7316-CFE9-3990-E358-07389A6D4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B09F5-738E-CC0C-426D-F1A5E7C9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1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20F26-5364-489E-E3C7-9AA0169B4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FFFD4-4736-4465-BE6D-6F919288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53680-9426-F305-78BF-556AA1A3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0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36BE-1143-D9D0-0B17-EA2B5272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ED6F0-16B4-16D1-404C-7B4073C66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5F825-CDBD-8BF4-C393-C706E3998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6A28E-F5DB-119D-6FE4-55B21CE0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762A7-1024-F104-32E7-212DF75E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1B665-CAD3-7B36-DB26-CD91C444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8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7C2E-F003-D204-3AFE-C9CD2834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8762F-C707-5605-91ED-693D1F47B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8BF28-6017-CF6B-8220-D6E8A7C3A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41BD1-8D15-936B-FC78-8B37C9E4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9AB42-18E3-0F03-EBAC-1AFF2CD6D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FD4AE-0DEE-69DC-B09E-3207EDAB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4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F398-EC84-E4C9-E86D-F3B7B0537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B57AC-5B6C-2175-0BA4-AD551C150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1651-0A5A-7072-766B-68111D93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6EF19-B72D-4A25-E10E-F6E77B8B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50C82-2166-D7CB-2C4A-CFFF6288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0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7B8DA-05FF-9C7B-CC4F-3EE70F00E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25D3F-1BBF-C0AB-B2CA-0AE4FC13E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8149E-188B-2D02-A4A0-D3F13B1F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57ECF-F60B-43BE-E06B-AFC3F559F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AE074-3050-938C-652A-466277B4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6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881731-F09A-C3E5-4C16-5CDD992B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6D104-3DA5-CD35-22B7-5737A7A56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44D9-B75A-6D99-CF12-AFC0AD6D1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ADB9D-8FF4-4698-B45D-220B667D48D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10D5B-686D-E040-1E53-E612AEBC9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5A236-4EFE-D95D-FCE4-49FDD4D61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D2C8D-FA72-4EFE-9EA2-8AEC57152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66F1E-A1CE-AAB9-B3D8-B2FB3EBAA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Who Survives a Fatal Crash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3B95D-B989-2236-648F-CA11B96E7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COSC522</a:t>
            </a:r>
          </a:p>
          <a:p>
            <a:r>
              <a:rPr lang="en-US" dirty="0"/>
              <a:t>Track 2</a:t>
            </a:r>
          </a:p>
          <a:p>
            <a:r>
              <a:rPr lang="en-US" dirty="0"/>
              <a:t>Team: R. Tyson Beach, </a:t>
            </a:r>
          </a:p>
        </p:txBody>
      </p:sp>
    </p:spTree>
    <p:extLst>
      <p:ext uri="{BB962C8B-B14F-4D97-AF65-F5344CB8AC3E}">
        <p14:creationId xmlns:p14="http://schemas.microsoft.com/office/powerpoint/2010/main" val="1088549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398C-E145-954A-90D5-2ED45139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ECA6-38E2-3C50-ACDE-222F47CFD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FARS is a census of fatal motor motor-vehicle crashes, not a sample of all crashes.</a:t>
            </a:r>
          </a:p>
          <a:p>
            <a:pPr lvl="1"/>
            <a:r>
              <a:rPr lang="en-US" dirty="0"/>
              <a:t>We can ask if occupant count, vehicle, and impact factors predict a fatality</a:t>
            </a:r>
          </a:p>
          <a:p>
            <a:pPr lvl="1"/>
            <a:r>
              <a:rPr lang="en-US" dirty="0"/>
              <a:t>We cannot ask if a crash will occur, or if a type of crash may be fatal</a:t>
            </a:r>
          </a:p>
          <a:p>
            <a:r>
              <a:rPr lang="en-US" dirty="0"/>
              <a:t>Our prediction task: if a fatal crash occurs, predict whether an occupant may survive.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07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EB46-9909-FD58-1836-20D3E562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D8FB2-6C14-C8D9-9C9C-443128B4B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FARS is organized into 3 core pieces</a:t>
            </a:r>
          </a:p>
          <a:p>
            <a:pPr lvl="1"/>
            <a:r>
              <a:rPr lang="en-US" dirty="0"/>
              <a:t>Crash Table: (per incident) one row [date/time, weather, road type, …  ]</a:t>
            </a:r>
          </a:p>
          <a:p>
            <a:pPr lvl="1"/>
            <a:r>
              <a:rPr lang="en-US" dirty="0"/>
              <a:t>Vehicle Table: (per incident) one row [body type, model, speeding, … ]</a:t>
            </a:r>
          </a:p>
          <a:p>
            <a:pPr lvl="1"/>
            <a:r>
              <a:rPr lang="en-US" dirty="0"/>
              <a:t>Person Table: (per incident) one row [age, sex, seating position, … ]</a:t>
            </a:r>
          </a:p>
          <a:p>
            <a:r>
              <a:rPr lang="en-US" dirty="0"/>
              <a:t>We would create data set formed primarily around the ‘Person Table’ with relevant ‘Crash’ and ‘Vehicle’ data. </a:t>
            </a:r>
          </a:p>
          <a:p>
            <a:r>
              <a:rPr lang="en-US" dirty="0"/>
              <a:t>Years 2016-2023</a:t>
            </a:r>
          </a:p>
        </p:txBody>
      </p:sp>
    </p:spTree>
    <p:extLst>
      <p:ext uri="{BB962C8B-B14F-4D97-AF65-F5344CB8AC3E}">
        <p14:creationId xmlns:p14="http://schemas.microsoft.com/office/powerpoint/2010/main" val="116718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13AC-1FC7-5E82-58E6-31C25B54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45E73-CDC2-6162-76B9-2F642D0D6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 protective factors from crash consequences</a:t>
            </a:r>
          </a:p>
          <a:p>
            <a:r>
              <a:rPr lang="en-US" dirty="0"/>
              <a:t>Model 1</a:t>
            </a:r>
          </a:p>
          <a:p>
            <a:pPr lvl="1"/>
            <a:r>
              <a:rPr lang="en-US" dirty="0"/>
              <a:t>Pre-Crash and Design features</a:t>
            </a:r>
          </a:p>
          <a:p>
            <a:pPr lvl="2"/>
            <a:r>
              <a:rPr lang="en-US" dirty="0"/>
              <a:t>Restraint use, seating position, vehicle body, impact config, …</a:t>
            </a:r>
          </a:p>
          <a:p>
            <a:r>
              <a:rPr lang="en-US" dirty="0"/>
              <a:t>Model 2</a:t>
            </a:r>
          </a:p>
          <a:p>
            <a:pPr lvl="1"/>
            <a:r>
              <a:rPr lang="en-US" dirty="0"/>
              <a:t>Model 1 + </a:t>
            </a:r>
          </a:p>
          <a:p>
            <a:pPr lvl="2"/>
            <a:r>
              <a:rPr lang="en-US" dirty="0"/>
              <a:t>Ejection, fire occurrence, extent of vehicle damage, …</a:t>
            </a:r>
          </a:p>
          <a:p>
            <a:r>
              <a:rPr lang="en-US" dirty="0"/>
              <a:t>We will compare the two models to quantify how much predictive performance comes from downstream consequence information.</a:t>
            </a:r>
          </a:p>
        </p:txBody>
      </p:sp>
    </p:spTree>
    <p:extLst>
      <p:ext uri="{BB962C8B-B14F-4D97-AF65-F5344CB8AC3E}">
        <p14:creationId xmlns:p14="http://schemas.microsoft.com/office/powerpoint/2010/main" val="301107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A23C-0A94-306C-DDD3-67033E5A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60816-C18F-B46C-46ED-21ED7BEF7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Prepare data (clean, label, … )</a:t>
            </a:r>
          </a:p>
          <a:p>
            <a:r>
              <a:rPr lang="en-US" dirty="0"/>
              <a:t>2. Baseline (logistic regression)</a:t>
            </a:r>
          </a:p>
          <a:p>
            <a:r>
              <a:rPr lang="en-US" dirty="0"/>
              <a:t>3. Main models (</a:t>
            </a:r>
            <a:r>
              <a:rPr lang="en-US" dirty="0" err="1"/>
              <a:t>XGBoost</a:t>
            </a:r>
            <a:r>
              <a:rPr lang="en-US" dirty="0"/>
              <a:t> or </a:t>
            </a:r>
            <a:r>
              <a:rPr lang="en-US" dirty="0" err="1"/>
              <a:t>LightGBM</a:t>
            </a:r>
            <a:r>
              <a:rPr lang="en-US" dirty="0"/>
              <a:t>)</a:t>
            </a:r>
          </a:p>
          <a:p>
            <a:r>
              <a:rPr lang="en-US" dirty="0"/>
              <a:t>4. Comparison (Random forest if useful)</a:t>
            </a:r>
          </a:p>
          <a:p>
            <a:r>
              <a:rPr lang="en-US" dirty="0"/>
              <a:t>5. Interpret (SHAP feature attribution)</a:t>
            </a:r>
          </a:p>
        </p:txBody>
      </p:sp>
    </p:spTree>
    <p:extLst>
      <p:ext uri="{BB962C8B-B14F-4D97-AF65-F5344CB8AC3E}">
        <p14:creationId xmlns:p14="http://schemas.microsoft.com/office/powerpoint/2010/main" val="221408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45FF-467C-1D85-73B1-B5C404025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2EAE1-5E18-D5B2-3667-58047A025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1</a:t>
            </a:r>
          </a:p>
          <a:p>
            <a:pPr lvl="1"/>
            <a:r>
              <a:rPr lang="en-US" dirty="0"/>
              <a:t>Train on one set of states</a:t>
            </a:r>
          </a:p>
          <a:p>
            <a:pPr lvl="1"/>
            <a:r>
              <a:rPr lang="en-US" dirty="0"/>
              <a:t>Test on a non-intersecting set of states</a:t>
            </a:r>
          </a:p>
          <a:p>
            <a:r>
              <a:rPr lang="en-US" dirty="0"/>
              <a:t>Experiment 2</a:t>
            </a:r>
          </a:p>
          <a:p>
            <a:pPr lvl="1"/>
            <a:r>
              <a:rPr lang="en-US" dirty="0"/>
              <a:t>Train on earlier years</a:t>
            </a:r>
          </a:p>
          <a:p>
            <a:pPr lvl="1"/>
            <a:r>
              <a:rPr lang="en-US" dirty="0"/>
              <a:t>Test on later years</a:t>
            </a:r>
          </a:p>
          <a:p>
            <a:pPr lvl="2"/>
            <a:r>
              <a:rPr lang="en-US" dirty="0"/>
              <a:t>Societal factors could play a part on this like increased phone usage while driving.</a:t>
            </a:r>
          </a:p>
        </p:txBody>
      </p:sp>
    </p:spTree>
    <p:extLst>
      <p:ext uri="{BB962C8B-B14F-4D97-AF65-F5344CB8AC3E}">
        <p14:creationId xmlns:p14="http://schemas.microsoft.com/office/powerpoint/2010/main" val="25397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0F51-1BAA-50E3-972B-1C9E34846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this project adds something new (this needs to be better)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C3B9F-D277-F731-3D90-EBB80811C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  <a:p>
            <a:pPr lvl="1"/>
            <a:r>
              <a:rPr lang="en-US" dirty="0"/>
              <a:t>Explanatory, often factor specific</a:t>
            </a:r>
          </a:p>
          <a:p>
            <a:pPr lvl="1"/>
            <a:r>
              <a:rPr lang="en-US" dirty="0"/>
              <a:t>Broader crash populations</a:t>
            </a:r>
          </a:p>
          <a:p>
            <a:pPr lvl="1"/>
            <a:r>
              <a:rPr lang="en-US" dirty="0"/>
              <a:t>Cross-jurisdiction in other settings</a:t>
            </a:r>
          </a:p>
          <a:p>
            <a:r>
              <a:rPr lang="en-US" dirty="0"/>
              <a:t>Our proposed angle</a:t>
            </a:r>
          </a:p>
          <a:p>
            <a:pPr lvl="1"/>
            <a:r>
              <a:rPr lang="en-US" dirty="0"/>
              <a:t>Occupant survival within fatal crashes</a:t>
            </a:r>
          </a:p>
          <a:p>
            <a:pPr lvl="1"/>
            <a:r>
              <a:rPr lang="en-US" dirty="0"/>
              <a:t>Pre-crash vs. consequence-feature comparison</a:t>
            </a:r>
          </a:p>
          <a:p>
            <a:pPr lvl="1"/>
            <a:r>
              <a:rPr lang="en-US" dirty="0"/>
              <a:t>Geographic and temporal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363997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B936-6B51-297E-603F-21FA3E57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84C9A-2AE6-1859-3750-337BAAB38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() hmmm</a:t>
            </a:r>
          </a:p>
        </p:txBody>
      </p:sp>
    </p:spTree>
    <p:extLst>
      <p:ext uri="{BB962C8B-B14F-4D97-AF65-F5344CB8AC3E}">
        <p14:creationId xmlns:p14="http://schemas.microsoft.com/office/powerpoint/2010/main" val="34406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372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Who Survives a Fatal Crash</vt:lpstr>
      <vt:lpstr>Problem</vt:lpstr>
      <vt:lpstr>Data</vt:lpstr>
      <vt:lpstr>Prediction Design</vt:lpstr>
      <vt:lpstr>Modeling Plan</vt:lpstr>
      <vt:lpstr>Generalization</vt:lpstr>
      <vt:lpstr>Where this project adds something new (this needs to be better)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Tyson Beach</dc:creator>
  <cp:lastModifiedBy>Tyson Beach</cp:lastModifiedBy>
  <cp:revision>1</cp:revision>
  <dcterms:created xsi:type="dcterms:W3CDTF">2026-09-14T23:46:57Z</dcterms:created>
  <dcterms:modified xsi:type="dcterms:W3CDTF">2026-09-15T03:34:05Z</dcterms:modified>
</cp:coreProperties>
</file>