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TK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9672"/>
            <a:ext cx="11155680" cy="0"/>
          </a:xfrm>
          <a:prstGeom prst="line">
            <a:avLst/>
          </a:prstGeom>
          <a:noFill/>
          <a:ln w="7620">
            <a:solidFill>
              <a:srgbClr val="E2E2E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56539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COSC 522  |  Machine Learning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458200" y="6565392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Tennessee, Knoxville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5624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5624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09160" cy="6858000"/>
          </a:xfrm>
          <a:prstGeom prst="rect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" y="384048"/>
            <a:ext cx="10972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5216" y="384048"/>
            <a:ext cx="109728" cy="109728"/>
          </a:xfrm>
          <a:prstGeom prst="rect">
            <a:avLst/>
          </a:prstGeom>
          <a:solidFill>
            <a:srgbClr val="FF8200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384048"/>
            <a:ext cx="10972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2336" y="566928"/>
            <a:ext cx="109728" cy="109728"/>
          </a:xfrm>
          <a:prstGeom prst="rect">
            <a:avLst/>
          </a:prstGeom>
          <a:solidFill>
            <a:srgbClr val="FF8200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" y="566928"/>
            <a:ext cx="10972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096" y="566928"/>
            <a:ext cx="109728" cy="109728"/>
          </a:xfrm>
          <a:prstGeom prst="rect">
            <a:avLst/>
          </a:prstGeom>
          <a:solidFill>
            <a:srgbClr val="FF8200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2336" y="749808"/>
            <a:ext cx="10972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216" y="749808"/>
            <a:ext cx="109728" cy="109728"/>
          </a:xfrm>
          <a:prstGeom prst="rect">
            <a:avLst/>
          </a:prstGeom>
          <a:solidFill>
            <a:srgbClr val="FF8200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8096" y="749808"/>
            <a:ext cx="10972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91440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9326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 APPLICATION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" y="1417320"/>
            <a:ext cx="3611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Survives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Fatal Crash?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58368" y="3081528"/>
            <a:ext cx="34930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Predicting occupant survival within fatal crashes using FARS, 2016–2023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58368" y="4233672"/>
            <a:ext cx="914400" cy="0"/>
          </a:xfrm>
          <a:prstGeom prst="line">
            <a:avLst/>
          </a:prstGeom>
          <a:noFill/>
          <a:ln w="3048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44165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COSC 522  •  Machine Learning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8368" y="476402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Tennessee, Knoxville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0" y="8229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0" y="1170432"/>
            <a:ext cx="5669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a crash severe enough to kill someone, what predicts whether a particular occupant survives?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5486400" y="3840480"/>
            <a:ext cx="5394960" cy="841248"/>
          </a:xfrm>
          <a:prstGeom prst="line">
            <a:avLst/>
          </a:prstGeom>
          <a:noFill/>
          <a:ln w="330200">
            <a:solidFill>
              <a:srgbClr val="D8D8D8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5486400" y="3840480"/>
            <a:ext cx="5394960" cy="841248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44768" y="3794760"/>
            <a:ext cx="777240" cy="292608"/>
          </a:xfrm>
          <a:prstGeom prst="roundRect">
            <a:avLst>
              <a:gd name="adj" fmla="val 15625"/>
            </a:avLst>
          </a:prstGeom>
          <a:solidFill>
            <a:srgbClr val="4B4B4B"/>
          </a:solidFill>
          <a:ln w="12700">
            <a:solidFill>
              <a:srgbClr val="4B4B4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81928" y="3639312"/>
            <a:ext cx="457200" cy="228600"/>
          </a:xfrm>
          <a:prstGeom prst="trapezoid">
            <a:avLst/>
          </a:prstGeom>
          <a:solidFill>
            <a:srgbClr val="4B4B4B"/>
          </a:solidFill>
          <a:ln w="12700">
            <a:solidFill>
              <a:srgbClr val="4B4B4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36208" y="4005072"/>
            <a:ext cx="164592" cy="16459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4B4B4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75120" y="4005072"/>
            <a:ext cx="164592" cy="16459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4B4B4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308592" y="4288536"/>
            <a:ext cx="777240" cy="292608"/>
          </a:xfrm>
          <a:prstGeom prst="roundRect">
            <a:avLst>
              <a:gd name="adj" fmla="val 15625"/>
            </a:avLst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445752" y="4133088"/>
            <a:ext cx="457200" cy="228600"/>
          </a:xfrm>
          <a:prstGeom prst="trapezoid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400032" y="4498848"/>
            <a:ext cx="164592" cy="16459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FF82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838944" y="4498848"/>
            <a:ext cx="164592" cy="16459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FF82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967167" y="4736592"/>
            <a:ext cx="181051" cy="181051"/>
          </a:xfrm>
          <a:prstGeom prst="ellipse">
            <a:avLst/>
          </a:prstGeom>
          <a:solidFill>
            <a:srgbClr val="4B4B4B"/>
          </a:solidFill>
          <a:ln w="12700">
            <a:solidFill>
              <a:srgbClr val="4B4B4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27264" y="4934102"/>
            <a:ext cx="460858" cy="427939"/>
          </a:xfrm>
          <a:prstGeom prst="roundRect">
            <a:avLst>
              <a:gd name="adj" fmla="val 10684"/>
            </a:avLst>
          </a:prstGeom>
          <a:solidFill>
            <a:srgbClr val="4B4B4B"/>
          </a:solidFill>
          <a:ln w="12700">
            <a:solidFill>
              <a:srgbClr val="4B4B4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30768" y="5001768"/>
            <a:ext cx="1051560" cy="0"/>
          </a:xfrm>
          <a:prstGeom prst="line">
            <a:avLst/>
          </a:prstGeom>
          <a:noFill/>
          <a:ln w="30480">
            <a:solidFill>
              <a:srgbClr val="FF8200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564624" y="4709160"/>
            <a:ext cx="1225296" cy="621792"/>
          </a:xfrm>
          <a:prstGeom prst="roundRect">
            <a:avLst>
              <a:gd name="adj" fmla="val 13235"/>
            </a:avLst>
          </a:prstGeom>
          <a:solidFill>
            <a:srgbClr val="F5F5F5"/>
          </a:solidFill>
          <a:ln w="10160">
            <a:solidFill>
              <a:srgbClr val="E2E2E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56064" y="4837176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DIED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86400" y="61996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proposal deck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3832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FF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FRAMING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key constraint: FARS is selected on the outcome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115568"/>
            <a:ext cx="932688" cy="0"/>
          </a:xfrm>
          <a:prstGeom prst="line">
            <a:avLst/>
          </a:prstGeom>
          <a:noFill/>
          <a:ln w="40640">
            <a:solidFill>
              <a:srgbClr val="FF82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371600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FARS is a census of fatal motor-vehicle crashes — not a sample of all crashes.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85800" y="2148840"/>
            <a:ext cx="2743200" cy="777240"/>
          </a:xfrm>
          <a:prstGeom prst="roundRect">
            <a:avLst>
              <a:gd name="adj" fmla="val 10588"/>
            </a:avLst>
          </a:prstGeom>
          <a:solidFill>
            <a:srgbClr val="F5F5F5"/>
          </a:solidFill>
          <a:ln w="10160">
            <a:solidFill>
              <a:srgbClr val="E4E4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235000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MOTOR-VEHICLE CRASHES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057400" y="2953512"/>
            <a:ext cx="0" cy="41148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69264" y="3346704"/>
            <a:ext cx="2176272" cy="859536"/>
          </a:xfrm>
          <a:prstGeom prst="roundRect">
            <a:avLst>
              <a:gd name="adj" fmla="val 9574"/>
            </a:avLst>
          </a:prstGeom>
          <a:solidFill>
            <a:srgbClr val="FF8200"/>
          </a:solidFill>
          <a:ln w="10160">
            <a:solidFill>
              <a:srgbClr val="FF82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3557016"/>
            <a:ext cx="17739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FATAL CRASHES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FARS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057400" y="4288536"/>
            <a:ext cx="0" cy="41148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234440" y="4672584"/>
            <a:ext cx="1645920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9050">
            <a:solidFill>
              <a:srgbClr val="FF82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81328" y="4882896"/>
            <a:ext cx="116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OCCUPANT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977640" y="1975104"/>
            <a:ext cx="3438144" cy="1316736"/>
          </a:xfrm>
          <a:prstGeom prst="roundRect">
            <a:avLst>
              <a:gd name="adj" fmla="val 6250"/>
            </a:avLst>
          </a:prstGeom>
          <a:solidFill>
            <a:srgbClr val="FAFAFA"/>
          </a:solidFill>
          <a:ln w="10160">
            <a:solidFill>
              <a:srgbClr val="E4E4E4"/>
            </a:solidFill>
            <a:prstDash val="solid"/>
          </a:ln>
          <a:effectLst>
            <a:outerShdw sx="100000" sy="100000" kx="0" ky="0" algn="bl" rotWithShape="0" blurRad="19050" dist="8890" dir="27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24528" y="2194560"/>
            <a:ext cx="969264" cy="310896"/>
          </a:xfrm>
          <a:prstGeom prst="roundRect">
            <a:avLst>
              <a:gd name="adj" fmla="val 23529"/>
            </a:avLst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24528" y="2212848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ASK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224528" y="2633472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occupant-level, vehicle, and crash factors predict survival within fatal crashes?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80960" y="1975104"/>
            <a:ext cx="3438144" cy="1316736"/>
          </a:xfrm>
          <a:prstGeom prst="roundRect">
            <a:avLst>
              <a:gd name="adj" fmla="val 6250"/>
            </a:avLst>
          </a:prstGeom>
          <a:solidFill>
            <a:srgbClr val="FAFAFA"/>
          </a:solidFill>
          <a:ln w="10160">
            <a:solidFill>
              <a:srgbClr val="E4E4E4"/>
            </a:solidFill>
            <a:prstDash val="solid"/>
          </a:ln>
          <a:effectLst>
            <a:outerShdw sx="100000" sy="100000" kx="0" ky="0" algn="bl" rotWithShape="0" blurRad="241935000" dist="112903000" dir="162000000000">
              <a:srgbClr val="000000">
                <a:alpha val="140000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927848" y="2194560"/>
            <a:ext cx="1207008" cy="310896"/>
          </a:xfrm>
          <a:prstGeom prst="roundRect">
            <a:avLst>
              <a:gd name="adj" fmla="val 23529"/>
            </a:avLst>
          </a:prstGeom>
          <a:solidFill>
            <a:srgbClr val="4B4B4B"/>
          </a:solidFill>
          <a:ln w="12700">
            <a:solidFill>
              <a:srgbClr val="4B4B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27848" y="221284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ASK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927848" y="2633472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 a crash will occur, or whether an arbitrary crash will become fatal.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977640" y="3712464"/>
            <a:ext cx="7141464" cy="1517904"/>
          </a:xfrm>
          <a:prstGeom prst="roundRect">
            <a:avLst>
              <a:gd name="adj" fmla="val 5422"/>
            </a:avLst>
          </a:prstGeom>
          <a:solidFill>
            <a:srgbClr val="FFFFFF"/>
          </a:solidFill>
          <a:ln w="10160">
            <a:solidFill>
              <a:srgbClr val="E4E4E4"/>
            </a:solidFill>
            <a:prstDash val="solid"/>
          </a:ln>
          <a:effectLst>
            <a:outerShdw sx="100000" sy="100000" kx="0" ky="0" algn="bl" rotWithShape="0" blurRad="3072574500000" dist="1433868100000" dir="9720000000000000">
              <a:srgbClr val="000000">
                <a:alpha val="14000000000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242816" y="39776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prediction task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242816" y="4343400"/>
            <a:ext cx="6364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on a fatal crash having occurred, predict whether an individual motor-vehicle occupant survives.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566928" y="6245352"/>
            <a:ext cx="7772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C7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framing: project proposal; FARS inclusion criteria are defined by NHTSA.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5624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3832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FF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crash records to an occupant-level dataset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115568"/>
            <a:ext cx="932688" cy="0"/>
          </a:xfrm>
          <a:prstGeom prst="line">
            <a:avLst/>
          </a:prstGeom>
          <a:noFill/>
          <a:ln w="40640">
            <a:solidFill>
              <a:srgbClr val="FF82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344168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FARS is organized as linked crash-, vehicle-, and person-level tables.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13232" y="1874520"/>
            <a:ext cx="2743200" cy="2880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E1E1E1"/>
            </a:solidFill>
            <a:prstDash val="solid"/>
          </a:ln>
          <a:effectLst>
            <a:outerShdw sx="100000" sy="100000" kx="0" ky="0" algn="bl" rotWithShape="0" blurRad="39021696150000000" dist="18210124870000000" dir="583200000000000000000">
              <a:srgbClr val="000000">
                <a:alpha val="1400000000000000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1874520"/>
            <a:ext cx="2743200" cy="530352"/>
          </a:xfrm>
          <a:prstGeom prst="rect">
            <a:avLst/>
          </a:prstGeom>
          <a:solidFill>
            <a:srgbClr val="4B4B4B"/>
          </a:solidFill>
          <a:ln w="12700">
            <a:solidFill>
              <a:srgbClr val="4B4B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201168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77824" y="249631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row per crash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96112" y="2962656"/>
            <a:ext cx="73152" cy="73152"/>
          </a:xfrm>
          <a:prstGeom prst="ellipse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416" y="2871216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/ time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96112" y="3355848"/>
            <a:ext cx="73152" cy="73152"/>
          </a:xfrm>
          <a:prstGeom prst="ellipse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2416" y="326440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&amp; light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96112" y="3749040"/>
            <a:ext cx="73152" cy="73152"/>
          </a:xfrm>
          <a:prstGeom prst="ellipse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2416" y="36576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 type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96112" y="4142232"/>
            <a:ext cx="73152" cy="73152"/>
          </a:xfrm>
          <a:prstGeom prst="ellipse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2416" y="405079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manner of collision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566160" y="3172968"/>
            <a:ext cx="1005840" cy="0"/>
          </a:xfrm>
          <a:prstGeom prst="line">
            <a:avLst/>
          </a:prstGeom>
          <a:noFill/>
          <a:ln w="31750">
            <a:solidFill>
              <a:srgbClr val="FF8200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105656" y="1874520"/>
            <a:ext cx="2743200" cy="2880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E1E1E1"/>
            </a:solidFill>
            <a:prstDash val="solid"/>
          </a:ln>
          <a:effectLst>
            <a:outerShdw sx="100000" sy="100000" kx="0" ky="0" algn="bl" rotWithShape="0" blurRad="495575541105000000000" dist="231268585849000000000" dir="3.4992e+25">
              <a:srgbClr val="000000">
                <a:alpha val="1.4e+24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05656" y="1874520"/>
            <a:ext cx="2743200" cy="530352"/>
          </a:xfrm>
          <a:prstGeom prst="rect">
            <a:avLst/>
          </a:prstGeom>
          <a:solidFill>
            <a:srgbClr val="4B4B4B"/>
          </a:solidFill>
          <a:ln w="12700">
            <a:solidFill>
              <a:srgbClr val="4B4B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70248" y="201168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270248" y="249631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row per vehicle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288536" y="2962656"/>
            <a:ext cx="73152" cy="73152"/>
          </a:xfrm>
          <a:prstGeom prst="ellipse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34840" y="2871216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type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4288536" y="3355848"/>
            <a:ext cx="73152" cy="73152"/>
          </a:xfrm>
          <a:prstGeom prst="ellipse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34840" y="326440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year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4288536" y="3749040"/>
            <a:ext cx="73152" cy="73152"/>
          </a:xfrm>
          <a:prstGeom prst="ellipse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34840" y="36576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maneuver / speed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4288536" y="4142232"/>
            <a:ext cx="73152" cy="73152"/>
          </a:xfrm>
          <a:prstGeom prst="ellipse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34840" y="405079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&amp; damage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958584" y="3172968"/>
            <a:ext cx="1005840" cy="0"/>
          </a:xfrm>
          <a:prstGeom prst="line">
            <a:avLst/>
          </a:prstGeom>
          <a:noFill/>
          <a:ln w="31750">
            <a:solidFill>
              <a:srgbClr val="FF8200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498080" y="1874520"/>
            <a:ext cx="2743200" cy="2880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E1E1E1"/>
            </a:solidFill>
            <a:prstDash val="solid"/>
          </a:ln>
          <a:effectLst>
            <a:outerShdw sx="100000" sy="100000" kx="0" ky="0" algn="bl" rotWithShape="0" blurRad="6.2938093720335e+24" dist="2.9371110402823e+24" dir="2.09952e+30">
              <a:srgbClr val="000000">
                <a:alpha val="1.4000000000000002e+29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498080" y="1874520"/>
            <a:ext cx="2743200" cy="530352"/>
          </a:xfrm>
          <a:prstGeom prst="rect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62672" y="201168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662672" y="249631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row per person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7680960" y="2962656"/>
            <a:ext cx="73152" cy="73152"/>
          </a:xfrm>
          <a:prstGeom prst="ellipse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27264" y="2871216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/ sex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7680960" y="3355848"/>
            <a:ext cx="73152" cy="73152"/>
          </a:xfrm>
          <a:prstGeom prst="ellipse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27264" y="326440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 position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7680960" y="3749040"/>
            <a:ext cx="73152" cy="73152"/>
          </a:xfrm>
          <a:prstGeom prst="ellipse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27264" y="36576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restraint / airbag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7680960" y="4142232"/>
            <a:ext cx="73152" cy="73152"/>
          </a:xfrm>
          <a:prstGeom prst="ellipse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827264" y="405079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injury outcome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713232" y="5056632"/>
            <a:ext cx="9528048" cy="82296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0160">
            <a:solidFill>
              <a:srgbClr val="E1E1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41832" y="524865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OF ANALYSIS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941832" y="55046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motor-vehicle occupant</a:t>
            </a:r>
            <a:endParaRPr lang="en-US" sz="1520" dirty="0"/>
          </a:p>
        </p:txBody>
      </p:sp>
      <p:sp>
        <p:nvSpPr>
          <p:cNvPr id="47" name="Text 45"/>
          <p:cNvSpPr/>
          <p:nvPr/>
        </p:nvSpPr>
        <p:spPr>
          <a:xfrm>
            <a:off x="4407408" y="524865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407408" y="55046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2016–2023</a:t>
            </a:r>
            <a:endParaRPr lang="en-US" sz="1520" dirty="0"/>
          </a:p>
        </p:txBody>
      </p:sp>
      <p:sp>
        <p:nvSpPr>
          <p:cNvPr id="49" name="Text 47"/>
          <p:cNvSpPr/>
          <p:nvPr/>
        </p:nvSpPr>
        <p:spPr>
          <a:xfrm>
            <a:off x="6062472" y="524865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EXCLUSIONS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062472" y="5486400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9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Non-motorists • unknown injury severity • deaths coded as pre-crash</a:t>
            </a:r>
            <a:endParaRPr lang="en-US" sz="1190" dirty="0"/>
          </a:p>
        </p:txBody>
      </p:sp>
      <p:sp>
        <p:nvSpPr>
          <p:cNvPr id="51" name="Text 49"/>
          <p:cNvSpPr/>
          <p:nvPr/>
        </p:nvSpPr>
        <p:spPr>
          <a:xfrm>
            <a:off x="566928" y="6245352"/>
            <a:ext cx="7772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C7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scope and feature examples are taken from the project proposal.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5624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3832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FF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DESIGN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protective factors from crash consequences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115568"/>
            <a:ext cx="932688" cy="0"/>
          </a:xfrm>
          <a:prstGeom prst="line">
            <a:avLst/>
          </a:prstGeom>
          <a:noFill/>
          <a:ln w="40640">
            <a:solidFill>
              <a:srgbClr val="FF82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27448" y="1581912"/>
            <a:ext cx="2706624" cy="987552"/>
          </a:xfrm>
          <a:prstGeom prst="roundRect">
            <a:avLst>
              <a:gd name="adj" fmla="val 8333"/>
            </a:avLst>
          </a:prstGeom>
          <a:solidFill>
            <a:srgbClr val="4B4B4B"/>
          </a:solidFill>
          <a:ln w="10160">
            <a:solidFill>
              <a:srgbClr val="4B4B4B"/>
            </a:solidFill>
            <a:prstDash val="solid"/>
          </a:ln>
          <a:effectLst>
            <a:outerShdw sx="100000" sy="100000" kx="0" ky="0" algn="bl" rotWithShape="0" blurRad="7.993137902482545e+28" dist="3.730131021158521e+28" dir="1.259712e+35">
              <a:srgbClr val="000000">
                <a:alpha val="1.4000000000000003e+34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974336" y="1773936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TARGET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74336" y="2075688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SURVIVED  vs  DIED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67512" y="2331720"/>
            <a:ext cx="3657600" cy="2816352"/>
          </a:xfrm>
          <a:prstGeom prst="roundRect">
            <a:avLst>
              <a:gd name="adj" fmla="val 2922"/>
            </a:avLst>
          </a:prstGeom>
          <a:solidFill>
            <a:srgbClr val="FFFFFF"/>
          </a:solidFill>
          <a:ln w="10160">
            <a:solidFill>
              <a:srgbClr val="E1E1E1"/>
            </a:solidFill>
            <a:prstDash val="solid"/>
          </a:ln>
          <a:effectLst>
            <a:outerShdw sx="100000" sy="100000" kx="0" ky="0" algn="bl" rotWithShape="0" blurRad="1.0151285136152831e+33" dist="4.737266396871322e+32" dir="7.558272e+39">
              <a:srgbClr val="000000">
                <a:alpha val="1.4000000000000003e+39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2578608"/>
            <a:ext cx="841248" cy="310896"/>
          </a:xfrm>
          <a:prstGeom prst="roundRect">
            <a:avLst>
              <a:gd name="adj" fmla="val 23529"/>
            </a:avLst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59689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14400" y="29718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Pre-crash &amp; design features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932688" y="3493008"/>
            <a:ext cx="64008" cy="64008"/>
          </a:xfrm>
          <a:prstGeom prst="ellipse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3401568"/>
            <a:ext cx="2816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9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restraint use / airbag</a:t>
            </a:r>
            <a:endParaRPr lang="en-US" sz="1290" dirty="0"/>
          </a:p>
        </p:txBody>
      </p:sp>
      <p:sp>
        <p:nvSpPr>
          <p:cNvPr id="14" name="Shape 12"/>
          <p:cNvSpPr/>
          <p:nvPr/>
        </p:nvSpPr>
        <p:spPr>
          <a:xfrm>
            <a:off x="932688" y="3767328"/>
            <a:ext cx="64008" cy="64008"/>
          </a:xfrm>
          <a:prstGeom prst="ellipse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992" y="3675888"/>
            <a:ext cx="2816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9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seating position / age / sex</a:t>
            </a:r>
            <a:endParaRPr lang="en-US" sz="1290" dirty="0"/>
          </a:p>
        </p:txBody>
      </p:sp>
      <p:sp>
        <p:nvSpPr>
          <p:cNvPr id="16" name="Shape 14"/>
          <p:cNvSpPr/>
          <p:nvPr/>
        </p:nvSpPr>
        <p:spPr>
          <a:xfrm>
            <a:off x="932688" y="4041648"/>
            <a:ext cx="64008" cy="64008"/>
          </a:xfrm>
          <a:prstGeom prst="ellipse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8992" y="3950208"/>
            <a:ext cx="2816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9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body type / model year</a:t>
            </a:r>
            <a:endParaRPr lang="en-US" sz="1290" dirty="0"/>
          </a:p>
        </p:txBody>
      </p:sp>
      <p:sp>
        <p:nvSpPr>
          <p:cNvPr id="18" name="Shape 16"/>
          <p:cNvSpPr/>
          <p:nvPr/>
        </p:nvSpPr>
        <p:spPr>
          <a:xfrm>
            <a:off x="932688" y="4315968"/>
            <a:ext cx="64008" cy="64008"/>
          </a:xfrm>
          <a:prstGeom prst="ellipse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8992" y="4224528"/>
            <a:ext cx="2816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9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configuration</a:t>
            </a:r>
            <a:endParaRPr lang="en-US" sz="1290" dirty="0"/>
          </a:p>
        </p:txBody>
      </p:sp>
      <p:sp>
        <p:nvSpPr>
          <p:cNvPr id="20" name="Shape 18"/>
          <p:cNvSpPr/>
          <p:nvPr/>
        </p:nvSpPr>
        <p:spPr>
          <a:xfrm>
            <a:off x="932688" y="4590288"/>
            <a:ext cx="64008" cy="64008"/>
          </a:xfrm>
          <a:prstGeom prst="ellipse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8992" y="4498848"/>
            <a:ext cx="2816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9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/ light / roadway</a:t>
            </a:r>
            <a:endParaRPr lang="en-US" sz="1290" dirty="0"/>
          </a:p>
        </p:txBody>
      </p:sp>
      <p:sp>
        <p:nvSpPr>
          <p:cNvPr id="22" name="Shape 20"/>
          <p:cNvSpPr/>
          <p:nvPr/>
        </p:nvSpPr>
        <p:spPr>
          <a:xfrm>
            <a:off x="932688" y="4864608"/>
            <a:ext cx="64008" cy="64008"/>
          </a:xfrm>
          <a:prstGeom prst="ellipse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4773168"/>
            <a:ext cx="2816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9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speeding involvement</a:t>
            </a:r>
            <a:endParaRPr lang="en-US" sz="1290" dirty="0"/>
          </a:p>
        </p:txBody>
      </p:sp>
      <p:sp>
        <p:nvSpPr>
          <p:cNvPr id="24" name="Shape 22"/>
          <p:cNvSpPr/>
          <p:nvPr/>
        </p:nvSpPr>
        <p:spPr>
          <a:xfrm>
            <a:off x="7836408" y="2331720"/>
            <a:ext cx="3657600" cy="2816352"/>
          </a:xfrm>
          <a:prstGeom prst="roundRect">
            <a:avLst>
              <a:gd name="adj" fmla="val 2922"/>
            </a:avLst>
          </a:prstGeom>
          <a:solidFill>
            <a:srgbClr val="F5F5F5"/>
          </a:solidFill>
          <a:ln w="10160">
            <a:solidFill>
              <a:srgbClr val="E1E1E1"/>
            </a:solidFill>
            <a:prstDash val="solid"/>
          </a:ln>
          <a:effectLst>
            <a:outerShdw sx="100000" sy="100000" kx="0" ky="0" algn="bl" rotWithShape="0" blurRad="1.2892132122914095e+37" dist="6.016328324026578e+36" dir="4.5349632000000006e+44">
              <a:srgbClr val="000000">
                <a:alpha val="1.4000000000000002e+44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83296" y="2578608"/>
            <a:ext cx="841248" cy="310896"/>
          </a:xfrm>
          <a:prstGeom prst="roundRect">
            <a:avLst>
              <a:gd name="adj" fmla="val 23529"/>
            </a:avLst>
          </a:prstGeom>
          <a:solidFill>
            <a:srgbClr val="4B4B4B"/>
          </a:solidFill>
          <a:ln w="12700">
            <a:solidFill>
              <a:srgbClr val="4B4B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83296" y="259689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2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083296" y="29718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Expanded feature set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8083296" y="341071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Includes Model 1 plus: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101584" y="3840480"/>
            <a:ext cx="64008" cy="64008"/>
          </a:xfrm>
          <a:prstGeom prst="ellipse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47888" y="374904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ejection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101584" y="4215384"/>
            <a:ext cx="64008" cy="64008"/>
          </a:xfrm>
          <a:prstGeom prst="ellipse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47888" y="412394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occurrence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101584" y="4590288"/>
            <a:ext cx="64008" cy="64008"/>
          </a:xfrm>
          <a:prstGeom prst="ellipse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47888" y="449884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extent of vehicle damage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334256" y="3712464"/>
            <a:ext cx="365760" cy="-713232"/>
          </a:xfrm>
          <a:prstGeom prst="line">
            <a:avLst/>
          </a:prstGeom>
          <a:noFill/>
          <a:ln w="30480">
            <a:solidFill>
              <a:srgbClr val="FF8200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799832" y="3712464"/>
            <a:ext cx="-365760" cy="-713232"/>
          </a:xfrm>
          <a:prstGeom prst="line">
            <a:avLst/>
          </a:prstGeom>
          <a:noFill/>
          <a:ln w="30480">
            <a:solidFill>
              <a:srgbClr val="FF8200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2542032" y="5440680"/>
            <a:ext cx="7114032" cy="566928"/>
          </a:xfrm>
          <a:prstGeom prst="roundRect">
            <a:avLst>
              <a:gd name="adj" fmla="val 14516"/>
            </a:avLst>
          </a:prstGeom>
          <a:solidFill>
            <a:srgbClr val="FF8200"/>
          </a:solidFill>
          <a:ln w="10160">
            <a:solidFill>
              <a:srgbClr val="FF82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16352" y="555955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the two models to quantify how much predictive performance comes from downstream crash-consequence information.</a:t>
            </a:r>
            <a:endParaRPr lang="en-US" sz="1370" dirty="0"/>
          </a:p>
        </p:txBody>
      </p:sp>
      <p:sp>
        <p:nvSpPr>
          <p:cNvPr id="39" name="Text 37"/>
          <p:cNvSpPr/>
          <p:nvPr/>
        </p:nvSpPr>
        <p:spPr>
          <a:xfrm>
            <a:off x="566928" y="6245352"/>
            <a:ext cx="7772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C7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blocks follow the distinction in the project proposal between pre-crash/design variables and downstream consequences.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5624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3832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FF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MODELING PLAN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simple baseline, stronger nonlinear models, and interpretable outputs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115568"/>
            <a:ext cx="932688" cy="0"/>
          </a:xfrm>
          <a:prstGeom prst="line">
            <a:avLst/>
          </a:prstGeom>
          <a:noFill/>
          <a:ln w="40640">
            <a:solidFill>
              <a:srgbClr val="FF82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27632"/>
            <a:ext cx="2121408" cy="197510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0160">
            <a:solidFill>
              <a:srgbClr val="E1E1E1"/>
            </a:solidFill>
            <a:prstDash val="solid"/>
          </a:ln>
          <a:effectLst>
            <a:outerShdw sx="100000" sy="100000" kx="0" ky="0" algn="bl" rotWithShape="0" blurRad="1.6373007796100902e+41" dist="7.640736971513754e+40" dir="2.72097792e+49">
              <a:srgbClr val="000000">
                <a:alpha val="1.4000000000000002e+49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1837944"/>
            <a:ext cx="384048" cy="384048"/>
          </a:xfrm>
          <a:prstGeom prst="ellipse">
            <a:avLst/>
          </a:prstGeom>
          <a:solidFill>
            <a:srgbClr val="4B4B4B"/>
          </a:solidFill>
          <a:ln w="12700">
            <a:solidFill>
              <a:srgbClr val="4B4B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90195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" y="2414016"/>
            <a:ext cx="17922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data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2807208"/>
            <a:ext cx="17922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7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clean, encode, define label</a:t>
            </a:r>
            <a:endParaRPr lang="en-US" sz="1270" dirty="0"/>
          </a:p>
        </p:txBody>
      </p:sp>
      <p:sp>
        <p:nvSpPr>
          <p:cNvPr id="10" name="Shape 8"/>
          <p:cNvSpPr/>
          <p:nvPr/>
        </p:nvSpPr>
        <p:spPr>
          <a:xfrm>
            <a:off x="2807208" y="2624328"/>
            <a:ext cx="146304" cy="0"/>
          </a:xfrm>
          <a:prstGeom prst="line">
            <a:avLst/>
          </a:prstGeom>
          <a:noFill/>
          <a:ln w="22860">
            <a:solidFill>
              <a:srgbClr val="FF8200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971800" y="1627632"/>
            <a:ext cx="2121408" cy="197510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0160">
            <a:solidFill>
              <a:srgbClr val="E1E1E1"/>
            </a:solidFill>
            <a:prstDash val="solid"/>
          </a:ln>
          <a:effectLst>
            <a:outerShdw sx="100000" sy="100000" kx="0" ky="0" algn="bl" rotWithShape="0" blurRad="2.0793719901048145e+45" dist="9.703735953822467e+44" dir="1.6325867520000003e+54">
              <a:srgbClr val="000000">
                <a:alpha val="1.4e+54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27248" y="1837944"/>
            <a:ext cx="384048" cy="384048"/>
          </a:xfrm>
          <a:prstGeom prst="ellipse">
            <a:avLst/>
          </a:prstGeom>
          <a:solidFill>
            <a:srgbClr val="4B4B4B"/>
          </a:solidFill>
          <a:ln w="12700">
            <a:solidFill>
              <a:srgbClr val="4B4B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27248" y="190195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36392" y="2414016"/>
            <a:ext cx="17922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136392" y="2807208"/>
            <a:ext cx="17922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7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</a:t>
            </a:r>
            <a:endParaRPr lang="en-US" sz="1270" dirty="0"/>
          </a:p>
        </p:txBody>
      </p:sp>
      <p:sp>
        <p:nvSpPr>
          <p:cNvPr id="16" name="Shape 14"/>
          <p:cNvSpPr/>
          <p:nvPr/>
        </p:nvSpPr>
        <p:spPr>
          <a:xfrm>
            <a:off x="5138928" y="2624328"/>
            <a:ext cx="146304" cy="0"/>
          </a:xfrm>
          <a:prstGeom prst="line">
            <a:avLst/>
          </a:prstGeom>
          <a:noFill/>
          <a:ln w="22860">
            <a:solidFill>
              <a:srgbClr val="FF8200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303520" y="1627632"/>
            <a:ext cx="2121408" cy="1975104"/>
          </a:xfrm>
          <a:prstGeom prst="roundRect">
            <a:avLst>
              <a:gd name="adj" fmla="val 4167"/>
            </a:avLst>
          </a:prstGeom>
          <a:solidFill>
            <a:srgbClr val="F5F5F5"/>
          </a:solidFill>
          <a:ln w="10160">
            <a:solidFill>
              <a:srgbClr val="FF8200"/>
            </a:solidFill>
            <a:prstDash val="solid"/>
          </a:ln>
          <a:effectLst>
            <a:outerShdw sx="100000" sy="100000" kx="0" ky="0" algn="bl" rotWithShape="0" blurRad="2.640802427433114e+49" dist="1.2323744661354533e+49" dir="9.795520512000002e+58">
              <a:srgbClr val="000000">
                <a:alpha val="1.4000000000000001e+59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58968" y="1837944"/>
            <a:ext cx="384048" cy="384048"/>
          </a:xfrm>
          <a:prstGeom prst="ellipse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58968" y="190195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68112" y="2414016"/>
            <a:ext cx="17922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models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68112" y="2807208"/>
            <a:ext cx="17922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7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or LightGBM</a:t>
            </a:r>
            <a:endParaRPr lang="en-US" sz="1270" dirty="0"/>
          </a:p>
        </p:txBody>
      </p:sp>
      <p:sp>
        <p:nvSpPr>
          <p:cNvPr id="22" name="Shape 20"/>
          <p:cNvSpPr/>
          <p:nvPr/>
        </p:nvSpPr>
        <p:spPr>
          <a:xfrm>
            <a:off x="7470648" y="2624328"/>
            <a:ext cx="146304" cy="0"/>
          </a:xfrm>
          <a:prstGeom prst="line">
            <a:avLst/>
          </a:prstGeom>
          <a:noFill/>
          <a:ln w="22860">
            <a:solidFill>
              <a:srgbClr val="FF8200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635240" y="1627632"/>
            <a:ext cx="2121408" cy="197510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0160">
            <a:solidFill>
              <a:srgbClr val="E1E1E1"/>
            </a:solidFill>
            <a:prstDash val="solid"/>
          </a:ln>
          <a:effectLst>
            <a:outerShdw sx="100000" sy="100000" kx="0" ky="0" algn="bl" rotWithShape="0" blurRad="3.353819082840055e+53" dist="1.5651155719920258e+53" dir="5.877312307200001e+63">
              <a:srgbClr val="000000">
                <a:alpha val="1.4e+64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790688" y="1837944"/>
            <a:ext cx="384048" cy="384048"/>
          </a:xfrm>
          <a:prstGeom prst="ellipse">
            <a:avLst/>
          </a:prstGeom>
          <a:solidFill>
            <a:srgbClr val="4B4B4B"/>
          </a:solidFill>
          <a:ln w="12700">
            <a:solidFill>
              <a:srgbClr val="4B4B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90688" y="190195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99832" y="2414016"/>
            <a:ext cx="17922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799832" y="2807208"/>
            <a:ext cx="17922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7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if useful</a:t>
            </a:r>
            <a:endParaRPr lang="en-US" sz="1270" dirty="0"/>
          </a:p>
        </p:txBody>
      </p:sp>
      <p:sp>
        <p:nvSpPr>
          <p:cNvPr id="28" name="Shape 26"/>
          <p:cNvSpPr/>
          <p:nvPr/>
        </p:nvSpPr>
        <p:spPr>
          <a:xfrm>
            <a:off x="9802368" y="2624328"/>
            <a:ext cx="146304" cy="0"/>
          </a:xfrm>
          <a:prstGeom prst="line">
            <a:avLst/>
          </a:prstGeom>
          <a:noFill/>
          <a:ln w="22860">
            <a:solidFill>
              <a:srgbClr val="FF8200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966960" y="1627632"/>
            <a:ext cx="2121408" cy="197510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0160">
            <a:solidFill>
              <a:srgbClr val="E1E1E1"/>
            </a:solidFill>
            <a:prstDash val="solid"/>
          </a:ln>
          <a:effectLst>
            <a:outerShdw sx="100000" sy="100000" kx="0" ky="0" algn="bl" rotWithShape="0" blurRad="4.2593502352068695e+57" dist="1.9876967764298727e+57" dir="3.526387384320001e+68">
              <a:srgbClr val="000000">
                <a:alpha val="1.4000000000000001e+69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122408" y="1837944"/>
            <a:ext cx="384048" cy="384048"/>
          </a:xfrm>
          <a:prstGeom prst="ellipse">
            <a:avLst/>
          </a:prstGeom>
          <a:solidFill>
            <a:srgbClr val="4B4B4B"/>
          </a:solidFill>
          <a:ln w="12700">
            <a:solidFill>
              <a:srgbClr val="4B4B4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122408" y="190195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131552" y="2414016"/>
            <a:ext cx="17922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131552" y="2807208"/>
            <a:ext cx="17922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7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feature attribution</a:t>
            </a:r>
            <a:endParaRPr lang="en-US" sz="1270" dirty="0"/>
          </a:p>
        </p:txBody>
      </p:sp>
      <p:sp>
        <p:nvSpPr>
          <p:cNvPr id="34" name="Shape 32"/>
          <p:cNvSpPr/>
          <p:nvPr/>
        </p:nvSpPr>
        <p:spPr>
          <a:xfrm>
            <a:off x="640080" y="4069080"/>
            <a:ext cx="5349240" cy="1463040"/>
          </a:xfrm>
          <a:prstGeom prst="roundRect">
            <a:avLst>
              <a:gd name="adj" fmla="val 5625"/>
            </a:avLst>
          </a:prstGeom>
          <a:solidFill>
            <a:srgbClr val="F5F5F5"/>
          </a:solidFill>
          <a:ln w="10160">
            <a:solidFill>
              <a:srgbClr val="E1E1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6112" y="43342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logistic regression?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896112" y="471830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Interpretable baseline and a conventional reference point for crash-safety analysis.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227064" y="4069080"/>
            <a:ext cx="534924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0160">
            <a:solidFill>
              <a:srgbClr val="E1E1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83096" y="43342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boosted trees?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483096" y="471830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nonlinear relationships and interactions across person-, vehicle-, and crash-level features.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66928" y="6245352"/>
            <a:ext cx="7772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C7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models: logistic regression baseline; gradient-boosted trees as the main nonlinear model; SHAP for interpretation.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5624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3832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FF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GENERALIZATION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 tests transfer across geography and time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115568"/>
            <a:ext cx="932688" cy="0"/>
          </a:xfrm>
          <a:prstGeom prst="line">
            <a:avLst/>
          </a:prstGeom>
          <a:noFill/>
          <a:ln w="40640">
            <a:solidFill>
              <a:srgbClr val="FF82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" y="1536192"/>
            <a:ext cx="5431536" cy="4343400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 w="10160">
            <a:solidFill>
              <a:srgbClr val="E1E1E1"/>
            </a:solidFill>
            <a:prstDash val="solid"/>
          </a:ln>
          <a:effectLst>
            <a:outerShdw sx="100000" sy="100000" kx="0" ky="0" algn="bl" rotWithShape="0" blurRad="5.409374798712724e+61" dist="2.5243749060659382e+61" dir="2.1158324305920003e+73">
              <a:srgbClr val="000000">
                <a:alpha val="1.4e+74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1792224"/>
            <a:ext cx="1152144" cy="310896"/>
          </a:xfrm>
          <a:prstGeom prst="roundRect">
            <a:avLst>
              <a:gd name="adj" fmla="val 23529"/>
            </a:avLst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810512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32688" y="220370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Held-out states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32688" y="2615184"/>
            <a:ext cx="4498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on one set of states; evaluate on states the model never saw.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1078992" y="342900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820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18488" y="342900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820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57984" y="342900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820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97480" y="342900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4B4B4B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78992" y="3968496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820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18488" y="3968496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4B4B4B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57984" y="3968496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820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97480" y="3968496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820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78992" y="450799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4B4B4B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18488" y="450799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820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57984" y="450799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4B4B4B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97480" y="450799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820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47872" y="34290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STATES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547872" y="372160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states used for learning</a:t>
            </a:r>
            <a:endParaRPr lang="en-US" sz="1230" dirty="0"/>
          </a:p>
        </p:txBody>
      </p:sp>
      <p:sp>
        <p:nvSpPr>
          <p:cNvPr id="24" name="Text 22"/>
          <p:cNvSpPr/>
          <p:nvPr/>
        </p:nvSpPr>
        <p:spPr>
          <a:xfrm>
            <a:off x="3547872" y="43891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STATES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547872" y="468172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unseen jurisdictions</a:t>
            </a:r>
            <a:endParaRPr lang="en-US" sz="1230" dirty="0"/>
          </a:p>
        </p:txBody>
      </p:sp>
      <p:sp>
        <p:nvSpPr>
          <p:cNvPr id="26" name="Text 24"/>
          <p:cNvSpPr/>
          <p:nvPr/>
        </p:nvSpPr>
        <p:spPr>
          <a:xfrm>
            <a:off x="932688" y="5285232"/>
            <a:ext cx="4553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test whether learned relationships transfer geographically.</a:t>
            </a:r>
            <a:endParaRPr lang="en-US" sz="1340" dirty="0"/>
          </a:p>
        </p:txBody>
      </p:sp>
      <p:sp>
        <p:nvSpPr>
          <p:cNvPr id="27" name="Shape 25"/>
          <p:cNvSpPr/>
          <p:nvPr/>
        </p:nvSpPr>
        <p:spPr>
          <a:xfrm>
            <a:off x="6345936" y="1536192"/>
            <a:ext cx="5230368" cy="4343400"/>
          </a:xfrm>
          <a:prstGeom prst="roundRect">
            <a:avLst>
              <a:gd name="adj" fmla="val 1895"/>
            </a:avLst>
          </a:prstGeom>
          <a:solidFill>
            <a:srgbClr val="F5F5F5"/>
          </a:solidFill>
          <a:ln w="10160">
            <a:solidFill>
              <a:srgbClr val="E1E1E1"/>
            </a:solidFill>
            <a:prstDash val="solid"/>
          </a:ln>
          <a:effectLst>
            <a:outerShdw sx="100000" sy="100000" kx="0" ky="0" algn="bl" rotWithShape="0" blurRad="6.86990599436516e+65" dist="3.2059561307037413e+65" dir="1.2694994583552002e+78">
              <a:srgbClr val="000000">
                <a:alpha val="1.4e+79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611112" y="1792224"/>
            <a:ext cx="1152144" cy="310896"/>
          </a:xfrm>
          <a:prstGeom prst="roundRect">
            <a:avLst>
              <a:gd name="adj" fmla="val 23529"/>
            </a:avLst>
          </a:prstGeom>
          <a:solidFill>
            <a:srgbClr val="4B4B4B"/>
          </a:solidFill>
          <a:ln w="12700">
            <a:solidFill>
              <a:srgbClr val="4B4B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11112" y="1810512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2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611112" y="220370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Forward-in-time test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611112" y="2615184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on earlier years; evaluate on later crashes.</a:t>
            </a:r>
            <a:endParaRPr lang="en-US" sz="1550" dirty="0"/>
          </a:p>
        </p:txBody>
      </p:sp>
      <p:sp>
        <p:nvSpPr>
          <p:cNvPr id="32" name="Shape 30"/>
          <p:cNvSpPr/>
          <p:nvPr/>
        </p:nvSpPr>
        <p:spPr>
          <a:xfrm>
            <a:off x="6702552" y="3657600"/>
            <a:ext cx="438912" cy="585216"/>
          </a:xfrm>
          <a:prstGeom prst="rect">
            <a:avLst/>
          </a:prstGeom>
          <a:solidFill>
            <a:srgbClr val="FF82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84264" y="435254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2016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242048" y="3657600"/>
            <a:ext cx="438912" cy="585216"/>
          </a:xfrm>
          <a:prstGeom prst="rect">
            <a:avLst/>
          </a:prstGeom>
          <a:solidFill>
            <a:srgbClr val="FF82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23760" y="435254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781544" y="3657600"/>
            <a:ext cx="438912" cy="585216"/>
          </a:xfrm>
          <a:prstGeom prst="rect">
            <a:avLst/>
          </a:prstGeom>
          <a:solidFill>
            <a:srgbClr val="FF82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63256" y="435254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321040" y="3657600"/>
            <a:ext cx="438912" cy="585216"/>
          </a:xfrm>
          <a:prstGeom prst="rect">
            <a:avLst/>
          </a:prstGeom>
          <a:solidFill>
            <a:srgbClr val="FF82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02752" y="435254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860536" y="3657600"/>
            <a:ext cx="438912" cy="585216"/>
          </a:xfrm>
          <a:prstGeom prst="rect">
            <a:avLst/>
          </a:prstGeom>
          <a:solidFill>
            <a:srgbClr val="FF82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842248" y="435254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9400032" y="3657600"/>
            <a:ext cx="438912" cy="585216"/>
          </a:xfrm>
          <a:prstGeom prst="rect">
            <a:avLst/>
          </a:prstGeom>
          <a:solidFill>
            <a:srgbClr val="4B4B4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381744" y="435254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9939528" y="3657600"/>
            <a:ext cx="438912" cy="585216"/>
          </a:xfrm>
          <a:prstGeom prst="rect">
            <a:avLst/>
          </a:prstGeom>
          <a:solidFill>
            <a:srgbClr val="4B4B4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921240" y="435254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10479024" y="3657600"/>
            <a:ext cx="438912" cy="585216"/>
          </a:xfrm>
          <a:prstGeom prst="rect">
            <a:avLst/>
          </a:prstGeom>
          <a:solidFill>
            <a:srgbClr val="4B4B4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460736" y="435254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675120" y="4700016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FF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 2016–2020</a:t>
            </a:r>
            <a:endParaRPr lang="en-US" sz="1140" dirty="0"/>
          </a:p>
        </p:txBody>
      </p:sp>
      <p:sp>
        <p:nvSpPr>
          <p:cNvPr id="49" name="Text 47"/>
          <p:cNvSpPr/>
          <p:nvPr/>
        </p:nvSpPr>
        <p:spPr>
          <a:xfrm>
            <a:off x="8887968" y="4700016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 2021–2023</a:t>
            </a:r>
            <a:endParaRPr lang="en-US" sz="1140" dirty="0"/>
          </a:p>
        </p:txBody>
      </p:sp>
      <p:sp>
        <p:nvSpPr>
          <p:cNvPr id="50" name="Text 48"/>
          <p:cNvSpPr/>
          <p:nvPr/>
        </p:nvSpPr>
        <p:spPr>
          <a:xfrm>
            <a:off x="6611112" y="5285232"/>
            <a:ext cx="4224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test whether the model remains useful on later data.</a:t>
            </a:r>
            <a:endParaRPr lang="en-US" sz="1340" dirty="0"/>
          </a:p>
        </p:txBody>
      </p:sp>
      <p:sp>
        <p:nvSpPr>
          <p:cNvPr id="51" name="Text 49"/>
          <p:cNvSpPr/>
          <p:nvPr/>
        </p:nvSpPr>
        <p:spPr>
          <a:xfrm>
            <a:off x="566928" y="6245352"/>
            <a:ext cx="7772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C7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Generalization plan from the proposal: held-out states and 2016–2020 → 2021–2023 temporal evaluation.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5624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3832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FF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this project adds something new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115568"/>
            <a:ext cx="932688" cy="0"/>
          </a:xfrm>
          <a:prstGeom prst="line">
            <a:avLst/>
          </a:prstGeom>
          <a:noFill/>
          <a:ln w="40640">
            <a:solidFill>
              <a:srgbClr val="FF82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344168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work gives us three useful baselines — but leaves a clear gap.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58368" y="1874520"/>
            <a:ext cx="3044952" cy="2267712"/>
          </a:xfrm>
          <a:prstGeom prst="roundRect">
            <a:avLst>
              <a:gd name="adj" fmla="val 3629"/>
            </a:avLst>
          </a:prstGeom>
          <a:solidFill>
            <a:srgbClr val="FFFFFF"/>
          </a:solidFill>
          <a:ln w="10160">
            <a:solidFill>
              <a:srgbClr val="E1E1E1"/>
            </a:solidFill>
            <a:prstDash val="solid"/>
          </a:ln>
          <a:effectLst>
            <a:outerShdw sx="100000" sy="100000" kx="0" ky="0" algn="bl" rotWithShape="0" blurRad="8.724780612843754e+69" dist="4.071564285993752e+69" dir="7.616996750131201e+82">
              <a:srgbClr val="000000">
                <a:alpha val="1.4000000000000001e+84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77824" y="2157984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Epidemiology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77824" y="2642616"/>
            <a:ext cx="255117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Often isolates one factor at a time and reports statistical effects rather than full-feature predictive performance.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4041648" y="1874520"/>
            <a:ext cx="3044952" cy="2267712"/>
          </a:xfrm>
          <a:prstGeom prst="roundRect">
            <a:avLst>
              <a:gd name="adj" fmla="val 3629"/>
            </a:avLst>
          </a:prstGeom>
          <a:solidFill>
            <a:srgbClr val="F5F5F5"/>
          </a:solidFill>
          <a:ln w="10160">
            <a:solidFill>
              <a:srgbClr val="E1E1E1"/>
            </a:solidFill>
            <a:prstDash val="solid"/>
          </a:ln>
          <a:effectLst>
            <a:outerShdw sx="100000" sy="100000" kx="0" ky="0" algn="bl" rotWithShape="0" blurRad="1.1080471378311567e+74" dist="5.1708866432120647e+73" dir="4.57019805007872e+87">
              <a:srgbClr val="000000">
                <a:alpha val="1.4000000000000002e+89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261104" y="2157984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Injury severity ML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261104" y="2642616"/>
            <a:ext cx="255117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Predicts injury severity across broader crash datasets rather than survival conditional on an already-fatal crash.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7424928" y="1874520"/>
            <a:ext cx="3044952" cy="2267712"/>
          </a:xfrm>
          <a:prstGeom prst="roundRect">
            <a:avLst>
              <a:gd name="adj" fmla="val 3629"/>
            </a:avLst>
          </a:prstGeom>
          <a:solidFill>
            <a:srgbClr val="FFFFFF"/>
          </a:solidFill>
          <a:ln w="10160">
            <a:solidFill>
              <a:srgbClr val="E1E1E1"/>
            </a:solidFill>
            <a:prstDash val="solid"/>
          </a:ln>
          <a:effectLst>
            <a:outerShdw sx="100000" sy="100000" kx="0" ky="0" algn="bl" rotWithShape="0" blurRad="1.407219865045569e+78" dist="6.567026036879323e+77" dir="2.742118830047232e+92">
              <a:srgbClr val="000000">
                <a:alpha val="1.4000000000000002e+94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644384" y="2157984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Cross-state transfer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644384" y="2642616"/>
            <a:ext cx="255117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Studies whether models transfer across jurisdictions, but not at the individual-occupant survival level.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658368" y="4526280"/>
            <a:ext cx="9811512" cy="1261872"/>
          </a:xfrm>
          <a:prstGeom prst="roundRect">
            <a:avLst>
              <a:gd name="adj" fmla="val 6522"/>
            </a:avLst>
          </a:prstGeom>
          <a:solidFill>
            <a:srgbClr val="4B4B4B"/>
          </a:solidFill>
          <a:ln w="10160">
            <a:solidFill>
              <a:srgbClr val="4B4B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3544" y="475488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CONTRIBUTION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633472" y="4773168"/>
            <a:ext cx="329184" cy="329184"/>
          </a:xfrm>
          <a:prstGeom prst="ellipse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33472" y="4828032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072384" y="4645152"/>
            <a:ext cx="19751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survival conditional on a fatal crash</a:t>
            </a:r>
            <a:endParaRPr lang="en-US" sz="1280" dirty="0"/>
          </a:p>
        </p:txBody>
      </p:sp>
      <p:sp>
        <p:nvSpPr>
          <p:cNvPr id="20" name="Shape 18"/>
          <p:cNvSpPr/>
          <p:nvPr/>
        </p:nvSpPr>
        <p:spPr>
          <a:xfrm>
            <a:off x="5248656" y="4773168"/>
            <a:ext cx="329184" cy="329184"/>
          </a:xfrm>
          <a:prstGeom prst="ellipse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48656" y="4828032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87568" y="4645152"/>
            <a:ext cx="19751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pre-crash/design vs consequence-rich models</a:t>
            </a:r>
            <a:endParaRPr lang="en-US" sz="1280" dirty="0"/>
          </a:p>
        </p:txBody>
      </p:sp>
      <p:sp>
        <p:nvSpPr>
          <p:cNvPr id="23" name="Shape 21"/>
          <p:cNvSpPr/>
          <p:nvPr/>
        </p:nvSpPr>
        <p:spPr>
          <a:xfrm>
            <a:off x="7863840" y="4773168"/>
            <a:ext cx="329184" cy="329184"/>
          </a:xfrm>
          <a:prstGeom prst="ellipse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63840" y="4828032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302752" y="4645152"/>
            <a:ext cx="19751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transfer across unseen states and future years</a:t>
            </a:r>
            <a:endParaRPr lang="en-US" sz="1280" dirty="0"/>
          </a:p>
        </p:txBody>
      </p:sp>
      <p:sp>
        <p:nvSpPr>
          <p:cNvPr id="26" name="Shape 24"/>
          <p:cNvSpPr/>
          <p:nvPr/>
        </p:nvSpPr>
        <p:spPr>
          <a:xfrm>
            <a:off x="10588752" y="4992624"/>
            <a:ext cx="941832" cy="310896"/>
          </a:xfrm>
          <a:prstGeom prst="roundRect">
            <a:avLst>
              <a:gd name="adj" fmla="val 23529"/>
            </a:avLst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588752" y="5010912"/>
            <a:ext cx="941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2 • NOVEL APPLICATION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66928" y="6245352"/>
            <a:ext cx="7772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C7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Related-work streams and project contribution are summarized directly from the proposal.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5624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B4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603504"/>
            <a:ext cx="1024128" cy="310896"/>
          </a:xfrm>
          <a:prstGeom prst="roundRect">
            <a:avLst>
              <a:gd name="adj" fmla="val 23529"/>
            </a:avLst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621792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49808" y="1115568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the proposal into a reproducible ML pipeline.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04672" y="2057400"/>
            <a:ext cx="164592" cy="164592"/>
          </a:xfrm>
          <a:prstGeom prst="ellipse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856" y="2011680"/>
            <a:ext cx="7516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Finalize year-consistent FARS codebook mappings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04672" y="2587752"/>
            <a:ext cx="164592" cy="164592"/>
          </a:xfrm>
          <a:prstGeom prst="ellipse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33856" y="2542032"/>
            <a:ext cx="7516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occupant-level analysis table and exclusion rules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4672" y="3118104"/>
            <a:ext cx="164592" cy="164592"/>
          </a:xfrm>
          <a:prstGeom prst="ellipse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33856" y="3072384"/>
            <a:ext cx="7516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the label and the two feature blocks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4672" y="3648456"/>
            <a:ext cx="164592" cy="164592"/>
          </a:xfrm>
          <a:prstGeom prst="ellipse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33856" y="3602736"/>
            <a:ext cx="7516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the logistic-regression baseline and boosted-tree models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4672" y="4178808"/>
            <a:ext cx="164592" cy="164592"/>
          </a:xfrm>
          <a:prstGeom prst="ellipse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33856" y="4133088"/>
            <a:ext cx="7516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state and time generalization experiments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4672" y="4709160"/>
            <a:ext cx="164592" cy="164592"/>
          </a:xfrm>
          <a:prstGeom prst="ellipse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33856" y="4663440"/>
            <a:ext cx="7516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 the final models and compare what changes with consequence features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851392" y="1078992"/>
            <a:ext cx="2514600" cy="4370832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25712" y="14173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question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25712" y="1856232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survives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fatal crash?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9400032" y="2889504"/>
            <a:ext cx="1280160" cy="0"/>
          </a:xfrm>
          <a:prstGeom prst="line">
            <a:avLst/>
          </a:prstGeom>
          <a:noFill/>
          <a:ln w="29210">
            <a:solidFill>
              <a:srgbClr val="FF82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25712" y="32004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B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FARS 2016–2023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25712" y="3657600"/>
            <a:ext cx="1828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Occupant-level prediction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geographic transfer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temporal transfer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25712" y="496519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49808" y="6327648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COSC 522 • University of Tennessee, Knoxville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510528" y="632764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sources: NHTSA FARS; project proposal and cited literature therein.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University of Tennessee, Knoxville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Who Survives a Fatal Crash?</dc:title>
  <dc:subject>COSC 522 Machine Learning Project Proposal</dc:subject>
  <dc:creator>COSC 522 Project Team</dc:creator>
  <cp:lastModifiedBy>COSC 522 Project Team</cp:lastModifiedBy>
  <cp:revision>1</cp:revision>
  <dcterms:created xsi:type="dcterms:W3CDTF">2026-09-14T23:34:08Z</dcterms:created>
  <dcterms:modified xsi:type="dcterms:W3CDTF">2026-09-14T23:34:08Z</dcterms:modified>
</cp:coreProperties>
</file>